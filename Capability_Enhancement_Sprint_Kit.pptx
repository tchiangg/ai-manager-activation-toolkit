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E6072-0BC8-433C-89A8-53823C468A6C}" v="1" dt="2026-07-11T22:49:29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Aramovich" userId="c36f02d7-80de-405b-bc96-0c274f442be4" providerId="ADAL" clId="{B6F58CB4-AA79-48E1-A786-024DB5EFAD40}"/>
    <pc:docChg chg="custSel modSld">
      <pc:chgData name="Nathan Aramovich" userId="c36f02d7-80de-405b-bc96-0c274f442be4" providerId="ADAL" clId="{B6F58CB4-AA79-48E1-A786-024DB5EFAD40}" dt="2026-07-11T22:49:38.217" v="302" actId="1035"/>
      <pc:docMkLst>
        <pc:docMk/>
      </pc:docMkLst>
      <pc:sldChg chg="addSp modSp mod">
        <pc:chgData name="Nathan Aramovich" userId="c36f02d7-80de-405b-bc96-0c274f442be4" providerId="ADAL" clId="{B6F58CB4-AA79-48E1-A786-024DB5EFAD40}" dt="2026-07-11T22:49:38.217" v="302" actId="1035"/>
        <pc:sldMkLst>
          <pc:docMk/>
          <pc:sldMk cId="0" sldId="257"/>
        </pc:sldMkLst>
        <pc:spChg chg="mod">
          <ac:chgData name="Nathan Aramovich" userId="c36f02d7-80de-405b-bc96-0c274f442be4" providerId="ADAL" clId="{B6F58CB4-AA79-48E1-A786-024DB5EFAD40}" dt="2026-07-09T16:28:29.326" v="2" actId="113"/>
          <ac:spMkLst>
            <pc:docMk/>
            <pc:sldMk cId="0" sldId="257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29:11.823" v="29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29:05.109" v="23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29:43.444" v="57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11T22:49:29.344" v="284" actId="16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11T22:49:29.344" v="284" actId="16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11T22:49:29.344" v="284" actId="164"/>
          <ac:spMkLst>
            <pc:docMk/>
            <pc:sldMk cId="0" sldId="257"/>
            <ac:spMk id="2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11T22:49:38.217" v="302" actId="103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11T22:49:38.217" v="302" actId="1035"/>
          <ac:spMkLst>
            <pc:docMk/>
            <pc:sldMk cId="0" sldId="257"/>
            <ac:spMk id="24" creationId="{00000000-0000-0000-0000-000000000000}"/>
          </ac:spMkLst>
        </pc:spChg>
        <pc:grpChg chg="add mod">
          <ac:chgData name="Nathan Aramovich" userId="c36f02d7-80de-405b-bc96-0c274f442be4" providerId="ADAL" clId="{B6F58CB4-AA79-48E1-A786-024DB5EFAD40}" dt="2026-07-11T22:49:31.769" v="295" actId="1036"/>
          <ac:grpSpMkLst>
            <pc:docMk/>
            <pc:sldMk cId="0" sldId="257"/>
            <ac:grpSpMk id="25" creationId="{91297520-51DE-E513-6AB7-0D0CF3BAA5B7}"/>
          </ac:grpSpMkLst>
        </pc:grpChg>
      </pc:sldChg>
      <pc:sldChg chg="modSp mod">
        <pc:chgData name="Nathan Aramovich" userId="c36f02d7-80de-405b-bc96-0c274f442be4" providerId="ADAL" clId="{B6F58CB4-AA79-48E1-A786-024DB5EFAD40}" dt="2026-07-09T16:31:29.593" v="83" actId="403"/>
        <pc:sldMkLst>
          <pc:docMk/>
          <pc:sldMk cId="0" sldId="258"/>
        </pc:sldMkLst>
        <pc:spChg chg="mod">
          <ac:chgData name="Nathan Aramovich" userId="c36f02d7-80de-405b-bc96-0c274f442be4" providerId="ADAL" clId="{B6F58CB4-AA79-48E1-A786-024DB5EFAD40}" dt="2026-07-09T16:30:53.128" v="73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0:59.716" v="74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08.426" v="75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29.593" v="83" actId="403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9:12.976" v="268" actId="403"/>
        <pc:sldMkLst>
          <pc:docMk/>
          <pc:sldMk cId="0" sldId="259"/>
        </pc:sldMkLst>
        <pc:spChg chg="mod">
          <ac:chgData name="Nathan Aramovich" userId="c36f02d7-80de-405b-bc96-0c274f442be4" providerId="ADAL" clId="{B6F58CB4-AA79-48E1-A786-024DB5EFAD40}" dt="2026-07-09T16:31:42.112" v="85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3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1:56.782" v="86" actId="403"/>
          <ac:spMkLst>
            <pc:docMk/>
            <pc:sldMk cId="0" sldId="259"/>
            <ac:spMk id="3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9:12.976" v="268" actId="403"/>
          <ac:spMkLst>
            <pc:docMk/>
            <pc:sldMk cId="0" sldId="259"/>
            <ac:spMk id="35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9:21.743" v="269" actId="255"/>
        <pc:sldMkLst>
          <pc:docMk/>
          <pc:sldMk cId="0" sldId="260"/>
        </pc:sldMkLst>
        <pc:spChg chg="mod">
          <ac:chgData name="Nathan Aramovich" userId="c36f02d7-80de-405b-bc96-0c274f442be4" providerId="ADAL" clId="{B6F58CB4-AA79-48E1-A786-024DB5EFAD40}" dt="2026-07-09T16:32:27.111" v="90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2:47.247" v="91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9:21.743" v="269" actId="255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4:03.104" v="123" actId="948"/>
        <pc:sldMkLst>
          <pc:docMk/>
          <pc:sldMk cId="0" sldId="261"/>
        </pc:sldMkLst>
        <pc:spChg chg="mod">
          <ac:chgData name="Nathan Aramovich" userId="c36f02d7-80de-405b-bc96-0c274f442be4" providerId="ADAL" clId="{B6F58CB4-AA79-48E1-A786-024DB5EFAD40}" dt="2026-07-09T16:33:00.860" v="95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3:32.980" v="117" actId="108"/>
          <ac:spMkLst>
            <pc:docMk/>
            <pc:sldMk cId="0" sldId="261"/>
            <ac:spMk id="2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03.104" v="123" actId="948"/>
          <ac:spMkLst>
            <pc:docMk/>
            <pc:sldMk cId="0" sldId="261"/>
            <ac:spMk id="3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3:52.055" v="121" actId="403"/>
          <ac:spMkLst>
            <pc:docMk/>
            <pc:sldMk cId="0" sldId="261"/>
            <ac:spMk id="35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4:46.410" v="129" actId="403"/>
        <pc:sldMkLst>
          <pc:docMk/>
          <pc:sldMk cId="0" sldId="262"/>
        </pc:sldMkLst>
        <pc:spChg chg="mod">
          <ac:chgData name="Nathan Aramovich" userId="c36f02d7-80de-405b-bc96-0c274f442be4" providerId="ADAL" clId="{B6F58CB4-AA79-48E1-A786-024DB5EFAD40}" dt="2026-07-09T16:34:21.167" v="124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2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0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6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8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31.120" v="125" actId="403"/>
          <ac:spMkLst>
            <pc:docMk/>
            <pc:sldMk cId="0" sldId="262"/>
            <ac:spMk id="3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4:46.410" v="129" actId="403"/>
          <ac:spMkLst>
            <pc:docMk/>
            <pc:sldMk cId="0" sldId="262"/>
            <ac:spMk id="41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5:29.433" v="136" actId="403"/>
        <pc:sldMkLst>
          <pc:docMk/>
          <pc:sldMk cId="0" sldId="263"/>
        </pc:sldMkLst>
        <pc:spChg chg="mod">
          <ac:chgData name="Nathan Aramovich" userId="c36f02d7-80de-405b-bc96-0c274f442be4" providerId="ADAL" clId="{B6F58CB4-AA79-48E1-A786-024DB5EFAD40}" dt="2026-07-09T16:35:01.393" v="130" actId="108"/>
          <ac:spMkLst>
            <pc:docMk/>
            <pc:sldMk cId="0" sldId="263"/>
            <ac:spMk id="34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5:29.433" v="136" actId="403"/>
          <ac:spMkLst>
            <pc:docMk/>
            <pc:sldMk cId="0" sldId="263"/>
            <ac:spMk id="36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6:05.682" v="148" actId="403"/>
        <pc:sldMkLst>
          <pc:docMk/>
          <pc:sldMk cId="0" sldId="264"/>
        </pc:sldMkLst>
        <pc:spChg chg="mod">
          <ac:chgData name="Nathan Aramovich" userId="c36f02d7-80de-405b-bc96-0c274f442be4" providerId="ADAL" clId="{B6F58CB4-AA79-48E1-A786-024DB5EFAD40}" dt="2026-07-09T16:35:38.709" v="139" actId="403"/>
          <ac:spMkLst>
            <pc:docMk/>
            <pc:sldMk cId="0" sldId="264"/>
            <ac:spMk id="3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5:44.976" v="142" actId="403"/>
          <ac:spMkLst>
            <pc:docMk/>
            <pc:sldMk cId="0" sldId="264"/>
            <ac:spMk id="36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05.682" v="148" actId="403"/>
          <ac:spMkLst>
            <pc:docMk/>
            <pc:sldMk cId="0" sldId="264"/>
            <ac:spMk id="38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6:41.743" v="153" actId="403"/>
        <pc:sldMkLst>
          <pc:docMk/>
          <pc:sldMk cId="0" sldId="265"/>
        </pc:sldMkLst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3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34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37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38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41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17.459" v="149" actId="403"/>
          <ac:spMkLst>
            <pc:docMk/>
            <pc:sldMk cId="0" sldId="265"/>
            <ac:spMk id="42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6:41.743" v="153" actId="403"/>
          <ac:spMkLst>
            <pc:docMk/>
            <pc:sldMk cId="0" sldId="265"/>
            <ac:spMk id="58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7:01.893" v="157" actId="403"/>
        <pc:sldMkLst>
          <pc:docMk/>
          <pc:sldMk cId="0" sldId="266"/>
        </pc:sldMkLst>
        <pc:spChg chg="mod">
          <ac:chgData name="Nathan Aramovich" userId="c36f02d7-80de-405b-bc96-0c274f442be4" providerId="ADAL" clId="{B6F58CB4-AA79-48E1-A786-024DB5EFAD40}" dt="2026-07-09T16:37:01.893" v="157" actId="403"/>
          <ac:spMkLst>
            <pc:docMk/>
            <pc:sldMk cId="0" sldId="266"/>
            <ac:spMk id="18" creationId="{00000000-0000-0000-0000-000000000000}"/>
          </ac:spMkLst>
        </pc:spChg>
      </pc:sldChg>
      <pc:sldChg chg="modSp mod">
        <pc:chgData name="Nathan Aramovich" userId="c36f02d7-80de-405b-bc96-0c274f442be4" providerId="ADAL" clId="{B6F58CB4-AA79-48E1-A786-024DB5EFAD40}" dt="2026-07-09T16:37:15.728" v="159" actId="255"/>
        <pc:sldMkLst>
          <pc:docMk/>
          <pc:sldMk cId="0" sldId="267"/>
        </pc:sldMkLst>
        <pc:spChg chg="mod">
          <ac:chgData name="Nathan Aramovich" userId="c36f02d7-80de-405b-bc96-0c274f442be4" providerId="ADAL" clId="{B6F58CB4-AA79-48E1-A786-024DB5EFAD40}" dt="2026-07-09T16:37:15.728" v="159" actId="255"/>
          <ac:spMkLst>
            <pc:docMk/>
            <pc:sldMk cId="0" sldId="267"/>
            <ac:spMk id="39" creationId="{00000000-0000-0000-0000-000000000000}"/>
          </ac:spMkLst>
        </pc:spChg>
      </pc:sldChg>
      <pc:sldChg chg="addSp modSp mod">
        <pc:chgData name="Nathan Aramovich" userId="c36f02d7-80de-405b-bc96-0c274f442be4" providerId="ADAL" clId="{B6F58CB4-AA79-48E1-A786-024DB5EFAD40}" dt="2026-07-09T16:38:24.328" v="262" actId="1038"/>
        <pc:sldMkLst>
          <pc:docMk/>
          <pc:sldMk cId="0" sldId="268"/>
        </pc:sldMkLst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16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27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39.269" v="162" actId="403"/>
          <ac:spMkLst>
            <pc:docMk/>
            <pc:sldMk cId="0" sldId="268"/>
            <ac:spMk id="28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8:21.017" v="222" actId="164"/>
          <ac:spMkLst>
            <pc:docMk/>
            <pc:sldMk cId="0" sldId="268"/>
            <ac:spMk id="29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8:21.017" v="222" actId="164"/>
          <ac:spMkLst>
            <pc:docMk/>
            <pc:sldMk cId="0" sldId="268"/>
            <ac:spMk id="30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8:21.017" v="222" actId="164"/>
          <ac:spMkLst>
            <pc:docMk/>
            <pc:sldMk cId="0" sldId="268"/>
            <ac:spMk id="31" creationId="{00000000-0000-0000-0000-000000000000}"/>
          </ac:spMkLst>
        </pc:spChg>
        <pc:spChg chg="mod">
          <ac:chgData name="Nathan Aramovich" userId="c36f02d7-80de-405b-bc96-0c274f442be4" providerId="ADAL" clId="{B6F58CB4-AA79-48E1-A786-024DB5EFAD40}" dt="2026-07-09T16:37:29.096" v="160" actId="255"/>
          <ac:spMkLst>
            <pc:docMk/>
            <pc:sldMk cId="0" sldId="268"/>
            <ac:spMk id="33" creationId="{00000000-0000-0000-0000-000000000000}"/>
          </ac:spMkLst>
        </pc:spChg>
        <pc:grpChg chg="add mod">
          <ac:chgData name="Nathan Aramovich" userId="c36f02d7-80de-405b-bc96-0c274f442be4" providerId="ADAL" clId="{B6F58CB4-AA79-48E1-A786-024DB5EFAD40}" dt="2026-07-09T16:38:24.328" v="262" actId="1038"/>
          <ac:grpSpMkLst>
            <pc:docMk/>
            <pc:sldMk cId="0" sldId="268"/>
            <ac:grpSpMk id="34" creationId="{2B193C8F-B58F-F232-9170-F6964F12133A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71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892A-3749-CBBD-D9C8-7EF6CEFF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39A12-8492-1391-45B6-CB913681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64B63-06CB-1EBA-7573-B1E41D90D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help managers decide which sprint is the right fit. The key distinction is not which AI tool to use. The key distinction is the improvement goal: improve how work gets done, or improve the quality of the work produced.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7581F-8F49-21FE-5FC8-4A613C215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53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to be an AI expert. Your job is to help the team use the canvas, identify one enhancement opportunity, and practice using AI to strengthen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group. Set expectations that this is a working session. Participants will work independently through each canvas section and check in briefly as a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six sections. Reinforce that each section is short, practical, and designed to help people strengthen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mindset shift. AI is not just a drafting tool. It is a thinking partner that can strengthen analysis, reasoning, clarity,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participants about 6–8 minutes. If they are stuck, ask: What work would create the most value if it were noticeably stronger?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participants 6–8 minutes. Emphasize that this is not a critique yet. They are understanding the work and the value it should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center of gravity of the sprint. Push participants to select one opportunity, not five. Ask: what would create the biggest increase in value?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make the AI interaction concrete. Participants are not choosing a tool. They are choosing the kind of thinking they want AI to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15–20 minutes. Remind participants that AI suggestions are inputs, not answers. Human judgment still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section brief. The main goal is learning from examples and noticing reusable practices, not solving every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 of the sprint is not just a better artifact. It is a new practice that improves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improvement loop. Encourage participants to use the practice on their next high-impact work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B95BB-2CDA-FB4E-FB63-6CD34894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B02159-B650-383D-9037-6290FB240D84}"/>
              </a:ext>
            </a:extLst>
          </p:cNvPr>
          <p:cNvSpPr/>
          <p:nvPr/>
        </p:nvSpPr>
        <p:spPr>
          <a:xfrm>
            <a:off x="384048" y="27432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151713"/>
          </a:solidFill>
          <a:ln w="12700">
            <a:solidFill>
              <a:srgbClr val="1517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CF133C-A3B5-A399-D4EC-3B10DB4BEC19}"/>
              </a:ext>
            </a:extLst>
          </p:cNvPr>
          <p:cNvSpPr/>
          <p:nvPr/>
        </p:nvSpPr>
        <p:spPr>
          <a:xfrm>
            <a:off x="384048" y="27432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SELECTOR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BB4802-C06D-313D-C117-E776B94EE632}"/>
              </a:ext>
            </a:extLst>
          </p:cNvPr>
          <p:cNvSpPr/>
          <p:nvPr/>
        </p:nvSpPr>
        <p:spPr>
          <a:xfrm>
            <a:off x="2011680" y="2377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B1D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Improvement Sprint</a:t>
            </a:r>
            <a:endParaRPr lang="en-US" sz="2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7BF0F3-BB01-D1AE-5B02-4CA075F44C50}"/>
              </a:ext>
            </a:extLst>
          </p:cNvPr>
          <p:cNvSpPr/>
          <p:nvPr/>
        </p:nvSpPr>
        <p:spPr>
          <a:xfrm>
            <a:off x="2011680" y="7040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E69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improvement opportunity starts with one question: what needs to improve?</a:t>
            </a:r>
            <a:endParaRPr lang="en-US" sz="16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ADE303-D057-A712-32F0-34D8C2B584B9}"/>
              </a:ext>
            </a:extLst>
          </p:cNvPr>
          <p:cNvSpPr/>
          <p:nvPr/>
        </p:nvSpPr>
        <p:spPr>
          <a:xfrm>
            <a:off x="182880" y="6473952"/>
            <a:ext cx="11823192" cy="0"/>
          </a:xfrm>
          <a:prstGeom prst="line">
            <a:avLst/>
          </a:prstGeom>
          <a:noFill/>
          <a:ln w="6350">
            <a:solidFill>
              <a:srgbClr val="CFC8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EB1D7E2-0DFC-0CD3-5BD6-6E784F2CD143}"/>
              </a:ext>
            </a:extLst>
          </p:cNvPr>
          <p:cNvSpPr/>
          <p:nvPr/>
        </p:nvSpPr>
        <p:spPr>
          <a:xfrm>
            <a:off x="292608" y="657453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B1D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54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27ADE93-E43B-A99C-8548-8862A5684868}"/>
              </a:ext>
            </a:extLst>
          </p:cNvPr>
          <p:cNvSpPr/>
          <p:nvPr/>
        </p:nvSpPr>
        <p:spPr>
          <a:xfrm>
            <a:off x="10561320" y="65745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B1D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54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8FE8D0D-F32A-B55C-70B2-5D04167328D9}"/>
              </a:ext>
            </a:extLst>
          </p:cNvPr>
          <p:cNvSpPr/>
          <p:nvPr/>
        </p:nvSpPr>
        <p:spPr>
          <a:xfrm>
            <a:off x="11722608" y="657453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B1D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0B7B733-592A-DF65-16CE-DD91F8BDB4CF}"/>
              </a:ext>
            </a:extLst>
          </p:cNvPr>
          <p:cNvGrpSpPr/>
          <p:nvPr/>
        </p:nvGrpSpPr>
        <p:grpSpPr>
          <a:xfrm>
            <a:off x="522776" y="1342565"/>
            <a:ext cx="11183112" cy="4811774"/>
            <a:chOff x="522776" y="1063164"/>
            <a:chExt cx="11183112" cy="4811774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DE5B7F09-075E-3C9E-7758-19A0F73BD5F7}"/>
                </a:ext>
              </a:extLst>
            </p:cNvPr>
            <p:cNvSpPr/>
            <p:nvPr/>
          </p:nvSpPr>
          <p:spPr>
            <a:xfrm>
              <a:off x="3805472" y="1064088"/>
              <a:ext cx="4617720" cy="530352"/>
            </a:xfrm>
            <a:prstGeom prst="roundRect">
              <a:avLst>
                <a:gd name="adj" fmla="val 12069"/>
              </a:avLst>
            </a:prstGeom>
            <a:solidFill>
              <a:srgbClr val="151713"/>
            </a:solidFill>
            <a:ln w="12700">
              <a:solidFill>
                <a:srgbClr val="15171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991775B-D8E2-8B7E-70C2-665201758206}"/>
                </a:ext>
              </a:extLst>
            </p:cNvPr>
            <p:cNvGrpSpPr/>
            <p:nvPr/>
          </p:nvGrpSpPr>
          <p:grpSpPr>
            <a:xfrm>
              <a:off x="522776" y="1063164"/>
              <a:ext cx="11183112" cy="4811774"/>
              <a:chOff x="548177" y="-494703"/>
              <a:chExt cx="11183112" cy="481177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65DE2DB-6895-DD68-9FD9-545409F498EE}"/>
                  </a:ext>
                </a:extLst>
              </p:cNvPr>
              <p:cNvGrpSpPr/>
              <p:nvPr/>
            </p:nvGrpSpPr>
            <p:grpSpPr>
              <a:xfrm>
                <a:off x="548177" y="-494703"/>
                <a:ext cx="11183112" cy="4811774"/>
                <a:chOff x="548177" y="-494703"/>
                <a:chExt cx="11183112" cy="4811774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EC27D903-6F9D-6BDD-B671-F692B9E01273}"/>
                    </a:ext>
                  </a:extLst>
                </p:cNvPr>
                <p:cNvGrpSpPr/>
                <p:nvPr/>
              </p:nvGrpSpPr>
              <p:grpSpPr>
                <a:xfrm>
                  <a:off x="548177" y="-494703"/>
                  <a:ext cx="11183112" cy="4811774"/>
                  <a:chOff x="548177" y="-494703"/>
                  <a:chExt cx="11183112" cy="4811774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A0FF9F74-20EA-01D9-9565-DC383890EF57}"/>
                      </a:ext>
                    </a:extLst>
                  </p:cNvPr>
                  <p:cNvGrpSpPr/>
                  <p:nvPr/>
                </p:nvGrpSpPr>
                <p:grpSpPr>
                  <a:xfrm>
                    <a:off x="548177" y="-494703"/>
                    <a:ext cx="11183112" cy="4811774"/>
                    <a:chOff x="502920" y="1792224"/>
                    <a:chExt cx="11183112" cy="4811774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757E8EB0-D48D-F72D-E97B-C82667967A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4760" y="1792224"/>
                      <a:ext cx="4617720" cy="53035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needs to improve?</a:t>
                      </a:r>
                      <a:endParaRPr lang="en-US" sz="1600" dirty="0"/>
                    </a:p>
                  </p:txBody>
                </p:sp>
                <p:sp>
                  <p:nvSpPr>
                    <p:cNvPr id="8" name="Shape 6">
                      <a:extLst>
                        <a:ext uri="{FF2B5EF4-FFF2-40B4-BE49-F238E27FC236}">
                          <a16:creationId xmlns:a16="http://schemas.microsoft.com/office/drawing/2014/main" id="{0E13DEF6-2278-FC8E-A036-6DF0883FC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9048" y="2322576"/>
                      <a:ext cx="0" cy="33832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151713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" name="Shape 7">
                      <a:extLst>
                        <a:ext uri="{FF2B5EF4-FFF2-40B4-BE49-F238E27FC236}">
                          <a16:creationId xmlns:a16="http://schemas.microsoft.com/office/drawing/2014/main" id="{C3458592-0EF6-45E3-AFF4-CF015E6C2F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8920" y="2660904"/>
                      <a:ext cx="6620256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151713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" name="Shape 8">
                      <a:extLst>
                        <a:ext uri="{FF2B5EF4-FFF2-40B4-BE49-F238E27FC236}">
                          <a16:creationId xmlns:a16="http://schemas.microsoft.com/office/drawing/2014/main" id="{2D71EC64-CBE3-5653-4575-93D189BDF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8920" y="2660904"/>
                      <a:ext cx="0" cy="15544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151713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" name="Shape 9">
                      <a:extLst>
                        <a:ext uri="{FF2B5EF4-FFF2-40B4-BE49-F238E27FC236}">
                          <a16:creationId xmlns:a16="http://schemas.microsoft.com/office/drawing/2014/main" id="{3181D65E-C2A6-12D8-BA1A-E93D3AE177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176" y="2660904"/>
                      <a:ext cx="0" cy="15544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151713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" name="Shape 11">
                      <a:extLst>
                        <a:ext uri="{FF2B5EF4-FFF2-40B4-BE49-F238E27FC236}">
                          <a16:creationId xmlns:a16="http://schemas.microsoft.com/office/drawing/2014/main" id="{4FA9D334-3384-4C8A-BB33-0D8FCD8C14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" y="2816352"/>
                      <a:ext cx="5394960" cy="3261948"/>
                    </a:xfrm>
                    <a:prstGeom prst="roundRect">
                      <a:avLst>
                        <a:gd name="adj" fmla="val 1786"/>
                      </a:avLst>
                    </a:prstGeom>
                    <a:solidFill>
                      <a:srgbClr val="FFFFFF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" name="Shape 12">
                      <a:extLst>
                        <a:ext uri="{FF2B5EF4-FFF2-40B4-BE49-F238E27FC236}">
                          <a16:creationId xmlns:a16="http://schemas.microsoft.com/office/drawing/2014/main" id="{AD74CF8C-350F-AD5E-98BE-70AD4A8823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" y="2816352"/>
                      <a:ext cx="5394960" cy="109728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5" name="Text 13">
                      <a:extLst>
                        <a:ext uri="{FF2B5EF4-FFF2-40B4-BE49-F238E27FC236}">
                          <a16:creationId xmlns:a16="http://schemas.microsoft.com/office/drawing/2014/main" id="{08FDCB33-EF3F-2BC0-758A-58A50A231B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52" y="3127248"/>
                      <a:ext cx="4882896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Workflow Improvement Sprint</a:t>
                      </a:r>
                      <a:endParaRPr 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6" name="Text 14">
                      <a:extLst>
                        <a:ext uri="{FF2B5EF4-FFF2-40B4-BE49-F238E27FC236}">
                          <a16:creationId xmlns:a16="http://schemas.microsoft.com/office/drawing/2014/main" id="{6F6F6E8A-261C-2B47-3007-04E06516C3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52" y="3602736"/>
                      <a:ext cx="4882896" cy="2560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 how work gets done.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7" name="Text 15">
                      <a:extLst>
                        <a:ext uri="{FF2B5EF4-FFF2-40B4-BE49-F238E27FC236}">
                          <a16:creationId xmlns:a16="http://schemas.microsoft.com/office/drawing/2014/main" id="{38F32219-8DF4-F4CA-CF81-2494D8965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52" y="4005072"/>
                      <a:ext cx="4882896" cy="201168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this sprint when...</a:t>
                      </a:r>
                      <a:endParaRPr lang="en-US" sz="11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8" name="Shape 16">
                      <a:extLst>
                        <a:ext uri="{FF2B5EF4-FFF2-40B4-BE49-F238E27FC236}">
                          <a16:creationId xmlns:a16="http://schemas.microsoft.com/office/drawing/2014/main" id="{EB78F6FD-165B-9CA4-B248-97F3A6520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528" y="4320540"/>
                      <a:ext cx="118872" cy="118872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4A92D26E-AC6F-F592-8878-3FA4F83394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128" y="4261104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work is repetitive</a:t>
                      </a:r>
                      <a:endParaRPr lang="en-US" sz="11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1" name="Text 19">
                      <a:extLst>
                        <a:ext uri="{FF2B5EF4-FFF2-40B4-BE49-F238E27FC236}">
                          <a16:creationId xmlns:a16="http://schemas.microsoft.com/office/drawing/2014/main" id="{2067BED2-AD59-B268-96A8-B41860C5A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128" y="4544568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takes too long</a:t>
                      </a:r>
                      <a:endParaRPr lang="en-US" sz="11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2" name="Shape 20">
                      <a:extLst>
                        <a:ext uri="{FF2B5EF4-FFF2-40B4-BE49-F238E27FC236}">
                          <a16:creationId xmlns:a16="http://schemas.microsoft.com/office/drawing/2014/main" id="{0489CE38-8955-D46D-8936-40CB1D12DE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528" y="4887468"/>
                      <a:ext cx="118872" cy="118872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" name="Text 21">
                      <a:extLst>
                        <a:ext uri="{FF2B5EF4-FFF2-40B4-BE49-F238E27FC236}">
                          <a16:creationId xmlns:a16="http://schemas.microsoft.com/office/drawing/2014/main" id="{C6D17BBC-0B10-49F4-3F11-2733D96FD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128" y="4828032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There is unnecessary friction</a:t>
                      </a:r>
                      <a:endParaRPr lang="en-US" sz="11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4" name="Shape 22">
                      <a:extLst>
                        <a:ext uri="{FF2B5EF4-FFF2-40B4-BE49-F238E27FC236}">
                          <a16:creationId xmlns:a16="http://schemas.microsoft.com/office/drawing/2014/main" id="{3164D6C1-6F3C-B83E-9606-BE18D9B2A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528" y="5170932"/>
                      <a:ext cx="118872" cy="118872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5" name="Text 23">
                      <a:extLst>
                        <a:ext uri="{FF2B5EF4-FFF2-40B4-BE49-F238E27FC236}">
                          <a16:creationId xmlns:a16="http://schemas.microsoft.com/office/drawing/2014/main" id="{F90D4B5E-A8A9-A572-476D-551185E8A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128" y="5111496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People keep starting from scratch</a:t>
                      </a:r>
                      <a:endParaRPr lang="en-US" sz="11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grpSp>
                  <p:nvGrpSpPr>
                    <p:cNvPr id="52" name="Group 51">
                      <a:extLst>
                        <a:ext uri="{FF2B5EF4-FFF2-40B4-BE49-F238E27FC236}">
                          <a16:creationId xmlns:a16="http://schemas.microsoft.com/office/drawing/2014/main" id="{5A7B3575-FBCA-18B0-0422-74BD774AF1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8952" y="5529753"/>
                      <a:ext cx="4882896" cy="411480"/>
                      <a:chOff x="758952" y="5529753"/>
                      <a:chExt cx="4882896" cy="411480"/>
                    </a:xfrm>
                  </p:grpSpPr>
                  <p:sp>
                    <p:nvSpPr>
                      <p:cNvPr id="26" name="Shape 24">
                        <a:extLst>
                          <a:ext uri="{FF2B5EF4-FFF2-40B4-BE49-F238E27FC236}">
                            <a16:creationId xmlns:a16="http://schemas.microsoft.com/office/drawing/2014/main" id="{D80E0533-92F7-F84A-D765-22751A2A84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52" y="5529753"/>
                        <a:ext cx="4882896" cy="411480"/>
                      </a:xfrm>
                      <a:prstGeom prst="roundRect">
                        <a:avLst>
                          <a:gd name="adj" fmla="val 11111"/>
                        </a:avLst>
                      </a:prstGeom>
                      <a:solidFill>
                        <a:schemeClr val="bg1">
                          <a:lumMod val="95000"/>
                        </a:schemeClr>
                      </a:solidFill>
                      <a:ln w="7620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" name="Text 25">
                        <a:extLst>
                          <a:ext uri="{FF2B5EF4-FFF2-40B4-BE49-F238E27FC236}">
                            <a16:creationId xmlns:a16="http://schemas.microsoft.com/office/drawing/2014/main" id="{71898B37-4FE7-6BD0-8926-17DC65C476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5256" y="5595793"/>
                        <a:ext cx="4590288" cy="109728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>
                        <a:noAutofit/>
                      </a:bodyPr>
                      <a:lstStyle/>
                      <a:p>
                        <a:pPr marL="0" indent="0" algn="l">
                          <a:buNone/>
                        </a:pPr>
                        <a:r>
                          <a:rPr lang="en-US" sz="1000" b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Aptos" pitchFamily="34" charset="0"/>
                            <a:ea typeface="Aptos" pitchFamily="34" charset="-122"/>
                            <a:cs typeface="Aptos" pitchFamily="34" charset="-120"/>
                          </a:rPr>
                          <a:t>SUCCESS LOOKS LIKE</a:t>
                        </a:r>
                        <a:endPara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28" name="Text 26">
                        <a:extLst>
                          <a:ext uri="{FF2B5EF4-FFF2-40B4-BE49-F238E27FC236}">
                            <a16:creationId xmlns:a16="http://schemas.microsoft.com/office/drawing/2014/main" id="{7962845E-B835-33B7-4BDC-32AF710F9E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5256" y="5723809"/>
                        <a:ext cx="4590288" cy="146304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>
                        <a:normAutofit fontScale="92500" lnSpcReduction="10000"/>
                      </a:bodyPr>
                      <a:lstStyle/>
                      <a:p>
                        <a:pPr marL="0" indent="0" algn="l">
                          <a:buNone/>
                        </a:pPr>
                        <a:r>
                          <a:rPr lang="en-US" sz="1100" b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Aptos" pitchFamily="34" charset="0"/>
                            <a:ea typeface="Aptos" pitchFamily="34" charset="-122"/>
                            <a:cs typeface="Aptos" pitchFamily="34" charset="-120"/>
                          </a:rPr>
                          <a:t>The same work takes less effort next time.</a:t>
                        </a:r>
                        <a:endParaRPr lang="en-US" sz="1100" dirty="0">
                          <a:solidFill>
                            <a:schemeClr val="bg1">
                              <a:lumMod val="85000"/>
                            </a:schemeClr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30" name="Shape 28">
                      <a:extLst>
                        <a:ext uri="{FF2B5EF4-FFF2-40B4-BE49-F238E27FC236}">
                          <a16:creationId xmlns:a16="http://schemas.microsoft.com/office/drawing/2014/main" id="{C6A61879-B744-FA3A-B648-74092FA983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072" y="2816352"/>
                      <a:ext cx="5394960" cy="3261948"/>
                    </a:xfrm>
                    <a:prstGeom prst="roundRect">
                      <a:avLst>
                        <a:gd name="adj" fmla="val 1786"/>
                      </a:avLst>
                    </a:prstGeom>
                    <a:solidFill>
                      <a:srgbClr val="FFFFFF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" name="Shape 29">
                      <a:extLst>
                        <a:ext uri="{FF2B5EF4-FFF2-40B4-BE49-F238E27FC236}">
                          <a16:creationId xmlns:a16="http://schemas.microsoft.com/office/drawing/2014/main" id="{2510817C-5FC5-27D7-6F86-ACBAC4DDB9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072" y="2816352"/>
                      <a:ext cx="5394960" cy="109728"/>
                    </a:xfrm>
                    <a:prstGeom prst="rect">
                      <a:avLst/>
                    </a:prstGeom>
                    <a:solidFill>
                      <a:srgbClr val="5956A6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2" name="Text 30">
                      <a:extLst>
                        <a:ext uri="{FF2B5EF4-FFF2-40B4-BE49-F238E27FC236}">
                          <a16:creationId xmlns:a16="http://schemas.microsoft.com/office/drawing/2014/main" id="{48C9D882-9AB0-8195-8AD6-9A1E6F459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7104" y="3127248"/>
                      <a:ext cx="4882896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b="1" dirty="0"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 Enhancement Sprint</a:t>
                      </a:r>
                      <a:endParaRPr lang="en-US" dirty="0"/>
                    </a:p>
                  </p:txBody>
                </p:sp>
                <p:sp>
                  <p:nvSpPr>
                    <p:cNvPr id="33" name="Text 31">
                      <a:extLst>
                        <a:ext uri="{FF2B5EF4-FFF2-40B4-BE49-F238E27FC236}">
                          <a16:creationId xmlns:a16="http://schemas.microsoft.com/office/drawing/2014/main" id="{0AA33066-B550-5C0C-C251-4B6113298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7104" y="3602736"/>
                      <a:ext cx="4882896" cy="2560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5956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 the quality of the work produced.</a:t>
                      </a:r>
                      <a:endParaRPr lang="en-US" sz="1400" dirty="0">
                        <a:solidFill>
                          <a:srgbClr val="5956A6"/>
                        </a:solidFill>
                      </a:endParaRPr>
                    </a:p>
                  </p:txBody>
                </p:sp>
                <p:sp>
                  <p:nvSpPr>
                    <p:cNvPr id="34" name="Text 32">
                      <a:extLst>
                        <a:ext uri="{FF2B5EF4-FFF2-40B4-BE49-F238E27FC236}">
                          <a16:creationId xmlns:a16="http://schemas.microsoft.com/office/drawing/2014/main" id="{21DA0361-7EC6-1A9C-EB96-E150E0525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7104" y="4005072"/>
                      <a:ext cx="4882896" cy="201168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E696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this sprint when...</a:t>
                      </a:r>
                      <a:endParaRPr lang="en-US" sz="1100" dirty="0">
                        <a:solidFill>
                          <a:srgbClr val="6E6962"/>
                        </a:solidFill>
                      </a:endParaRPr>
                    </a:p>
                  </p:txBody>
                </p:sp>
                <p:sp>
                  <p:nvSpPr>
                    <p:cNvPr id="36" name="Text 34">
                      <a:extLst>
                        <a:ext uri="{FF2B5EF4-FFF2-40B4-BE49-F238E27FC236}">
                          <a16:creationId xmlns:a16="http://schemas.microsoft.com/office/drawing/2014/main" id="{B3B375D7-8978-3927-33C3-85639C205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280" y="4261104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E696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work needs stronger thinking</a:t>
                      </a:r>
                      <a:endParaRPr lang="en-US" sz="1100" dirty="0">
                        <a:solidFill>
                          <a:srgbClr val="6E6962"/>
                        </a:solidFill>
                      </a:endParaRPr>
                    </a:p>
                  </p:txBody>
                </p:sp>
                <p:sp>
                  <p:nvSpPr>
                    <p:cNvPr id="37" name="Shape 35">
                      <a:extLst>
                        <a:ext uri="{FF2B5EF4-FFF2-40B4-BE49-F238E27FC236}">
                          <a16:creationId xmlns:a16="http://schemas.microsoft.com/office/drawing/2014/main" id="{DA006CC0-FEB9-4D96-27D1-19A7176BDD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3680" y="4604004"/>
                      <a:ext cx="118872" cy="118872"/>
                    </a:xfrm>
                    <a:prstGeom prst="ellipse">
                      <a:avLst/>
                    </a:prstGeom>
                    <a:solidFill>
                      <a:srgbClr val="5956A6"/>
                    </a:solidFill>
                    <a:ln w="12700">
                      <a:solidFill>
                        <a:srgbClr val="5956A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38" name="Text 36">
                      <a:extLst>
                        <a:ext uri="{FF2B5EF4-FFF2-40B4-BE49-F238E27FC236}">
                          <a16:creationId xmlns:a16="http://schemas.microsoft.com/office/drawing/2014/main" id="{85BBA7C9-31A1-7FA3-1DB2-10786EC3A8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280" y="4544568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E696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quality could be higher</a:t>
                      </a:r>
                      <a:endParaRPr lang="en-US" sz="1100" dirty="0">
                        <a:solidFill>
                          <a:srgbClr val="6E6962"/>
                        </a:solidFill>
                      </a:endParaRPr>
                    </a:p>
                  </p:txBody>
                </p:sp>
                <p:sp>
                  <p:nvSpPr>
                    <p:cNvPr id="39" name="Shape 37">
                      <a:extLst>
                        <a:ext uri="{FF2B5EF4-FFF2-40B4-BE49-F238E27FC236}">
                          <a16:creationId xmlns:a16="http://schemas.microsoft.com/office/drawing/2014/main" id="{BFC2B9C3-BF85-B378-6FFC-FF53F57152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3680" y="4887468"/>
                      <a:ext cx="118872" cy="118872"/>
                    </a:xfrm>
                    <a:prstGeom prst="ellipse">
                      <a:avLst/>
                    </a:prstGeom>
                    <a:solidFill>
                      <a:srgbClr val="5956A6"/>
                    </a:solidFill>
                    <a:ln w="12700">
                      <a:solidFill>
                        <a:srgbClr val="5956A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40" name="Text 38">
                      <a:extLst>
                        <a:ext uri="{FF2B5EF4-FFF2-40B4-BE49-F238E27FC236}">
                          <a16:creationId xmlns:a16="http://schemas.microsoft.com/office/drawing/2014/main" id="{7FE8F2F0-81A4-AC73-125F-E793DC345E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280" y="4828032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E696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Better decisions are needed</a:t>
                      </a:r>
                      <a:endParaRPr lang="en-US" sz="1100" dirty="0">
                        <a:solidFill>
                          <a:srgbClr val="6E6962"/>
                        </a:solidFill>
                      </a:endParaRPr>
                    </a:p>
                  </p:txBody>
                </p:sp>
                <p:sp>
                  <p:nvSpPr>
                    <p:cNvPr id="41" name="Shape 39">
                      <a:extLst>
                        <a:ext uri="{FF2B5EF4-FFF2-40B4-BE49-F238E27FC236}">
                          <a16:creationId xmlns:a16="http://schemas.microsoft.com/office/drawing/2014/main" id="{34651E31-F9F1-30AD-8E7F-CEB95B779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3680" y="5170932"/>
                      <a:ext cx="118872" cy="118872"/>
                    </a:xfrm>
                    <a:prstGeom prst="ellipse">
                      <a:avLst/>
                    </a:prstGeom>
                    <a:solidFill>
                      <a:srgbClr val="5956A6"/>
                    </a:solidFill>
                    <a:ln w="12700">
                      <a:solidFill>
                        <a:srgbClr val="5956A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42" name="Text 40">
                      <a:extLst>
                        <a:ext uri="{FF2B5EF4-FFF2-40B4-BE49-F238E27FC236}">
                          <a16:creationId xmlns:a16="http://schemas.microsoft.com/office/drawing/2014/main" id="{6A764C8C-2E13-5E03-CF6A-D20DC327A7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280" y="5111496"/>
                      <a:ext cx="4114800" cy="2286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E696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Better ideas are needed</a:t>
                      </a:r>
                      <a:endParaRPr lang="en-US" sz="1100" dirty="0">
                        <a:solidFill>
                          <a:srgbClr val="6E6962"/>
                        </a:solidFill>
                      </a:endParaRPr>
                    </a:p>
                  </p:txBody>
                </p:sp>
                <p:sp>
                  <p:nvSpPr>
                    <p:cNvPr id="46" name="Shape 44">
                      <a:extLst>
                        <a:ext uri="{FF2B5EF4-FFF2-40B4-BE49-F238E27FC236}">
                          <a16:creationId xmlns:a16="http://schemas.microsoft.com/office/drawing/2014/main" id="{63985B75-28C7-DF3D-0EA7-2EADDABC57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1680" y="6248059"/>
                      <a:ext cx="8183880" cy="347472"/>
                    </a:xfrm>
                    <a:prstGeom prst="roundRect">
                      <a:avLst>
                        <a:gd name="adj" fmla="val 15789"/>
                      </a:avLst>
                    </a:prstGeom>
                    <a:solidFill>
                      <a:srgbClr val="151713"/>
                    </a:solidFill>
                    <a:ln w="12700">
                      <a:solidFill>
                        <a:srgbClr val="151713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" name="Text 45">
                      <a:extLst>
                        <a:ext uri="{FF2B5EF4-FFF2-40B4-BE49-F238E27FC236}">
                          <a16:creationId xmlns:a16="http://schemas.microsoft.com/office/drawing/2014/main" id="{4A3BF1EF-0E68-99E7-0228-3C53D52DE2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1680" y="6256526"/>
                      <a:ext cx="8183880" cy="34747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is the tool. The improvement goal determines the sprint.</a:t>
                      </a:r>
                      <a:endParaRPr lang="en-US" sz="1400" dirty="0"/>
                    </a:p>
                  </p:txBody>
                </p:sp>
              </p:grpSp>
              <p:sp>
                <p:nvSpPr>
                  <p:cNvPr id="20" name="Shape 18">
                    <a:extLst>
                      <a:ext uri="{FF2B5EF4-FFF2-40B4-BE49-F238E27FC236}">
                        <a16:creationId xmlns:a16="http://schemas.microsoft.com/office/drawing/2014/main" id="{4D296D83-B930-AFCD-11AA-4E154C45D356}"/>
                      </a:ext>
                    </a:extLst>
                  </p:cNvPr>
                  <p:cNvSpPr/>
                  <p:nvPr/>
                </p:nvSpPr>
                <p:spPr>
                  <a:xfrm>
                    <a:off x="837863" y="2317999"/>
                    <a:ext cx="118872" cy="118872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5" name="Shape 33">
                  <a:extLst>
                    <a:ext uri="{FF2B5EF4-FFF2-40B4-BE49-F238E27FC236}">
                      <a16:creationId xmlns:a16="http://schemas.microsoft.com/office/drawing/2014/main" id="{7673CD05-3C8D-E5A1-6C60-7328C7F9B07A}"/>
                    </a:ext>
                  </a:extLst>
                </p:cNvPr>
                <p:cNvSpPr/>
                <p:nvPr/>
              </p:nvSpPr>
              <p:spPr>
                <a:xfrm>
                  <a:off x="6617548" y="2043001"/>
                  <a:ext cx="118872" cy="118872"/>
                </a:xfrm>
                <a:prstGeom prst="ellipse">
                  <a:avLst/>
                </a:prstGeom>
                <a:solidFill>
                  <a:srgbClr val="5956A6"/>
                </a:solidFill>
                <a:ln w="12700">
                  <a:solidFill>
                    <a:srgbClr val="5956A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F97121-B1FE-F500-5272-1D6B6FCD0CEE}"/>
                  </a:ext>
                </a:extLst>
              </p:cNvPr>
              <p:cNvGrpSpPr/>
              <p:nvPr/>
            </p:nvGrpSpPr>
            <p:grpSpPr>
              <a:xfrm>
                <a:off x="6547104" y="3252213"/>
                <a:ext cx="4882896" cy="411480"/>
                <a:chOff x="6547104" y="5546686"/>
                <a:chExt cx="4882896" cy="411480"/>
              </a:xfrm>
            </p:grpSpPr>
            <p:sp>
              <p:nvSpPr>
                <p:cNvPr id="43" name="Shape 41">
                  <a:extLst>
                    <a:ext uri="{FF2B5EF4-FFF2-40B4-BE49-F238E27FC236}">
                      <a16:creationId xmlns:a16="http://schemas.microsoft.com/office/drawing/2014/main" id="{B1BBE014-E769-6A73-F0ED-9457872AAABE}"/>
                    </a:ext>
                  </a:extLst>
                </p:cNvPr>
                <p:cNvSpPr/>
                <p:nvPr/>
              </p:nvSpPr>
              <p:spPr>
                <a:xfrm>
                  <a:off x="6547104" y="5546686"/>
                  <a:ext cx="4882896" cy="411480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4F1EC"/>
                </a:solidFill>
                <a:ln w="7620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4" name="Text 42">
                  <a:extLst>
                    <a:ext uri="{FF2B5EF4-FFF2-40B4-BE49-F238E27FC236}">
                      <a16:creationId xmlns:a16="http://schemas.microsoft.com/office/drawing/2014/main" id="{3178D481-2B84-B480-FA8A-D1A28B1BC24B}"/>
                    </a:ext>
                  </a:extLst>
                </p:cNvPr>
                <p:cNvSpPr/>
                <p:nvPr/>
              </p:nvSpPr>
              <p:spPr>
                <a:xfrm>
                  <a:off x="6693408" y="5629658"/>
                  <a:ext cx="4590288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5956A6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SUCCESS LOOKS LIKE</a:t>
                  </a:r>
                  <a:endParaRPr lang="en-US" sz="1000" dirty="0">
                    <a:solidFill>
                      <a:srgbClr val="5956A6"/>
                    </a:solidFill>
                  </a:endParaRPr>
                </a:p>
              </p:txBody>
            </p:sp>
            <p:sp>
              <p:nvSpPr>
                <p:cNvPr id="45" name="Text 43">
                  <a:extLst>
                    <a:ext uri="{FF2B5EF4-FFF2-40B4-BE49-F238E27FC236}">
                      <a16:creationId xmlns:a16="http://schemas.microsoft.com/office/drawing/2014/main" id="{8C36D621-5A31-2C07-7E3E-124B70D307BC}"/>
                    </a:ext>
                  </a:extLst>
                </p:cNvPr>
                <p:cNvSpPr/>
                <p:nvPr/>
              </p:nvSpPr>
              <p:spPr>
                <a:xfrm>
                  <a:off x="6693408" y="5757674"/>
                  <a:ext cx="4590288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The work itself is better than before.</a:t>
                  </a:r>
                  <a:endParaRPr lang="en-US" sz="1000" dirty="0"/>
                </a:p>
              </p:txBody>
            </p:sp>
          </p:grpSp>
        </p:grpSp>
      </p:grp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D47D3CEF-CC22-48FF-A09E-D6FFD7665A71}"/>
              </a:ext>
            </a:extLst>
          </p:cNvPr>
          <p:cNvSpPr/>
          <p:nvPr/>
        </p:nvSpPr>
        <p:spPr>
          <a:xfrm>
            <a:off x="10170159" y="2248618"/>
            <a:ext cx="1234440" cy="329184"/>
          </a:xfrm>
          <a:prstGeom prst="roundRect">
            <a:avLst/>
          </a:prstGeom>
          <a:solidFill>
            <a:srgbClr val="5956A6"/>
          </a:solidFill>
          <a:ln>
            <a:solidFill>
              <a:srgbClr val="59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THIS KIT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FAD18DB6-2B2C-8220-2F06-CFD285838F10}"/>
              </a:ext>
            </a:extLst>
          </p:cNvPr>
          <p:cNvSpPr/>
          <p:nvPr/>
        </p:nvSpPr>
        <p:spPr>
          <a:xfrm>
            <a:off x="709094" y="2249422"/>
            <a:ext cx="1874519" cy="3291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E7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chemeClr val="bg1"/>
                </a:solidFill>
                <a:latin typeface="Aptos"/>
              </a:rPr>
              <a:t>OTHER SPRINT OPTION</a:t>
            </a:r>
          </a:p>
        </p:txBody>
      </p:sp>
    </p:spTree>
    <p:extLst>
      <p:ext uri="{BB962C8B-B14F-4D97-AF65-F5344CB8AC3E}">
        <p14:creationId xmlns:p14="http://schemas.microsoft.com/office/powerpoint/2010/main" val="32173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Enhancement Sprint: Leader Brief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60-minute working session that helps each person strengthen important work with AI.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" y="12984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1353312"/>
            <a:ext cx="7406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ROLE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4572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1856232"/>
            <a:ext cx="41696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 the canvas - not the technology.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" y="2194560"/>
            <a:ext cx="4169664" cy="2167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team moving</a:t>
            </a:r>
            <a:endParaRPr lang="en-US" sz="1400" dirty="0"/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people to choose important work</a:t>
            </a:r>
            <a:endParaRPr lang="en-US" sz="1400" dirty="0"/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people focus on one enhancement opportunity</a:t>
            </a:r>
            <a:endParaRPr lang="en-US" sz="1400" dirty="0"/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AI positioned as a thought partner</a:t>
            </a:r>
            <a:endParaRPr lang="en-US" sz="1400" dirty="0"/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unfinished work with a clear practice as a win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1298448"/>
            <a:ext cx="2057400" cy="292608"/>
          </a:xfrm>
          <a:prstGeom prst="roundRect">
            <a:avLst>
              <a:gd name="adj" fmla="val 18750"/>
            </a:avLst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7568" y="1353312"/>
            <a:ext cx="1837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THE SPRINT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691640"/>
            <a:ext cx="5989320" cy="2788920"/>
          </a:xfrm>
          <a:prstGeom prst="roundRect">
            <a:avLst>
              <a:gd name="adj" fmla="val 2623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9008" y="1856232"/>
            <a:ext cx="55869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Facilitation Cycle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79008" y="2194560"/>
            <a:ext cx="5586984" cy="2167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 up each canvas section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timer for independent work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everyone back quickly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a light check-in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the next section</a:t>
            </a:r>
            <a:endParaRPr lang="en-US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297520-51DE-E513-6AB7-0D0CF3BAA5B7}"/>
              </a:ext>
            </a:extLst>
          </p:cNvPr>
          <p:cNvGrpSpPr/>
          <p:nvPr/>
        </p:nvGrpSpPr>
        <p:grpSpPr>
          <a:xfrm>
            <a:off x="594360" y="4586964"/>
            <a:ext cx="10972800" cy="896112"/>
            <a:chOff x="594360" y="4736592"/>
            <a:chExt cx="10972800" cy="896112"/>
          </a:xfrm>
        </p:grpSpPr>
        <p:sp>
          <p:nvSpPr>
            <p:cNvPr id="20" name="Shape 18"/>
            <p:cNvSpPr/>
            <p:nvPr/>
          </p:nvSpPr>
          <p:spPr>
            <a:xfrm>
              <a:off x="594360" y="4736592"/>
              <a:ext cx="10972800" cy="896112"/>
            </a:xfrm>
            <a:prstGeom prst="roundRect">
              <a:avLst>
                <a:gd name="adj" fmla="val 8163"/>
              </a:avLst>
            </a:prstGeom>
            <a:solidFill>
              <a:srgbClr val="ECECFA"/>
            </a:solidFill>
            <a:ln w="13970">
              <a:solidFill>
                <a:srgbClr val="D6D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95528" y="4901184"/>
              <a:ext cx="10570464" cy="27432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By the end, each person should leave with: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95528" y="5239512"/>
              <a:ext cx="10570464" cy="27432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t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A2A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One important work product or value opportunity • One enhancement opportunity • One stronger piece of work or first version • One repeatable practice</a:t>
              </a:r>
              <a:endParaRPr lang="en-US" sz="12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685800" y="5673436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774020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Action: Tee up each section, time the work, check in briefly, then move on.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SESSION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a working session, not a training.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minutes · Improve one important piece of work or value opportunity with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56235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581912"/>
            <a:ext cx="5221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today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1920240"/>
            <a:ext cx="5221224" cy="280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will use the Capability Enhancement Canvas to work through one real piece of work from start to finish.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move in cycles: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 up → Independent work → Quick check-in → Next section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end, everyone will share what they created or strengthened.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1417320"/>
            <a:ext cx="512064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47688" y="1581912"/>
            <a:ext cx="47183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Agreement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47688" y="1920240"/>
            <a:ext cx="4718304" cy="280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one piece of work or value opportunity.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over perfection.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strengthen thinking — not replace judgment.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with a practice you will use again.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Open the Capability Enhancement Canvas and an approved AI tool.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leave with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canvas turns AI exploration into a simple capability-building process.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important work or a value opportunity.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150876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20640" y="192024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purpose, audience, outcome, and strengths.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66760" y="150876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648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61120" y="192024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biggest enhancement opportunity.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38328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5528" y="3474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how AI should strengthen the work.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38328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36008" y="3474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20640" y="379476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with AI to create or improve it.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66760" y="3383280"/>
            <a:ext cx="411480" cy="411480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76488" y="3474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961120" y="3794760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 repeatable habit.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 should have stronger work and a practice you can reuse.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the work vs. strengthen the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not about using AI to produce more. It is about using AI to produce better.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5074920" cy="100584"/>
          </a:xfrm>
          <a:prstGeom prst="rect">
            <a:avLst/>
          </a:prstGeom>
          <a:solidFill>
            <a:srgbClr val="C7C7C7"/>
          </a:solidFill>
          <a:ln w="1270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1719072"/>
            <a:ext cx="4672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AI use helps us finish the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057400"/>
            <a:ext cx="4672584" cy="280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this email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this meeting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this slide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this paragraph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this question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55448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397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1554480"/>
            <a:ext cx="507492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47688" y="1719072"/>
            <a:ext cx="4672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sprint helps us strengthen the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7688" y="2057400"/>
            <a:ext cx="4672584" cy="280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the assumptions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the recommendation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the story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Stress-test the reasoning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value for the audience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question: How could this work be even better?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important piece of work — or an opportunity to create more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1847088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" y="2011680"/>
            <a:ext cx="45354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Section 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" y="2350008"/>
            <a:ext cx="4535424" cy="2944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work that is: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</a:rPr>
              <a:t>High impact</a:t>
            </a:r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</a:rPr>
              <a:t>Important to customers, leaders, or the business</a:t>
            </a:r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</a:rPr>
              <a:t>Worth investing more thinking into</a:t>
            </a:r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</a:rPr>
              <a:t>A type of work you will continue to do</a:t>
            </a:r>
          </a:p>
          <a:p>
            <a:pPr marL="233363" indent="-2333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</a:rPr>
              <a:t>An opportunity where stronger thinking could create more value</a:t>
            </a:r>
          </a:p>
        </p:txBody>
      </p:sp>
      <p:sp>
        <p:nvSpPr>
          <p:cNvPr id="30" name="Shape 28"/>
          <p:cNvSpPr/>
          <p:nvPr/>
        </p:nvSpPr>
        <p:spPr>
          <a:xfrm>
            <a:off x="5806440" y="1847088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06440" y="1847088"/>
            <a:ext cx="548640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07608" y="2011680"/>
            <a:ext cx="50840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examples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07608" y="2350008"/>
            <a:ext cx="5084064" cy="2944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recommendation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document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insight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communication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memo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Coaching conversation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</a:t>
            </a:r>
            <a:endParaRPr lang="en-US" sz="1320" dirty="0"/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opportunity to better serve customers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Work independently on Section 1. Choose one work product or value opportunity.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 the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improving the work, understand the value it is intended to create.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18745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6968" y="203911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6968" y="2377440"/>
            <a:ext cx="476402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this work trying to accomplish?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Help leaders make a funding decision.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18745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19088" y="203911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9088" y="2377440"/>
            <a:ext cx="476402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this for?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Executive team, customers, or partners.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3410712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6968" y="3575304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968" y="3913632"/>
            <a:ext cx="476402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decision, action, or outcome should this influence?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Approve a recommendation or take action.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17920" y="3410712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ECECFA"/>
          </a:solidFill>
          <a:ln w="13970">
            <a:solidFill>
              <a:srgbClr val="D6D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19088" y="3575304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088" y="3913632"/>
            <a:ext cx="476402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already works well?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Clear message, strong data, logical flow.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Complete Section 2. Start by recognizing what already works.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Enhancement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Trying to improve everything usually improves nothing. Focus on the highest-value improvement.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1901952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ECECFA"/>
          </a:solidFill>
          <a:ln w="13970">
            <a:solidFill>
              <a:srgbClr val="D6D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6968" y="2066544"/>
            <a:ext cx="43068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 Question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" y="2404872"/>
            <a:ext cx="4306824" cy="3355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 could improve one thing about this work, what would create the biggest difference?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improvement that would most increase value for the audience, customer, stakeholder, or business.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715000" y="1901952"/>
            <a:ext cx="5760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16168" y="2066544"/>
            <a:ext cx="53583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 Lenses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16168" y="2404872"/>
            <a:ext cx="5358384" cy="3355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Clarity — easier to understand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Insight — stronger analysis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Strategy — more forward-looking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Decision Quality — better recommendations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Creativity — more original ideas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Persuasiveness — greater influence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Customer Focus — better outcomes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Actionability — clearer next steps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Storytelling — more engaging narrative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2A2A2A"/>
                </a:solidFill>
                <a:latin typeface="Aptos" pitchFamily="34" charset="0"/>
              </a:rPr>
              <a:t>Evidence — stronger support</a:t>
            </a:r>
          </a:p>
        </p:txBody>
      </p:sp>
      <p:sp>
        <p:nvSpPr>
          <p:cNvPr id="35" name="Shape 33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Complete Section 3. Pick one biggest enhancement opportunity.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Enhancement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how AI should help strengthen the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81144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1847088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5528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want AI to help me...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5528" y="2350008"/>
            <a:ext cx="4901184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assumptions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assumptions am I making?”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alternatives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are three other approaches?”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clarity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is confusing?”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Stress-test reasoning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are the weaknesses?”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172200" y="1847088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0" y="1847088"/>
            <a:ext cx="530352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73368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useful enhancements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73368" y="2350008"/>
            <a:ext cx="4901184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risks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could cause this to fail?”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recommendations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could this recommendation be stronger?”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storytelling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could this be more compelling?”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structure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could this flow better?”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Complete Section 4. Choose the type of thinking you want AI to support.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&amp; Refine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with AI to strengthen the work through review and refinement.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81144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184708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1847088"/>
            <a:ext cx="352044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" y="2011680"/>
            <a:ext cx="31181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" y="2350008"/>
            <a:ext cx="3118104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the work + your completed canvas.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presentation, recommendation, strategy.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43400" y="184708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43400" y="1847088"/>
            <a:ext cx="352044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44568" y="2011680"/>
            <a:ext cx="31181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44568" y="2350008"/>
            <a:ext cx="3118104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the completed canvas and use it as your design brief.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next month’s QBR.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83880" y="184708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83880" y="1847088"/>
            <a:ext cx="352044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85048" y="2011680"/>
            <a:ext cx="31181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Opportunity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85048" y="2350008"/>
            <a:ext cx="3118104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completed canvas to help AI create a strong first version.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weekly insight summary.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97280" y="4434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8F6F1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4300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468880" y="4690872"/>
            <a:ext cx="53035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154680" y="4434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26280" y="4690872"/>
            <a:ext cx="53035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12080" y="4434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8F6F1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25780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583680" y="4690872"/>
            <a:ext cx="53035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69480" y="4434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8F6F1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1520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641080" y="4690872"/>
            <a:ext cx="53035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26880" y="4434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8F6F1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37260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Use AI to create or strengthen the work. Review suggestions before accepting them.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&amp; LEARN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quickly, then listen for reusable practices.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pattern recognition, not a long debrief.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1673352"/>
            <a:ext cx="49011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Round-robin: each person shares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011680"/>
            <a:ext cx="4901184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Work or value opportunity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Biggest enhancement opportunity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What AI helped strengthen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What became better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Practice they may reuse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30352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1673352"/>
            <a:ext cx="49011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scan: listen for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4808" y="2011680"/>
            <a:ext cx="4901184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work across people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enhancement needs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prompts or thinking habits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practices worth reusing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worth sharing with others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Round-robin share in about 60 seconds each. Keep it moving.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SECTION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 New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improvement should become tomorrow’s habit.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8648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66090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21608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502152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2856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81144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343400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04104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5184648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14416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45352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1312164"/>
            <a:ext cx="128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025896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55664" y="1380744"/>
            <a:ext cx="47548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86600" y="1298448"/>
            <a:ext cx="164592" cy="164592"/>
          </a:xfrm>
          <a:prstGeom prst="ellipse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67144" y="1554480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1847088"/>
            <a:ext cx="56235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6968" y="2011680"/>
            <a:ext cx="5221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Section 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6968" y="2350008"/>
            <a:ext cx="5221224" cy="3218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 create work like this again, I will use AI to...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will try this by...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improvement I hope to see is...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629400" y="1847088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ECECFA"/>
          </a:solidFill>
          <a:ln w="13970">
            <a:solidFill>
              <a:srgbClr val="D6D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30568" y="2011680"/>
            <a:ext cx="44439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30568" y="2350008"/>
            <a:ext cx="4443984" cy="3218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every executive presentation...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every recommendation...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every strategy document...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every important communication...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now: Write one repeatable practice you will use with future work.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54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IMPROVING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work gets stronger through practice.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one better deliverable. The goal is a better way of working.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016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6647688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12680" y="6647688"/>
            <a:ext cx="1371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F8F6F1"/>
          </a:solidFill>
          <a:ln w="1397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463040"/>
            <a:ext cx="2834640" cy="100584"/>
          </a:xfrm>
          <a:prstGeom prst="rect">
            <a:avLst/>
          </a:prstGeom>
          <a:solidFill>
            <a:srgbClr val="5A5AAE"/>
          </a:solidFill>
          <a:ln w="1270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1627632"/>
            <a:ext cx="24323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asking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1965960"/>
            <a:ext cx="2432304" cy="2898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could this work be even better?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could AI strengthen my thinking?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practice should I reuse next time?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86200" y="20574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87368" y="2221992"/>
            <a:ext cx="11064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87368" y="2560320"/>
            <a:ext cx="110642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your practice to real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58968" y="2679192"/>
            <a:ext cx="292608" cy="0"/>
          </a:xfrm>
          <a:prstGeom prst="line">
            <a:avLst/>
          </a:prstGeom>
          <a:noFill/>
          <a:ln w="19050">
            <a:solidFill>
              <a:srgbClr val="5A5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20574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61888" y="2221992"/>
            <a:ext cx="11064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61888" y="2560320"/>
            <a:ext cx="110642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what got stronger.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33488" y="2679192"/>
            <a:ext cx="292608" cy="0"/>
          </a:xfrm>
          <a:prstGeom prst="line">
            <a:avLst/>
          </a:prstGeom>
          <a:noFill/>
          <a:ln w="19050">
            <a:solidFill>
              <a:srgbClr val="5A5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20574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36408" y="2221992"/>
            <a:ext cx="11064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36408" y="2560320"/>
            <a:ext cx="110642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the work and your habit.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08008" y="2679192"/>
            <a:ext cx="292608" cy="0"/>
          </a:xfrm>
          <a:prstGeom prst="line">
            <a:avLst/>
          </a:prstGeom>
          <a:noFill/>
          <a:ln w="19050">
            <a:solidFill>
              <a:srgbClr val="5A5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0" y="20574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5A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10928" y="2221992"/>
            <a:ext cx="11064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10928" y="2560320"/>
            <a:ext cx="110642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someone else use it.</a:t>
            </a:r>
            <a:endParaRPr lang="en-US" sz="12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193C8F-B58F-F232-9170-F6964F12133A}"/>
              </a:ext>
            </a:extLst>
          </p:cNvPr>
          <p:cNvGrpSpPr/>
          <p:nvPr/>
        </p:nvGrpSpPr>
        <p:grpSpPr>
          <a:xfrm>
            <a:off x="5307678" y="3840480"/>
            <a:ext cx="4206240" cy="1371600"/>
            <a:chOff x="7269480" y="3840480"/>
            <a:chExt cx="4206240" cy="1371600"/>
          </a:xfrm>
        </p:grpSpPr>
        <p:sp>
          <p:nvSpPr>
            <p:cNvPr id="29" name="Shape 27"/>
            <p:cNvSpPr/>
            <p:nvPr/>
          </p:nvSpPr>
          <p:spPr>
            <a:xfrm>
              <a:off x="7269480" y="3840480"/>
              <a:ext cx="4206240" cy="1371600"/>
            </a:xfrm>
            <a:prstGeom prst="roundRect">
              <a:avLst>
                <a:gd name="adj" fmla="val 5333"/>
              </a:avLst>
            </a:prstGeom>
            <a:solidFill>
              <a:srgbClr val="ECECFA"/>
            </a:solidFill>
            <a:ln w="13970">
              <a:solidFill>
                <a:srgbClr val="D6D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399990" y="3938568"/>
              <a:ext cx="3819698" cy="27432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71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Remember</a:t>
              </a:r>
              <a:endParaRPr lang="en-US" sz="2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399990" y="4276896"/>
              <a:ext cx="3819698" cy="7498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A2A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can strengthen the work.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2A2A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Your judgment decides what makes it better.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2A2A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Practice turns one improvement into capability.</a:t>
              </a:r>
              <a:endParaRPr lang="en-US" sz="140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685800" y="5989320"/>
            <a:ext cx="10835640" cy="420624"/>
          </a:xfrm>
          <a:prstGeom prst="roundRect">
            <a:avLst>
              <a:gd name="adj" fmla="val 1521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680" y="6089904"/>
            <a:ext cx="10469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thought: Stronger work compounds when better thinking becomes a repeatable practice.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1924</Words>
  <Application>Microsoft Office PowerPoint</Application>
  <PresentationFormat>Widescreen</PresentationFormat>
  <Paragraphs>399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Fabletics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Enhancement Sprint Facilitator Deck</dc:title>
  <dc:subject>Capability Enhancement Sprint Facilitator Deck</dc:subject>
  <dc:creator>OpenAI</dc:creator>
  <cp:lastModifiedBy>Nathan Aramovich</cp:lastModifiedBy>
  <cp:revision>2</cp:revision>
  <dcterms:created xsi:type="dcterms:W3CDTF">2026-07-09T02:57:10Z</dcterms:created>
  <dcterms:modified xsi:type="dcterms:W3CDTF">2026-07-11T22:49:40Z</dcterms:modified>
</cp:coreProperties>
</file>