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9" r:id="rId4"/>
    <p:sldId id="260"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47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E71E55-0AA9-4085-9F91-672BC55E38F9}" v="8" dt="2026-07-08T18:42:50.4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26" autoAdjust="0"/>
    <p:restoredTop sz="94610"/>
  </p:normalViewPr>
  <p:slideViewPr>
    <p:cSldViewPr snapToGrid="0" snapToObjects="1">
      <p:cViewPr varScale="1">
        <p:scale>
          <a:sx n="92" d="100"/>
          <a:sy n="92" d="100"/>
        </p:scale>
        <p:origin x="65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Aramovich" userId="c36f02d7-80de-405b-bc96-0c274f442be4" providerId="ADAL" clId="{B6F58CB4-AA79-48E1-A786-024DB5EFAD40}"/>
    <pc:docChg chg="custSel delSld modSld">
      <pc:chgData name="Nathan Aramovich" userId="c36f02d7-80de-405b-bc96-0c274f442be4" providerId="ADAL" clId="{B6F58CB4-AA79-48E1-A786-024DB5EFAD40}" dt="2026-07-08T22:43:42.188" v="536" actId="20577"/>
      <pc:docMkLst>
        <pc:docMk/>
      </pc:docMkLst>
      <pc:sldChg chg="addSp delSp modSp mod">
        <pc:chgData name="Nathan Aramovich" userId="c36f02d7-80de-405b-bc96-0c274f442be4" providerId="ADAL" clId="{B6F58CB4-AA79-48E1-A786-024DB5EFAD40}" dt="2026-07-08T18:40:13.831" v="439" actId="20577"/>
        <pc:sldMkLst>
          <pc:docMk/>
          <pc:sldMk cId="0" sldId="256"/>
        </pc:sldMkLst>
        <pc:spChg chg="add del mod">
          <ac:chgData name="Nathan Aramovich" userId="c36f02d7-80de-405b-bc96-0c274f442be4" providerId="ADAL" clId="{B6F58CB4-AA79-48E1-A786-024DB5EFAD40}" dt="2026-07-08T18:38:12.855" v="319" actId="478"/>
          <ac:spMkLst>
            <pc:docMk/>
            <pc:sldMk cId="0" sldId="256"/>
            <ac:spMk id="7" creationId="{BA3F82FB-149F-7EF7-3A95-CFE2576F2F61}"/>
          </ac:spMkLst>
        </pc:spChg>
        <pc:spChg chg="add mod">
          <ac:chgData name="Nathan Aramovich" userId="c36f02d7-80de-405b-bc96-0c274f442be4" providerId="ADAL" clId="{B6F58CB4-AA79-48E1-A786-024DB5EFAD40}" dt="2026-07-08T18:38:10.088" v="318" actId="1035"/>
          <ac:spMkLst>
            <pc:docMk/>
            <pc:sldMk cId="0" sldId="256"/>
            <ac:spMk id="8" creationId="{7629B2FC-AC8D-C222-6F62-E979188B8615}"/>
          </ac:spMkLst>
        </pc:spChg>
        <pc:spChg chg="mod">
          <ac:chgData name="Nathan Aramovich" userId="c36f02d7-80de-405b-bc96-0c274f442be4" providerId="ADAL" clId="{B6F58CB4-AA79-48E1-A786-024DB5EFAD40}" dt="2026-07-08T18:36:53.194" v="130" actId="20577"/>
          <ac:spMkLst>
            <pc:docMk/>
            <pc:sldMk cId="0" sldId="256"/>
            <ac:spMk id="18" creationId="{00000000-0000-0000-0000-000000000000}"/>
          </ac:spMkLst>
        </pc:spChg>
        <pc:spChg chg="mod">
          <ac:chgData name="Nathan Aramovich" userId="c36f02d7-80de-405b-bc96-0c274f442be4" providerId="ADAL" clId="{B6F58CB4-AA79-48E1-A786-024DB5EFAD40}" dt="2026-07-08T18:38:05.215" v="310" actId="20577"/>
          <ac:spMkLst>
            <pc:docMk/>
            <pc:sldMk cId="0" sldId="256"/>
            <ac:spMk id="19" creationId="{00000000-0000-0000-0000-000000000000}"/>
          </ac:spMkLst>
        </pc:spChg>
        <pc:spChg chg="mod">
          <ac:chgData name="Nathan Aramovich" userId="c36f02d7-80de-405b-bc96-0c274f442be4" providerId="ADAL" clId="{B6F58CB4-AA79-48E1-A786-024DB5EFAD40}" dt="2026-07-08T18:37:03.955" v="143" actId="1036"/>
          <ac:spMkLst>
            <pc:docMk/>
            <pc:sldMk cId="0" sldId="256"/>
            <ac:spMk id="20" creationId="{00000000-0000-0000-0000-000000000000}"/>
          </ac:spMkLst>
        </pc:spChg>
        <pc:spChg chg="add mod">
          <ac:chgData name="Nathan Aramovich" userId="c36f02d7-80de-405b-bc96-0c274f442be4" providerId="ADAL" clId="{B6F58CB4-AA79-48E1-A786-024DB5EFAD40}" dt="2026-07-08T18:38:26.205" v="367" actId="1035"/>
          <ac:spMkLst>
            <pc:docMk/>
            <pc:sldMk cId="0" sldId="256"/>
            <ac:spMk id="21" creationId="{43EF1406-FB08-D265-9BF1-108861628679}"/>
          </ac:spMkLst>
        </pc:spChg>
        <pc:spChg chg="mod">
          <ac:chgData name="Nathan Aramovich" userId="c36f02d7-80de-405b-bc96-0c274f442be4" providerId="ADAL" clId="{B6F58CB4-AA79-48E1-A786-024DB5EFAD40}" dt="2026-07-08T18:37:03.955" v="143" actId="1036"/>
          <ac:spMkLst>
            <pc:docMk/>
            <pc:sldMk cId="0" sldId="256"/>
            <ac:spMk id="22" creationId="{00000000-0000-0000-0000-000000000000}"/>
          </ac:spMkLst>
        </pc:spChg>
        <pc:spChg chg="mod">
          <ac:chgData name="Nathan Aramovich" userId="c36f02d7-80de-405b-bc96-0c274f442be4" providerId="ADAL" clId="{B6F58CB4-AA79-48E1-A786-024DB5EFAD40}" dt="2026-07-08T18:39:06.322" v="397" actId="20577"/>
          <ac:spMkLst>
            <pc:docMk/>
            <pc:sldMk cId="0" sldId="256"/>
            <ac:spMk id="61" creationId="{00000000-0000-0000-0000-000000000000}"/>
          </ac:spMkLst>
        </pc:spChg>
        <pc:spChg chg="mod">
          <ac:chgData name="Nathan Aramovich" userId="c36f02d7-80de-405b-bc96-0c274f442be4" providerId="ADAL" clId="{B6F58CB4-AA79-48E1-A786-024DB5EFAD40}" dt="2026-07-08T18:40:13.831" v="439" actId="20577"/>
          <ac:spMkLst>
            <pc:docMk/>
            <pc:sldMk cId="0" sldId="256"/>
            <ac:spMk id="85" creationId="{00000000-0000-0000-0000-000000000000}"/>
          </ac:spMkLst>
        </pc:spChg>
      </pc:sldChg>
      <pc:sldChg chg="modSp mod">
        <pc:chgData name="Nathan Aramovich" userId="c36f02d7-80de-405b-bc96-0c274f442be4" providerId="ADAL" clId="{B6F58CB4-AA79-48E1-A786-024DB5EFAD40}" dt="2026-07-08T22:43:42.188" v="536" actId="20577"/>
        <pc:sldMkLst>
          <pc:docMk/>
          <pc:sldMk cId="0" sldId="257"/>
        </pc:sldMkLst>
        <pc:spChg chg="mod">
          <ac:chgData name="Nathan Aramovich" userId="c36f02d7-80de-405b-bc96-0c274f442be4" providerId="ADAL" clId="{B6F58CB4-AA79-48E1-A786-024DB5EFAD40}" dt="2026-07-08T22:43:42.188" v="536" actId="20577"/>
          <ac:spMkLst>
            <pc:docMk/>
            <pc:sldMk cId="0" sldId="257"/>
            <ac:spMk id="9" creationId="{00000000-0000-0000-0000-000000000000}"/>
          </ac:spMkLst>
        </pc:spChg>
        <pc:spChg chg="mod">
          <ac:chgData name="Nathan Aramovich" userId="c36f02d7-80de-405b-bc96-0c274f442be4" providerId="ADAL" clId="{B6F58CB4-AA79-48E1-A786-024DB5EFAD40}" dt="2026-07-08T18:41:20.788" v="468" actId="20577"/>
          <ac:spMkLst>
            <pc:docMk/>
            <pc:sldMk cId="0" sldId="257"/>
            <ac:spMk id="44" creationId="{00000000-0000-0000-0000-000000000000}"/>
          </ac:spMkLst>
        </pc:spChg>
        <pc:spChg chg="mod">
          <ac:chgData name="Nathan Aramovich" userId="c36f02d7-80de-405b-bc96-0c274f442be4" providerId="ADAL" clId="{B6F58CB4-AA79-48E1-A786-024DB5EFAD40}" dt="2026-07-08T18:41:39.455" v="480" actId="20577"/>
          <ac:spMkLst>
            <pc:docMk/>
            <pc:sldMk cId="0" sldId="257"/>
            <ac:spMk id="45" creationId="{00000000-0000-0000-0000-000000000000}"/>
          </ac:spMkLst>
        </pc:spChg>
      </pc:sldChg>
      <pc:sldChg chg="del">
        <pc:chgData name="Nathan Aramovich" userId="c36f02d7-80de-405b-bc96-0c274f442be4" providerId="ADAL" clId="{B6F58CB4-AA79-48E1-A786-024DB5EFAD40}" dt="2026-07-08T18:24:23.755" v="0" actId="47"/>
        <pc:sldMkLst>
          <pc:docMk/>
          <pc:sldMk cId="0" sldId="258"/>
        </pc:sldMkLst>
      </pc:sldChg>
      <pc:sldChg chg="addSp modSp mod">
        <pc:chgData name="Nathan Aramovich" userId="c36f02d7-80de-405b-bc96-0c274f442be4" providerId="ADAL" clId="{B6F58CB4-AA79-48E1-A786-024DB5EFAD40}" dt="2026-07-08T18:42:28.733" v="493" actId="20577"/>
        <pc:sldMkLst>
          <pc:docMk/>
          <pc:sldMk cId="0" sldId="259"/>
        </pc:sldMkLst>
        <pc:spChg chg="mod">
          <ac:chgData name="Nathan Aramovich" userId="c36f02d7-80de-405b-bc96-0c274f442be4" providerId="ADAL" clId="{B6F58CB4-AA79-48E1-A786-024DB5EFAD40}" dt="2026-07-08T18:42:28.733" v="493" actId="20577"/>
          <ac:spMkLst>
            <pc:docMk/>
            <pc:sldMk cId="0" sldId="259"/>
            <ac:spMk id="5" creationId="{00000000-0000-0000-0000-000000000000}"/>
          </ac:spMkLst>
        </pc:spChg>
        <pc:spChg chg="mod">
          <ac:chgData name="Nathan Aramovich" userId="c36f02d7-80de-405b-bc96-0c274f442be4" providerId="ADAL" clId="{B6F58CB4-AA79-48E1-A786-024DB5EFAD40}" dt="2026-07-08T18:24:39.995" v="3" actId="403"/>
          <ac:spMkLst>
            <pc:docMk/>
            <pc:sldMk cId="0" sldId="259"/>
            <ac:spMk id="7" creationId="{00000000-0000-0000-0000-000000000000}"/>
          </ac:spMkLst>
        </pc:spChg>
        <pc:spChg chg="mod">
          <ac:chgData name="Nathan Aramovich" userId="c36f02d7-80de-405b-bc96-0c274f442be4" providerId="ADAL" clId="{B6F58CB4-AA79-48E1-A786-024DB5EFAD40}" dt="2026-07-08T18:24:39.995" v="3" actId="403"/>
          <ac:spMkLst>
            <pc:docMk/>
            <pc:sldMk cId="0" sldId="259"/>
            <ac:spMk id="15" creationId="{00000000-0000-0000-0000-000000000000}"/>
          </ac:spMkLst>
        </pc:spChg>
        <pc:spChg chg="mod">
          <ac:chgData name="Nathan Aramovich" userId="c36f02d7-80de-405b-bc96-0c274f442be4" providerId="ADAL" clId="{B6F58CB4-AA79-48E1-A786-024DB5EFAD40}" dt="2026-07-08T18:26:08.810" v="64" actId="14100"/>
          <ac:spMkLst>
            <pc:docMk/>
            <pc:sldMk cId="0" sldId="259"/>
            <ac:spMk id="20" creationId="{00000000-0000-0000-0000-000000000000}"/>
          </ac:spMkLst>
        </pc:spChg>
        <pc:spChg chg="mod">
          <ac:chgData name="Nathan Aramovich" userId="c36f02d7-80de-405b-bc96-0c274f442be4" providerId="ADAL" clId="{B6F58CB4-AA79-48E1-A786-024DB5EFAD40}" dt="2026-07-08T18:26:17.139" v="65" actId="14100"/>
          <ac:spMkLst>
            <pc:docMk/>
            <pc:sldMk cId="0" sldId="259"/>
            <ac:spMk id="25" creationId="{00000000-0000-0000-0000-000000000000}"/>
          </ac:spMkLst>
        </pc:spChg>
        <pc:spChg chg="mod">
          <ac:chgData name="Nathan Aramovich" userId="c36f02d7-80de-405b-bc96-0c274f442be4" providerId="ADAL" clId="{B6F58CB4-AA79-48E1-A786-024DB5EFAD40}" dt="2026-07-08T18:27:43.272" v="103" actId="14100"/>
          <ac:spMkLst>
            <pc:docMk/>
            <pc:sldMk cId="0" sldId="259"/>
            <ac:spMk id="26" creationId="{00000000-0000-0000-0000-000000000000}"/>
          </ac:spMkLst>
        </pc:spChg>
        <pc:spChg chg="mod">
          <ac:chgData name="Nathan Aramovich" userId="c36f02d7-80de-405b-bc96-0c274f442be4" providerId="ADAL" clId="{B6F58CB4-AA79-48E1-A786-024DB5EFAD40}" dt="2026-07-08T18:26:08.810" v="64" actId="14100"/>
          <ac:spMkLst>
            <pc:docMk/>
            <pc:sldMk cId="0" sldId="259"/>
            <ac:spMk id="27" creationId="{00000000-0000-0000-0000-000000000000}"/>
          </ac:spMkLst>
        </pc:spChg>
        <pc:spChg chg="mod">
          <ac:chgData name="Nathan Aramovich" userId="c36f02d7-80de-405b-bc96-0c274f442be4" providerId="ADAL" clId="{B6F58CB4-AA79-48E1-A786-024DB5EFAD40}" dt="2026-07-08T18:24:39.995" v="3" actId="403"/>
          <ac:spMkLst>
            <pc:docMk/>
            <pc:sldMk cId="0" sldId="259"/>
            <ac:spMk id="29" creationId="{00000000-0000-0000-0000-000000000000}"/>
          </ac:spMkLst>
        </pc:spChg>
        <pc:spChg chg="mod">
          <ac:chgData name="Nathan Aramovich" userId="c36f02d7-80de-405b-bc96-0c274f442be4" providerId="ADAL" clId="{B6F58CB4-AA79-48E1-A786-024DB5EFAD40}" dt="2026-07-08T18:26:17.139" v="65" actId="14100"/>
          <ac:spMkLst>
            <pc:docMk/>
            <pc:sldMk cId="0" sldId="259"/>
            <ac:spMk id="32" creationId="{00000000-0000-0000-0000-000000000000}"/>
          </ac:spMkLst>
        </pc:spChg>
        <pc:spChg chg="mod">
          <ac:chgData name="Nathan Aramovich" userId="c36f02d7-80de-405b-bc96-0c274f442be4" providerId="ADAL" clId="{B6F58CB4-AA79-48E1-A786-024DB5EFAD40}" dt="2026-07-08T18:27:49.439" v="104" actId="14100"/>
          <ac:spMkLst>
            <pc:docMk/>
            <pc:sldMk cId="0" sldId="259"/>
            <ac:spMk id="33" creationId="{00000000-0000-0000-0000-000000000000}"/>
          </ac:spMkLst>
        </pc:spChg>
        <pc:spChg chg="mod">
          <ac:chgData name="Nathan Aramovich" userId="c36f02d7-80de-405b-bc96-0c274f442be4" providerId="ADAL" clId="{B6F58CB4-AA79-48E1-A786-024DB5EFAD40}" dt="2026-07-08T18:26:08.810" v="64" actId="14100"/>
          <ac:spMkLst>
            <pc:docMk/>
            <pc:sldMk cId="0" sldId="259"/>
            <ac:spMk id="34" creationId="{00000000-0000-0000-0000-000000000000}"/>
          </ac:spMkLst>
        </pc:spChg>
        <pc:spChg chg="mod">
          <ac:chgData name="Nathan Aramovich" userId="c36f02d7-80de-405b-bc96-0c274f442be4" providerId="ADAL" clId="{B6F58CB4-AA79-48E1-A786-024DB5EFAD40}" dt="2026-07-08T18:24:39.995" v="3" actId="403"/>
          <ac:spMkLst>
            <pc:docMk/>
            <pc:sldMk cId="0" sldId="259"/>
            <ac:spMk id="36" creationId="{00000000-0000-0000-0000-000000000000}"/>
          </ac:spMkLst>
        </pc:spChg>
        <pc:spChg chg="mod">
          <ac:chgData name="Nathan Aramovich" userId="c36f02d7-80de-405b-bc96-0c274f442be4" providerId="ADAL" clId="{B6F58CB4-AA79-48E1-A786-024DB5EFAD40}" dt="2026-07-08T18:26:17.139" v="65" actId="14100"/>
          <ac:spMkLst>
            <pc:docMk/>
            <pc:sldMk cId="0" sldId="259"/>
            <ac:spMk id="39" creationId="{00000000-0000-0000-0000-000000000000}"/>
          </ac:spMkLst>
        </pc:spChg>
        <pc:spChg chg="mod">
          <ac:chgData name="Nathan Aramovich" userId="c36f02d7-80de-405b-bc96-0c274f442be4" providerId="ADAL" clId="{B6F58CB4-AA79-48E1-A786-024DB5EFAD40}" dt="2026-07-08T18:27:53.224" v="105" actId="14100"/>
          <ac:spMkLst>
            <pc:docMk/>
            <pc:sldMk cId="0" sldId="259"/>
            <ac:spMk id="40" creationId="{00000000-0000-0000-0000-000000000000}"/>
          </ac:spMkLst>
        </pc:spChg>
        <pc:spChg chg="mod">
          <ac:chgData name="Nathan Aramovich" userId="c36f02d7-80de-405b-bc96-0c274f442be4" providerId="ADAL" clId="{B6F58CB4-AA79-48E1-A786-024DB5EFAD40}" dt="2026-07-08T18:25:16.155" v="7" actId="164"/>
          <ac:spMkLst>
            <pc:docMk/>
            <pc:sldMk cId="0" sldId="259"/>
            <ac:spMk id="41" creationId="{00000000-0000-0000-0000-000000000000}"/>
          </ac:spMkLst>
        </pc:spChg>
        <pc:spChg chg="mod">
          <ac:chgData name="Nathan Aramovich" userId="c36f02d7-80de-405b-bc96-0c274f442be4" providerId="ADAL" clId="{B6F58CB4-AA79-48E1-A786-024DB5EFAD40}" dt="2026-07-08T18:25:16.155" v="7" actId="164"/>
          <ac:spMkLst>
            <pc:docMk/>
            <pc:sldMk cId="0" sldId="259"/>
            <ac:spMk id="42" creationId="{00000000-0000-0000-0000-000000000000}"/>
          </ac:spMkLst>
        </pc:spChg>
        <pc:spChg chg="mod">
          <ac:chgData name="Nathan Aramovich" userId="c36f02d7-80de-405b-bc96-0c274f442be4" providerId="ADAL" clId="{B6F58CB4-AA79-48E1-A786-024DB5EFAD40}" dt="2026-07-08T18:25:16.155" v="7" actId="164"/>
          <ac:spMkLst>
            <pc:docMk/>
            <pc:sldMk cId="0" sldId="259"/>
            <ac:spMk id="43" creationId="{00000000-0000-0000-0000-000000000000}"/>
          </ac:spMkLst>
        </pc:spChg>
        <pc:spChg chg="mod">
          <ac:chgData name="Nathan Aramovich" userId="c36f02d7-80de-405b-bc96-0c274f442be4" providerId="ADAL" clId="{B6F58CB4-AA79-48E1-A786-024DB5EFAD40}" dt="2026-07-08T18:25:16.155" v="7" actId="164"/>
          <ac:spMkLst>
            <pc:docMk/>
            <pc:sldMk cId="0" sldId="259"/>
            <ac:spMk id="44" creationId="{00000000-0000-0000-0000-000000000000}"/>
          </ac:spMkLst>
        </pc:spChg>
        <pc:spChg chg="mod">
          <ac:chgData name="Nathan Aramovich" userId="c36f02d7-80de-405b-bc96-0c274f442be4" providerId="ADAL" clId="{B6F58CB4-AA79-48E1-A786-024DB5EFAD40}" dt="2026-07-08T18:25:16.155" v="7" actId="164"/>
          <ac:spMkLst>
            <pc:docMk/>
            <pc:sldMk cId="0" sldId="259"/>
            <ac:spMk id="45" creationId="{00000000-0000-0000-0000-000000000000}"/>
          </ac:spMkLst>
        </pc:spChg>
        <pc:spChg chg="mod">
          <ac:chgData name="Nathan Aramovich" userId="c36f02d7-80de-405b-bc96-0c274f442be4" providerId="ADAL" clId="{B6F58CB4-AA79-48E1-A786-024DB5EFAD40}" dt="2026-07-08T18:25:16.155" v="7" actId="164"/>
          <ac:spMkLst>
            <pc:docMk/>
            <pc:sldMk cId="0" sldId="259"/>
            <ac:spMk id="46" creationId="{00000000-0000-0000-0000-000000000000}"/>
          </ac:spMkLst>
        </pc:spChg>
        <pc:spChg chg="mod">
          <ac:chgData name="Nathan Aramovich" userId="c36f02d7-80de-405b-bc96-0c274f442be4" providerId="ADAL" clId="{B6F58CB4-AA79-48E1-A786-024DB5EFAD40}" dt="2026-07-08T18:25:16.155" v="7" actId="164"/>
          <ac:spMkLst>
            <pc:docMk/>
            <pc:sldMk cId="0" sldId="259"/>
            <ac:spMk id="47" creationId="{00000000-0000-0000-0000-000000000000}"/>
          </ac:spMkLst>
        </pc:spChg>
        <pc:spChg chg="mod">
          <ac:chgData name="Nathan Aramovich" userId="c36f02d7-80de-405b-bc96-0c274f442be4" providerId="ADAL" clId="{B6F58CB4-AA79-48E1-A786-024DB5EFAD40}" dt="2026-07-08T18:25:32.288" v="8" actId="164"/>
          <ac:spMkLst>
            <pc:docMk/>
            <pc:sldMk cId="0" sldId="259"/>
            <ac:spMk id="48" creationId="{00000000-0000-0000-0000-000000000000}"/>
          </ac:spMkLst>
        </pc:spChg>
        <pc:spChg chg="mod">
          <ac:chgData name="Nathan Aramovich" userId="c36f02d7-80de-405b-bc96-0c274f442be4" providerId="ADAL" clId="{B6F58CB4-AA79-48E1-A786-024DB5EFAD40}" dt="2026-07-08T18:25:32.288" v="8" actId="164"/>
          <ac:spMkLst>
            <pc:docMk/>
            <pc:sldMk cId="0" sldId="259"/>
            <ac:spMk id="49" creationId="{00000000-0000-0000-0000-000000000000}"/>
          </ac:spMkLst>
        </pc:spChg>
        <pc:spChg chg="mod">
          <ac:chgData name="Nathan Aramovich" userId="c36f02d7-80de-405b-bc96-0c274f442be4" providerId="ADAL" clId="{B6F58CB4-AA79-48E1-A786-024DB5EFAD40}" dt="2026-07-08T18:25:32.288" v="8" actId="164"/>
          <ac:spMkLst>
            <pc:docMk/>
            <pc:sldMk cId="0" sldId="259"/>
            <ac:spMk id="50" creationId="{00000000-0000-0000-0000-000000000000}"/>
          </ac:spMkLst>
        </pc:spChg>
        <pc:spChg chg="mod">
          <ac:chgData name="Nathan Aramovich" userId="c36f02d7-80de-405b-bc96-0c274f442be4" providerId="ADAL" clId="{B6F58CB4-AA79-48E1-A786-024DB5EFAD40}" dt="2026-07-08T18:25:32.288" v="8" actId="164"/>
          <ac:spMkLst>
            <pc:docMk/>
            <pc:sldMk cId="0" sldId="259"/>
            <ac:spMk id="51" creationId="{00000000-0000-0000-0000-000000000000}"/>
          </ac:spMkLst>
        </pc:spChg>
        <pc:spChg chg="mod">
          <ac:chgData name="Nathan Aramovich" userId="c36f02d7-80de-405b-bc96-0c274f442be4" providerId="ADAL" clId="{B6F58CB4-AA79-48E1-A786-024DB5EFAD40}" dt="2026-07-08T18:25:32.288" v="8" actId="164"/>
          <ac:spMkLst>
            <pc:docMk/>
            <pc:sldMk cId="0" sldId="259"/>
            <ac:spMk id="52" creationId="{00000000-0000-0000-0000-000000000000}"/>
          </ac:spMkLst>
        </pc:spChg>
        <pc:spChg chg="mod">
          <ac:chgData name="Nathan Aramovich" userId="c36f02d7-80de-405b-bc96-0c274f442be4" providerId="ADAL" clId="{B6F58CB4-AA79-48E1-A786-024DB5EFAD40}" dt="2026-07-08T18:25:32.288" v="8" actId="164"/>
          <ac:spMkLst>
            <pc:docMk/>
            <pc:sldMk cId="0" sldId="259"/>
            <ac:spMk id="53" creationId="{00000000-0000-0000-0000-000000000000}"/>
          </ac:spMkLst>
        </pc:spChg>
        <pc:spChg chg="mod">
          <ac:chgData name="Nathan Aramovich" userId="c36f02d7-80de-405b-bc96-0c274f442be4" providerId="ADAL" clId="{B6F58CB4-AA79-48E1-A786-024DB5EFAD40}" dt="2026-07-08T18:25:32.288" v="8" actId="164"/>
          <ac:spMkLst>
            <pc:docMk/>
            <pc:sldMk cId="0" sldId="259"/>
            <ac:spMk id="54" creationId="{00000000-0000-0000-0000-000000000000}"/>
          </ac:spMkLst>
        </pc:spChg>
        <pc:grpChg chg="add mod">
          <ac:chgData name="Nathan Aramovich" userId="c36f02d7-80de-405b-bc96-0c274f442be4" providerId="ADAL" clId="{B6F58CB4-AA79-48E1-A786-024DB5EFAD40}" dt="2026-07-08T18:25:44.895" v="37" actId="1036"/>
          <ac:grpSpMkLst>
            <pc:docMk/>
            <pc:sldMk cId="0" sldId="259"/>
            <ac:grpSpMk id="58" creationId="{0386D2CD-496F-FC8D-3880-70565374E584}"/>
          </ac:grpSpMkLst>
        </pc:grpChg>
        <pc:grpChg chg="add mod">
          <ac:chgData name="Nathan Aramovich" userId="c36f02d7-80de-405b-bc96-0c274f442be4" providerId="ADAL" clId="{B6F58CB4-AA79-48E1-A786-024DB5EFAD40}" dt="2026-07-08T18:25:50.722" v="63" actId="1035"/>
          <ac:grpSpMkLst>
            <pc:docMk/>
            <pc:sldMk cId="0" sldId="259"/>
            <ac:grpSpMk id="59" creationId="{C6FDDB38-AE82-7AD9-6E33-296B42B28FEC}"/>
          </ac:grpSpMkLst>
        </pc:grpChg>
      </pc:sldChg>
      <pc:sldChg chg="addSp modSp mod">
        <pc:chgData name="Nathan Aramovich" userId="c36f02d7-80de-405b-bc96-0c274f442be4" providerId="ADAL" clId="{B6F58CB4-AA79-48E1-A786-024DB5EFAD40}" dt="2026-07-08T18:42:50.474" v="507"/>
        <pc:sldMkLst>
          <pc:docMk/>
          <pc:sldMk cId="0" sldId="260"/>
        </pc:sldMkLst>
        <pc:spChg chg="mod">
          <ac:chgData name="Nathan Aramovich" userId="c36f02d7-80de-405b-bc96-0c274f442be4" providerId="ADAL" clId="{B6F58CB4-AA79-48E1-A786-024DB5EFAD40}" dt="2026-07-08T18:27:08.143" v="100" actId="1076"/>
          <ac:spMkLst>
            <pc:docMk/>
            <pc:sldMk cId="0" sldId="260"/>
            <ac:spMk id="2" creationId="{00000000-0000-0000-0000-000000000000}"/>
          </ac:spMkLst>
        </pc:spChg>
        <pc:spChg chg="mod">
          <ac:chgData name="Nathan Aramovich" userId="c36f02d7-80de-405b-bc96-0c274f442be4" providerId="ADAL" clId="{B6F58CB4-AA79-48E1-A786-024DB5EFAD40}" dt="2026-07-08T18:42:34.523" v="506" actId="20577"/>
          <ac:spMkLst>
            <pc:docMk/>
            <pc:sldMk cId="0" sldId="260"/>
            <ac:spMk id="5" creationId="{00000000-0000-0000-0000-000000000000}"/>
          </ac:spMkLst>
        </pc:spChg>
        <pc:spChg chg="mod">
          <ac:chgData name="Nathan Aramovich" userId="c36f02d7-80de-405b-bc96-0c274f442be4" providerId="ADAL" clId="{B6F58CB4-AA79-48E1-A786-024DB5EFAD40}" dt="2026-07-08T18:24:55.772" v="6" actId="403"/>
          <ac:spMkLst>
            <pc:docMk/>
            <pc:sldMk cId="0" sldId="260"/>
            <ac:spMk id="13" creationId="{00000000-0000-0000-0000-000000000000}"/>
          </ac:spMkLst>
        </pc:spChg>
        <pc:spChg chg="mod">
          <ac:chgData name="Nathan Aramovich" userId="c36f02d7-80de-405b-bc96-0c274f442be4" providerId="ADAL" clId="{B6F58CB4-AA79-48E1-A786-024DB5EFAD40}" dt="2026-07-08T18:42:50.474" v="507"/>
          <ac:spMkLst>
            <pc:docMk/>
            <pc:sldMk cId="0" sldId="260"/>
            <ac:spMk id="19" creationId="{00000000-0000-0000-0000-000000000000}"/>
          </ac:spMkLst>
        </pc:spChg>
        <pc:spChg chg="mod">
          <ac:chgData name="Nathan Aramovich" userId="c36f02d7-80de-405b-bc96-0c274f442be4" providerId="ADAL" clId="{B6F58CB4-AA79-48E1-A786-024DB5EFAD40}" dt="2026-07-08T18:27:17.938" v="101" actId="14100"/>
          <ac:spMkLst>
            <pc:docMk/>
            <pc:sldMk cId="0" sldId="260"/>
            <ac:spMk id="20" creationId="{00000000-0000-0000-0000-000000000000}"/>
          </ac:spMkLst>
        </pc:spChg>
        <pc:spChg chg="mod">
          <ac:chgData name="Nathan Aramovich" userId="c36f02d7-80de-405b-bc96-0c274f442be4" providerId="ADAL" clId="{B6F58CB4-AA79-48E1-A786-024DB5EFAD40}" dt="2026-07-08T18:24:55.772" v="6" actId="403"/>
          <ac:spMkLst>
            <pc:docMk/>
            <pc:sldMk cId="0" sldId="260"/>
            <ac:spMk id="22" creationId="{00000000-0000-0000-0000-000000000000}"/>
          </ac:spMkLst>
        </pc:spChg>
        <pc:spChg chg="mod">
          <ac:chgData name="Nathan Aramovich" userId="c36f02d7-80de-405b-bc96-0c274f442be4" providerId="ADAL" clId="{B6F58CB4-AA79-48E1-A786-024DB5EFAD40}" dt="2026-07-08T18:24:55.772" v="6" actId="403"/>
          <ac:spMkLst>
            <pc:docMk/>
            <pc:sldMk cId="0" sldId="260"/>
            <ac:spMk id="23" creationId="{00000000-0000-0000-0000-000000000000}"/>
          </ac:spMkLst>
        </pc:spChg>
        <pc:spChg chg="mod">
          <ac:chgData name="Nathan Aramovich" userId="c36f02d7-80de-405b-bc96-0c274f442be4" providerId="ADAL" clId="{B6F58CB4-AA79-48E1-A786-024DB5EFAD40}" dt="2026-07-08T18:24:55.772" v="6" actId="403"/>
          <ac:spMkLst>
            <pc:docMk/>
            <pc:sldMk cId="0" sldId="260"/>
            <ac:spMk id="24" creationId="{00000000-0000-0000-0000-000000000000}"/>
          </ac:spMkLst>
        </pc:spChg>
        <pc:spChg chg="mod">
          <ac:chgData name="Nathan Aramovich" userId="c36f02d7-80de-405b-bc96-0c274f442be4" providerId="ADAL" clId="{B6F58CB4-AA79-48E1-A786-024DB5EFAD40}" dt="2026-07-08T18:27:25.943" v="102" actId="14100"/>
          <ac:spMkLst>
            <pc:docMk/>
            <pc:sldMk cId="0" sldId="260"/>
            <ac:spMk id="25" creationId="{00000000-0000-0000-0000-000000000000}"/>
          </ac:spMkLst>
        </pc:spChg>
        <pc:spChg chg="mod">
          <ac:chgData name="Nathan Aramovich" userId="c36f02d7-80de-405b-bc96-0c274f442be4" providerId="ADAL" clId="{B6F58CB4-AA79-48E1-A786-024DB5EFAD40}" dt="2026-07-08T18:27:59.977" v="106" actId="14100"/>
          <ac:spMkLst>
            <pc:docMk/>
            <pc:sldMk cId="0" sldId="260"/>
            <ac:spMk id="26" creationId="{00000000-0000-0000-0000-000000000000}"/>
          </ac:spMkLst>
        </pc:spChg>
        <pc:spChg chg="mod">
          <ac:chgData name="Nathan Aramovich" userId="c36f02d7-80de-405b-bc96-0c274f442be4" providerId="ADAL" clId="{B6F58CB4-AA79-48E1-A786-024DB5EFAD40}" dt="2026-07-08T18:27:17.938" v="101" actId="14100"/>
          <ac:spMkLst>
            <pc:docMk/>
            <pc:sldMk cId="0" sldId="260"/>
            <ac:spMk id="27" creationId="{00000000-0000-0000-0000-000000000000}"/>
          </ac:spMkLst>
        </pc:spChg>
        <pc:spChg chg="mod">
          <ac:chgData name="Nathan Aramovich" userId="c36f02d7-80de-405b-bc96-0c274f442be4" providerId="ADAL" clId="{B6F58CB4-AA79-48E1-A786-024DB5EFAD40}" dt="2026-07-08T18:24:55.772" v="6" actId="403"/>
          <ac:spMkLst>
            <pc:docMk/>
            <pc:sldMk cId="0" sldId="260"/>
            <ac:spMk id="28" creationId="{00000000-0000-0000-0000-000000000000}"/>
          </ac:spMkLst>
        </pc:spChg>
        <pc:spChg chg="mod">
          <ac:chgData name="Nathan Aramovich" userId="c36f02d7-80de-405b-bc96-0c274f442be4" providerId="ADAL" clId="{B6F58CB4-AA79-48E1-A786-024DB5EFAD40}" dt="2026-07-08T18:27:25.943" v="102" actId="14100"/>
          <ac:spMkLst>
            <pc:docMk/>
            <pc:sldMk cId="0" sldId="260"/>
            <ac:spMk id="32" creationId="{00000000-0000-0000-0000-000000000000}"/>
          </ac:spMkLst>
        </pc:spChg>
        <pc:spChg chg="mod">
          <ac:chgData name="Nathan Aramovich" userId="c36f02d7-80de-405b-bc96-0c274f442be4" providerId="ADAL" clId="{B6F58CB4-AA79-48E1-A786-024DB5EFAD40}" dt="2026-07-08T18:28:02.490" v="107" actId="14100"/>
          <ac:spMkLst>
            <pc:docMk/>
            <pc:sldMk cId="0" sldId="260"/>
            <ac:spMk id="33" creationId="{00000000-0000-0000-0000-000000000000}"/>
          </ac:spMkLst>
        </pc:spChg>
        <pc:spChg chg="mod">
          <ac:chgData name="Nathan Aramovich" userId="c36f02d7-80de-405b-bc96-0c274f442be4" providerId="ADAL" clId="{B6F58CB4-AA79-48E1-A786-024DB5EFAD40}" dt="2026-07-08T18:27:17.938" v="101" actId="14100"/>
          <ac:spMkLst>
            <pc:docMk/>
            <pc:sldMk cId="0" sldId="260"/>
            <ac:spMk id="34" creationId="{00000000-0000-0000-0000-000000000000}"/>
          </ac:spMkLst>
        </pc:spChg>
        <pc:spChg chg="mod">
          <ac:chgData name="Nathan Aramovich" userId="c36f02d7-80de-405b-bc96-0c274f442be4" providerId="ADAL" clId="{B6F58CB4-AA79-48E1-A786-024DB5EFAD40}" dt="2026-07-08T18:27:25.943" v="102" actId="14100"/>
          <ac:spMkLst>
            <pc:docMk/>
            <pc:sldMk cId="0" sldId="260"/>
            <ac:spMk id="39" creationId="{00000000-0000-0000-0000-000000000000}"/>
          </ac:spMkLst>
        </pc:spChg>
        <pc:spChg chg="mod">
          <ac:chgData name="Nathan Aramovich" userId="c36f02d7-80de-405b-bc96-0c274f442be4" providerId="ADAL" clId="{B6F58CB4-AA79-48E1-A786-024DB5EFAD40}" dt="2026-07-08T18:28:05.244" v="108" actId="14100"/>
          <ac:spMkLst>
            <pc:docMk/>
            <pc:sldMk cId="0" sldId="260"/>
            <ac:spMk id="40" creationId="{00000000-0000-0000-0000-000000000000}"/>
          </ac:spMkLst>
        </pc:spChg>
        <pc:spChg chg="mod">
          <ac:chgData name="Nathan Aramovich" userId="c36f02d7-80de-405b-bc96-0c274f442be4" providerId="ADAL" clId="{B6F58CB4-AA79-48E1-A786-024DB5EFAD40}" dt="2026-07-08T18:26:39.272" v="66" actId="164"/>
          <ac:spMkLst>
            <pc:docMk/>
            <pc:sldMk cId="0" sldId="260"/>
            <ac:spMk id="41" creationId="{00000000-0000-0000-0000-000000000000}"/>
          </ac:spMkLst>
        </pc:spChg>
        <pc:spChg chg="mod">
          <ac:chgData name="Nathan Aramovich" userId="c36f02d7-80de-405b-bc96-0c274f442be4" providerId="ADAL" clId="{B6F58CB4-AA79-48E1-A786-024DB5EFAD40}" dt="2026-07-08T18:26:39.272" v="66" actId="164"/>
          <ac:spMkLst>
            <pc:docMk/>
            <pc:sldMk cId="0" sldId="260"/>
            <ac:spMk id="42" creationId="{00000000-0000-0000-0000-000000000000}"/>
          </ac:spMkLst>
        </pc:spChg>
        <pc:spChg chg="mod">
          <ac:chgData name="Nathan Aramovich" userId="c36f02d7-80de-405b-bc96-0c274f442be4" providerId="ADAL" clId="{B6F58CB4-AA79-48E1-A786-024DB5EFAD40}" dt="2026-07-08T18:26:39.272" v="66" actId="164"/>
          <ac:spMkLst>
            <pc:docMk/>
            <pc:sldMk cId="0" sldId="260"/>
            <ac:spMk id="43" creationId="{00000000-0000-0000-0000-000000000000}"/>
          </ac:spMkLst>
        </pc:spChg>
        <pc:spChg chg="mod">
          <ac:chgData name="Nathan Aramovich" userId="c36f02d7-80de-405b-bc96-0c274f442be4" providerId="ADAL" clId="{B6F58CB4-AA79-48E1-A786-024DB5EFAD40}" dt="2026-07-08T18:26:39.272" v="66" actId="164"/>
          <ac:spMkLst>
            <pc:docMk/>
            <pc:sldMk cId="0" sldId="260"/>
            <ac:spMk id="44" creationId="{00000000-0000-0000-0000-000000000000}"/>
          </ac:spMkLst>
        </pc:spChg>
        <pc:spChg chg="mod">
          <ac:chgData name="Nathan Aramovich" userId="c36f02d7-80de-405b-bc96-0c274f442be4" providerId="ADAL" clId="{B6F58CB4-AA79-48E1-A786-024DB5EFAD40}" dt="2026-07-08T18:26:39.272" v="66" actId="164"/>
          <ac:spMkLst>
            <pc:docMk/>
            <pc:sldMk cId="0" sldId="260"/>
            <ac:spMk id="45" creationId="{00000000-0000-0000-0000-000000000000}"/>
          </ac:spMkLst>
        </pc:spChg>
        <pc:spChg chg="mod">
          <ac:chgData name="Nathan Aramovich" userId="c36f02d7-80de-405b-bc96-0c274f442be4" providerId="ADAL" clId="{B6F58CB4-AA79-48E1-A786-024DB5EFAD40}" dt="2026-07-08T18:26:39.272" v="66" actId="164"/>
          <ac:spMkLst>
            <pc:docMk/>
            <pc:sldMk cId="0" sldId="260"/>
            <ac:spMk id="46" creationId="{00000000-0000-0000-0000-000000000000}"/>
          </ac:spMkLst>
        </pc:spChg>
        <pc:spChg chg="mod">
          <ac:chgData name="Nathan Aramovich" userId="c36f02d7-80de-405b-bc96-0c274f442be4" providerId="ADAL" clId="{B6F58CB4-AA79-48E1-A786-024DB5EFAD40}" dt="2026-07-08T18:26:39.272" v="66" actId="164"/>
          <ac:spMkLst>
            <pc:docMk/>
            <pc:sldMk cId="0" sldId="260"/>
            <ac:spMk id="47" creationId="{00000000-0000-0000-0000-000000000000}"/>
          </ac:spMkLst>
        </pc:spChg>
        <pc:spChg chg="mod">
          <ac:chgData name="Nathan Aramovich" userId="c36f02d7-80de-405b-bc96-0c274f442be4" providerId="ADAL" clId="{B6F58CB4-AA79-48E1-A786-024DB5EFAD40}" dt="2026-07-08T18:26:50.545" v="67" actId="164"/>
          <ac:spMkLst>
            <pc:docMk/>
            <pc:sldMk cId="0" sldId="260"/>
            <ac:spMk id="48" creationId="{00000000-0000-0000-0000-000000000000}"/>
          </ac:spMkLst>
        </pc:spChg>
        <pc:spChg chg="mod">
          <ac:chgData name="Nathan Aramovich" userId="c36f02d7-80de-405b-bc96-0c274f442be4" providerId="ADAL" clId="{B6F58CB4-AA79-48E1-A786-024DB5EFAD40}" dt="2026-07-08T18:26:50.545" v="67" actId="164"/>
          <ac:spMkLst>
            <pc:docMk/>
            <pc:sldMk cId="0" sldId="260"/>
            <ac:spMk id="49" creationId="{00000000-0000-0000-0000-000000000000}"/>
          </ac:spMkLst>
        </pc:spChg>
        <pc:spChg chg="mod">
          <ac:chgData name="Nathan Aramovich" userId="c36f02d7-80de-405b-bc96-0c274f442be4" providerId="ADAL" clId="{B6F58CB4-AA79-48E1-A786-024DB5EFAD40}" dt="2026-07-08T18:26:50.545" v="67" actId="164"/>
          <ac:spMkLst>
            <pc:docMk/>
            <pc:sldMk cId="0" sldId="260"/>
            <ac:spMk id="50" creationId="{00000000-0000-0000-0000-000000000000}"/>
          </ac:spMkLst>
        </pc:spChg>
        <pc:spChg chg="mod">
          <ac:chgData name="Nathan Aramovich" userId="c36f02d7-80de-405b-bc96-0c274f442be4" providerId="ADAL" clId="{B6F58CB4-AA79-48E1-A786-024DB5EFAD40}" dt="2026-07-08T18:26:50.545" v="67" actId="164"/>
          <ac:spMkLst>
            <pc:docMk/>
            <pc:sldMk cId="0" sldId="260"/>
            <ac:spMk id="51" creationId="{00000000-0000-0000-0000-000000000000}"/>
          </ac:spMkLst>
        </pc:spChg>
        <pc:spChg chg="mod">
          <ac:chgData name="Nathan Aramovich" userId="c36f02d7-80de-405b-bc96-0c274f442be4" providerId="ADAL" clId="{B6F58CB4-AA79-48E1-A786-024DB5EFAD40}" dt="2026-07-08T18:26:50.545" v="67" actId="164"/>
          <ac:spMkLst>
            <pc:docMk/>
            <pc:sldMk cId="0" sldId="260"/>
            <ac:spMk id="52" creationId="{00000000-0000-0000-0000-000000000000}"/>
          </ac:spMkLst>
        </pc:spChg>
        <pc:spChg chg="mod">
          <ac:chgData name="Nathan Aramovich" userId="c36f02d7-80de-405b-bc96-0c274f442be4" providerId="ADAL" clId="{B6F58CB4-AA79-48E1-A786-024DB5EFAD40}" dt="2026-07-08T18:26:50.545" v="67" actId="164"/>
          <ac:spMkLst>
            <pc:docMk/>
            <pc:sldMk cId="0" sldId="260"/>
            <ac:spMk id="53" creationId="{00000000-0000-0000-0000-000000000000}"/>
          </ac:spMkLst>
        </pc:spChg>
        <pc:spChg chg="mod">
          <ac:chgData name="Nathan Aramovich" userId="c36f02d7-80de-405b-bc96-0c274f442be4" providerId="ADAL" clId="{B6F58CB4-AA79-48E1-A786-024DB5EFAD40}" dt="2026-07-08T18:26:50.545" v="67" actId="164"/>
          <ac:spMkLst>
            <pc:docMk/>
            <pc:sldMk cId="0" sldId="260"/>
            <ac:spMk id="54" creationId="{00000000-0000-0000-0000-000000000000}"/>
          </ac:spMkLst>
        </pc:spChg>
        <pc:grpChg chg="add mod">
          <ac:chgData name="Nathan Aramovich" userId="c36f02d7-80de-405b-bc96-0c274f442be4" providerId="ADAL" clId="{B6F58CB4-AA79-48E1-A786-024DB5EFAD40}" dt="2026-07-08T18:27:04.844" v="99" actId="1036"/>
          <ac:grpSpMkLst>
            <pc:docMk/>
            <pc:sldMk cId="0" sldId="260"/>
            <ac:grpSpMk id="58" creationId="{E24F9813-8533-CFBA-AD51-8BE5B5B14617}"/>
          </ac:grpSpMkLst>
        </pc:grpChg>
        <pc:grpChg chg="add mod">
          <ac:chgData name="Nathan Aramovich" userId="c36f02d7-80de-405b-bc96-0c274f442be4" providerId="ADAL" clId="{B6F58CB4-AA79-48E1-A786-024DB5EFAD40}" dt="2026-07-08T18:27:04.844" v="99" actId="1036"/>
          <ac:grpSpMkLst>
            <pc:docMk/>
            <pc:sldMk cId="0" sldId="260"/>
            <ac:grpSpMk id="59" creationId="{7719564F-54EB-6FC1-94A6-ACDFDF4EB9B7}"/>
          </ac:grpSpMkLst>
        </pc:grpChg>
      </pc:sldChg>
      <pc:sldChg chg="del">
        <pc:chgData name="Nathan Aramovich" userId="c36f02d7-80de-405b-bc96-0c274f442be4" providerId="ADAL" clId="{B6F58CB4-AA79-48E1-A786-024DB5EFAD40}" dt="2026-07-08T18:24:23.755" v="0" actId="47"/>
        <pc:sldMkLst>
          <pc:docMk/>
          <pc:sldMk cId="1013054147"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7219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9" name="Shape 7"/>
          <p:cNvSpPr/>
          <p:nvPr/>
        </p:nvSpPr>
        <p:spPr>
          <a:xfrm>
            <a:off x="411480" y="1225296"/>
            <a:ext cx="5532120" cy="5193792"/>
          </a:xfrm>
          <a:prstGeom prst="roundRect">
            <a:avLst>
              <a:gd name="adj" fmla="val 1408"/>
            </a:avLst>
          </a:prstGeom>
          <a:solidFill>
            <a:srgbClr val="F8FBFD"/>
          </a:solidFill>
          <a:ln w="13970">
            <a:solidFill>
              <a:srgbClr val="063C7A"/>
            </a:solidFill>
            <a:prstDash val="solid"/>
          </a:ln>
        </p:spPr>
        <p:txBody>
          <a:bodyPr/>
          <a:lstStyle/>
          <a:p>
            <a:endParaRPr lang="en-US" sz="3200"/>
          </a:p>
        </p:txBody>
      </p:sp>
      <p:sp>
        <p:nvSpPr>
          <p:cNvPr id="2" name="Text 0"/>
          <p:cNvSpPr/>
          <p:nvPr/>
        </p:nvSpPr>
        <p:spPr>
          <a:xfrm>
            <a:off x="384048" y="228600"/>
            <a:ext cx="8138160" cy="411480"/>
          </a:xfrm>
          <a:prstGeom prst="rect">
            <a:avLst/>
          </a:prstGeom>
          <a:noFill/>
          <a:ln/>
        </p:spPr>
        <p:txBody>
          <a:bodyPr wrap="square" lIns="0" tIns="0" rIns="0" bIns="0" rtlCol="0" anchor="ctr"/>
          <a:lstStyle/>
          <a:p>
            <a:pPr marL="0" indent="0">
              <a:buNone/>
            </a:pPr>
            <a:r>
              <a:rPr lang="en-US" sz="2800" b="1" dirty="0">
                <a:solidFill>
                  <a:srgbClr val="061A44"/>
                </a:solidFill>
                <a:latin typeface="Aptos Display" pitchFamily="34" charset="0"/>
                <a:ea typeface="Aptos Display" pitchFamily="34" charset="-122"/>
                <a:cs typeface="Aptos Display" pitchFamily="34" charset="-120"/>
              </a:rPr>
              <a:t>Workflow Improvement Canvas</a:t>
            </a:r>
            <a:endParaRPr lang="en-US" sz="2800" dirty="0"/>
          </a:p>
        </p:txBody>
      </p:sp>
      <p:sp>
        <p:nvSpPr>
          <p:cNvPr id="3" name="Text 1"/>
          <p:cNvSpPr/>
          <p:nvPr/>
        </p:nvSpPr>
        <p:spPr>
          <a:xfrm>
            <a:off x="402336" y="704088"/>
            <a:ext cx="8138160" cy="228600"/>
          </a:xfrm>
          <a:prstGeom prst="rect">
            <a:avLst/>
          </a:prstGeom>
          <a:noFill/>
          <a:ln/>
        </p:spPr>
        <p:txBody>
          <a:bodyPr wrap="square" lIns="0" tIns="0" rIns="0" bIns="0" rtlCol="0" anchor="ctr"/>
          <a:lstStyle/>
          <a:p>
            <a:pPr marL="0" indent="0">
              <a:buNone/>
            </a:pPr>
            <a:r>
              <a:rPr lang="en-US" sz="1400" dirty="0">
                <a:solidFill>
                  <a:srgbClr val="00623B"/>
                </a:solidFill>
              </a:rPr>
              <a:t>Improve one repeatable workflow. Leave with something you will use next week.</a:t>
            </a:r>
            <a:endParaRPr lang="en-US" sz="1400" dirty="0"/>
          </a:p>
        </p:txBody>
      </p:sp>
      <p:sp>
        <p:nvSpPr>
          <p:cNvPr id="4" name="Shape 2"/>
          <p:cNvSpPr/>
          <p:nvPr/>
        </p:nvSpPr>
        <p:spPr>
          <a:xfrm>
            <a:off x="402336" y="987552"/>
            <a:ext cx="640080" cy="36576"/>
          </a:xfrm>
          <a:prstGeom prst="rect">
            <a:avLst/>
          </a:prstGeom>
          <a:solidFill>
            <a:srgbClr val="00623B"/>
          </a:solidFill>
          <a:ln w="12700">
            <a:solidFill>
              <a:srgbClr val="00623B"/>
            </a:solidFill>
            <a:prstDash val="solid"/>
          </a:ln>
        </p:spPr>
        <p:txBody>
          <a:bodyPr/>
          <a:lstStyle/>
          <a:p>
            <a:endParaRPr lang="en-US"/>
          </a:p>
        </p:txBody>
      </p:sp>
      <p:sp>
        <p:nvSpPr>
          <p:cNvPr id="10" name="Shape 8"/>
          <p:cNvSpPr/>
          <p:nvPr/>
        </p:nvSpPr>
        <p:spPr>
          <a:xfrm>
            <a:off x="612648" y="1417320"/>
            <a:ext cx="5120640" cy="438912"/>
          </a:xfrm>
          <a:prstGeom prst="roundRect">
            <a:avLst>
              <a:gd name="adj" fmla="val 16667"/>
            </a:avLst>
          </a:prstGeom>
          <a:solidFill>
            <a:srgbClr val="EFF6FC"/>
          </a:solidFill>
          <a:ln w="15240">
            <a:solidFill>
              <a:srgbClr val="063C7A"/>
            </a:solidFill>
            <a:prstDash val="solid"/>
          </a:ln>
        </p:spPr>
        <p:txBody>
          <a:bodyPr/>
          <a:lstStyle/>
          <a:p>
            <a:endParaRPr lang="en-US"/>
          </a:p>
        </p:txBody>
      </p:sp>
      <p:sp>
        <p:nvSpPr>
          <p:cNvPr id="11" name="Shape 9"/>
          <p:cNvSpPr/>
          <p:nvPr/>
        </p:nvSpPr>
        <p:spPr>
          <a:xfrm>
            <a:off x="722376" y="1508760"/>
            <a:ext cx="256032" cy="256032"/>
          </a:xfrm>
          <a:prstGeom prst="ellipse">
            <a:avLst/>
          </a:prstGeom>
          <a:solidFill>
            <a:srgbClr val="063C7A"/>
          </a:solidFill>
          <a:ln w="12700">
            <a:solidFill>
              <a:srgbClr val="063C7A"/>
            </a:solidFill>
            <a:prstDash val="solid"/>
          </a:ln>
        </p:spPr>
        <p:txBody>
          <a:bodyPr/>
          <a:lstStyle/>
          <a:p>
            <a:endParaRPr lang="en-US"/>
          </a:p>
        </p:txBody>
      </p:sp>
      <p:sp>
        <p:nvSpPr>
          <p:cNvPr id="12" name="Text 10"/>
          <p:cNvSpPr/>
          <p:nvPr/>
        </p:nvSpPr>
        <p:spPr>
          <a:xfrm>
            <a:off x="722376" y="1545336"/>
            <a:ext cx="256032" cy="118872"/>
          </a:xfrm>
          <a:prstGeom prst="rect">
            <a:avLst/>
          </a:prstGeom>
          <a:noFill/>
          <a:ln/>
        </p:spPr>
        <p:txBody>
          <a:bodyPr wrap="square" lIns="0" tIns="0" rIns="0" bIns="0" rtlCol="0" anchor="ctr"/>
          <a:lstStyle/>
          <a:p>
            <a:pPr marL="0" indent="0" algn="ctr">
              <a:buNone/>
            </a:pPr>
            <a:r>
              <a:rPr lang="en-US" sz="850" b="1" dirty="0">
                <a:solidFill>
                  <a:srgbClr val="FFFFFF"/>
                </a:solidFill>
              </a:rPr>
              <a:t>1</a:t>
            </a:r>
            <a:endParaRPr lang="en-US" sz="850" dirty="0"/>
          </a:p>
        </p:txBody>
      </p:sp>
      <p:sp>
        <p:nvSpPr>
          <p:cNvPr id="13" name="Text 11"/>
          <p:cNvSpPr/>
          <p:nvPr/>
        </p:nvSpPr>
        <p:spPr>
          <a:xfrm>
            <a:off x="1051560" y="1527048"/>
            <a:ext cx="4572000" cy="182880"/>
          </a:xfrm>
          <a:prstGeom prst="rect">
            <a:avLst/>
          </a:prstGeom>
          <a:noFill/>
          <a:ln/>
        </p:spPr>
        <p:txBody>
          <a:bodyPr wrap="square" lIns="0" tIns="0" rIns="0" bIns="0" rtlCol="0" anchor="ctr"/>
          <a:lstStyle/>
          <a:p>
            <a:pPr marL="0" indent="0">
              <a:buNone/>
            </a:pPr>
            <a:r>
              <a:rPr lang="en-US" sz="1150" b="1" dirty="0">
                <a:solidFill>
                  <a:srgbClr val="063C7A"/>
                </a:solidFill>
              </a:rPr>
              <a:t>UNDERSTAND THE WORK</a:t>
            </a:r>
            <a:endParaRPr lang="en-US" sz="1150" dirty="0"/>
          </a:p>
        </p:txBody>
      </p:sp>
      <p:sp>
        <p:nvSpPr>
          <p:cNvPr id="14" name="Text 12"/>
          <p:cNvSpPr/>
          <p:nvPr/>
        </p:nvSpPr>
        <p:spPr>
          <a:xfrm>
            <a:off x="685799" y="1938528"/>
            <a:ext cx="1965960" cy="146304"/>
          </a:xfrm>
          <a:prstGeom prst="rect">
            <a:avLst/>
          </a:prstGeom>
          <a:noFill/>
          <a:ln/>
        </p:spPr>
        <p:txBody>
          <a:bodyPr wrap="square" lIns="0" tIns="0" rIns="0" bIns="0" rtlCol="0" anchor="ctr"/>
          <a:lstStyle/>
          <a:p>
            <a:pPr marL="0" indent="0">
              <a:buNone/>
            </a:pPr>
            <a:r>
              <a:rPr lang="en-US" sz="1000" b="1" dirty="0">
                <a:solidFill>
                  <a:srgbClr val="063C7A"/>
                </a:solidFill>
              </a:rPr>
              <a:t>Why it matters</a:t>
            </a:r>
            <a:endParaRPr lang="en-US" sz="1000" dirty="0"/>
          </a:p>
        </p:txBody>
      </p:sp>
      <p:sp>
        <p:nvSpPr>
          <p:cNvPr id="15" name="Text 13"/>
          <p:cNvSpPr/>
          <p:nvPr/>
        </p:nvSpPr>
        <p:spPr>
          <a:xfrm>
            <a:off x="685800" y="2103120"/>
            <a:ext cx="1965960" cy="301752"/>
          </a:xfrm>
          <a:prstGeom prst="rect">
            <a:avLst/>
          </a:prstGeom>
          <a:noFill/>
          <a:ln/>
        </p:spPr>
        <p:txBody>
          <a:bodyPr wrap="square" lIns="0" tIns="0" rIns="0" bIns="0" rtlCol="0" anchor="ctr">
            <a:noAutofit/>
          </a:bodyPr>
          <a:lstStyle/>
          <a:p>
            <a:pPr marL="0" indent="0">
              <a:buNone/>
            </a:pPr>
            <a:r>
              <a:rPr lang="en-US" sz="1000" dirty="0">
                <a:solidFill>
                  <a:srgbClr val="111827"/>
                </a:solidFill>
              </a:rPr>
              <a:t>The better you understand the work, the easier it is to improve it.</a:t>
            </a:r>
            <a:endParaRPr lang="en-US" sz="1000" dirty="0"/>
          </a:p>
        </p:txBody>
      </p:sp>
      <p:sp>
        <p:nvSpPr>
          <p:cNvPr id="16" name="Text 14"/>
          <p:cNvSpPr/>
          <p:nvPr/>
        </p:nvSpPr>
        <p:spPr>
          <a:xfrm>
            <a:off x="685799" y="2459736"/>
            <a:ext cx="1965960" cy="146304"/>
          </a:xfrm>
          <a:prstGeom prst="rect">
            <a:avLst/>
          </a:prstGeom>
          <a:noFill/>
          <a:ln/>
        </p:spPr>
        <p:txBody>
          <a:bodyPr wrap="square" lIns="0" tIns="0" rIns="0" bIns="0" rtlCol="0" anchor="ctr"/>
          <a:lstStyle/>
          <a:p>
            <a:pPr marL="0" indent="0">
              <a:buNone/>
            </a:pPr>
            <a:r>
              <a:rPr lang="en-US" sz="1000" b="1" dirty="0">
                <a:solidFill>
                  <a:srgbClr val="063C7A"/>
                </a:solidFill>
              </a:rPr>
              <a:t>What to do</a:t>
            </a:r>
            <a:endParaRPr lang="en-US" sz="1000" dirty="0"/>
          </a:p>
        </p:txBody>
      </p:sp>
      <p:sp>
        <p:nvSpPr>
          <p:cNvPr id="17" name="Text 15"/>
          <p:cNvSpPr/>
          <p:nvPr/>
        </p:nvSpPr>
        <p:spPr>
          <a:xfrm>
            <a:off x="694944" y="2615184"/>
            <a:ext cx="1965960" cy="530352"/>
          </a:xfrm>
          <a:prstGeom prst="rect">
            <a:avLst/>
          </a:prstGeom>
          <a:noFill/>
          <a:ln/>
        </p:spPr>
        <p:txBody>
          <a:bodyPr wrap="square" lIns="0" tIns="0" rIns="0" bIns="0" rtlCol="0" anchor="ctr">
            <a:normAutofit/>
          </a:bodyPr>
          <a:lstStyle/>
          <a:p>
            <a:pPr marL="0" indent="0">
              <a:buNone/>
            </a:pPr>
            <a:r>
              <a:rPr lang="en-US" sz="1000" dirty="0">
                <a:solidFill>
                  <a:srgbClr val="111827"/>
                </a:solidFill>
              </a:rPr>
              <a:t>• Choose one repeatable workflow.</a:t>
            </a:r>
            <a:endParaRPr lang="en-US" sz="1000" dirty="0"/>
          </a:p>
          <a:p>
            <a:pPr marL="0" indent="0">
              <a:buNone/>
            </a:pPr>
            <a:r>
              <a:rPr lang="en-US" sz="1000" dirty="0">
                <a:solidFill>
                  <a:srgbClr val="111827"/>
                </a:solidFill>
              </a:rPr>
              <a:t>• Map the major steps.</a:t>
            </a:r>
            <a:endParaRPr lang="en-US" sz="1000" dirty="0"/>
          </a:p>
          <a:p>
            <a:pPr marL="0" indent="0">
              <a:buNone/>
            </a:pPr>
            <a:r>
              <a:rPr lang="en-US" sz="1000" dirty="0">
                <a:solidFill>
                  <a:srgbClr val="111827"/>
                </a:solidFill>
              </a:rPr>
              <a:t>• Find where it slows down.</a:t>
            </a:r>
            <a:endParaRPr lang="en-US" sz="1000" dirty="0"/>
          </a:p>
        </p:txBody>
      </p:sp>
      <p:sp>
        <p:nvSpPr>
          <p:cNvPr id="18" name="Text 16"/>
          <p:cNvSpPr/>
          <p:nvPr/>
        </p:nvSpPr>
        <p:spPr>
          <a:xfrm>
            <a:off x="685799" y="3230328"/>
            <a:ext cx="2057400" cy="109728"/>
          </a:xfrm>
          <a:prstGeom prst="rect">
            <a:avLst/>
          </a:prstGeom>
          <a:noFill/>
          <a:ln/>
        </p:spPr>
        <p:txBody>
          <a:bodyPr wrap="square" lIns="0" tIns="0" rIns="0" bIns="0" rtlCol="0" anchor="ctr"/>
          <a:lstStyle/>
          <a:p>
            <a:pPr marL="0" indent="0">
              <a:buNone/>
            </a:pPr>
            <a:r>
              <a:rPr lang="en-US" sz="1000" b="1" dirty="0">
                <a:solidFill>
                  <a:srgbClr val="063C7A"/>
                </a:solidFill>
              </a:rPr>
              <a:t>What work am I trying to improve?</a:t>
            </a:r>
            <a:endParaRPr lang="en-US" sz="1000" dirty="0"/>
          </a:p>
        </p:txBody>
      </p:sp>
      <p:sp>
        <p:nvSpPr>
          <p:cNvPr id="19" name="Shape 17"/>
          <p:cNvSpPr/>
          <p:nvPr/>
        </p:nvSpPr>
        <p:spPr>
          <a:xfrm>
            <a:off x="685800" y="3392425"/>
            <a:ext cx="2057400" cy="571919"/>
          </a:xfrm>
          <a:prstGeom prst="roundRect">
            <a:avLst>
              <a:gd name="adj" fmla="val 6944"/>
            </a:avLst>
          </a:prstGeom>
          <a:solidFill>
            <a:srgbClr val="FFFFFF"/>
          </a:solidFill>
          <a:ln w="10160">
            <a:solidFill>
              <a:srgbClr val="063C7A">
                <a:alpha val="85000"/>
              </a:srgbClr>
            </a:solidFill>
            <a:prstDash val="solid"/>
          </a:ln>
        </p:spPr>
        <p:txBody>
          <a:bodyPr/>
          <a:lstStyle/>
          <a:p>
            <a:endParaRPr lang="en-US" sz="1000" i="1" dirty="0"/>
          </a:p>
          <a:p>
            <a:endParaRPr lang="en-US" sz="1000" i="1" dirty="0"/>
          </a:p>
          <a:p>
            <a:endParaRPr lang="en-US" sz="1000" i="1" dirty="0"/>
          </a:p>
          <a:p>
            <a:endParaRPr lang="en-US" sz="1000" i="1" dirty="0"/>
          </a:p>
        </p:txBody>
      </p:sp>
      <p:sp>
        <p:nvSpPr>
          <p:cNvPr id="20" name="Text 18"/>
          <p:cNvSpPr/>
          <p:nvPr/>
        </p:nvSpPr>
        <p:spPr>
          <a:xfrm>
            <a:off x="685799" y="4882067"/>
            <a:ext cx="1965959" cy="132588"/>
          </a:xfrm>
          <a:prstGeom prst="rect">
            <a:avLst/>
          </a:prstGeom>
          <a:noFill/>
          <a:ln/>
        </p:spPr>
        <p:txBody>
          <a:bodyPr wrap="square" lIns="0" tIns="0" rIns="0" bIns="0" rtlCol="0" anchor="ctr"/>
          <a:lstStyle/>
          <a:p>
            <a:pPr marL="0" indent="0">
              <a:buNone/>
            </a:pPr>
            <a:r>
              <a:rPr lang="en-US" sz="1000" b="1" dirty="0">
                <a:solidFill>
                  <a:srgbClr val="063C7A"/>
                </a:solidFill>
              </a:rPr>
              <a:t>How often does this happen?</a:t>
            </a:r>
            <a:endParaRPr lang="en-US" sz="1000" dirty="0"/>
          </a:p>
        </p:txBody>
      </p:sp>
      <p:sp>
        <p:nvSpPr>
          <p:cNvPr id="22" name="Text 20"/>
          <p:cNvSpPr/>
          <p:nvPr/>
        </p:nvSpPr>
        <p:spPr>
          <a:xfrm>
            <a:off x="722376" y="5017564"/>
            <a:ext cx="1417320" cy="658368"/>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dirty="0">
                <a:solidFill>
                  <a:srgbClr val="111827"/>
                </a:solidFill>
              </a:rPr>
              <a:t>Weekly</a:t>
            </a:r>
          </a:p>
          <a:p>
            <a:pPr marL="171450" indent="-171450">
              <a:buFont typeface="Arial" panose="020B0604020202020204" pitchFamily="34" charset="0"/>
              <a:buChar char="•"/>
            </a:pPr>
            <a:r>
              <a:rPr lang="en-US" sz="1000" dirty="0">
                <a:solidFill>
                  <a:srgbClr val="111827"/>
                </a:solidFill>
              </a:rPr>
              <a:t>Monthly</a:t>
            </a:r>
          </a:p>
          <a:p>
            <a:pPr marL="171450" indent="-171450">
              <a:buFont typeface="Arial" panose="020B0604020202020204" pitchFamily="34" charset="0"/>
              <a:buChar char="•"/>
            </a:pPr>
            <a:r>
              <a:rPr lang="en-US" sz="1000" dirty="0">
                <a:solidFill>
                  <a:srgbClr val="111827"/>
                </a:solidFill>
              </a:rPr>
              <a:t>Quarterly</a:t>
            </a:r>
          </a:p>
          <a:p>
            <a:pPr marL="171450" indent="-171450">
              <a:buFont typeface="Arial" panose="020B0604020202020204" pitchFamily="34" charset="0"/>
              <a:buChar char="•"/>
            </a:pPr>
            <a:r>
              <a:rPr lang="en-US" sz="1000" dirty="0">
                <a:solidFill>
                  <a:srgbClr val="111827"/>
                </a:solidFill>
              </a:rPr>
              <a:t>Other</a:t>
            </a:r>
            <a:endParaRPr lang="en-US" sz="1000" dirty="0"/>
          </a:p>
        </p:txBody>
      </p:sp>
      <p:sp>
        <p:nvSpPr>
          <p:cNvPr id="29" name="Text 27"/>
          <p:cNvSpPr/>
          <p:nvPr/>
        </p:nvSpPr>
        <p:spPr>
          <a:xfrm>
            <a:off x="3044952" y="1938528"/>
            <a:ext cx="2194560" cy="109728"/>
          </a:xfrm>
          <a:prstGeom prst="rect">
            <a:avLst/>
          </a:prstGeom>
          <a:noFill/>
          <a:ln/>
        </p:spPr>
        <p:txBody>
          <a:bodyPr wrap="square" lIns="0" tIns="0" rIns="0" bIns="0" rtlCol="0" anchor="ctr"/>
          <a:lstStyle/>
          <a:p>
            <a:pPr marL="0" indent="0">
              <a:buNone/>
            </a:pPr>
            <a:r>
              <a:rPr lang="en-US" sz="1000" b="1" dirty="0">
                <a:solidFill>
                  <a:srgbClr val="063C7A"/>
                </a:solidFill>
              </a:rPr>
              <a:t>My current workflow (high level)</a:t>
            </a:r>
            <a:endParaRPr lang="en-US" sz="1000" dirty="0"/>
          </a:p>
        </p:txBody>
      </p:sp>
      <p:sp>
        <p:nvSpPr>
          <p:cNvPr id="30" name="Text 28"/>
          <p:cNvSpPr/>
          <p:nvPr/>
        </p:nvSpPr>
        <p:spPr>
          <a:xfrm>
            <a:off x="3044952" y="2125980"/>
            <a:ext cx="2843784" cy="1828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dirty="0">
                <a:solidFill>
                  <a:srgbClr val="111827"/>
                </a:solidFill>
              </a:rPr>
              <a:t>List the major steps.</a:t>
            </a:r>
          </a:p>
          <a:p>
            <a:pPr marL="171450" indent="-171450">
              <a:buFont typeface="Arial" panose="020B0604020202020204" pitchFamily="34" charset="0"/>
              <a:buChar char="•"/>
            </a:pPr>
            <a:r>
              <a:rPr lang="en-US" sz="1000" dirty="0">
                <a:solidFill>
                  <a:srgbClr val="111827"/>
                </a:solidFill>
              </a:rPr>
              <a:t>Do not worry about every detail.</a:t>
            </a:r>
          </a:p>
        </p:txBody>
      </p:sp>
      <p:sp>
        <p:nvSpPr>
          <p:cNvPr id="31" name="Text 29"/>
          <p:cNvSpPr/>
          <p:nvPr/>
        </p:nvSpPr>
        <p:spPr>
          <a:xfrm>
            <a:off x="3072384" y="2487168"/>
            <a:ext cx="384048" cy="164592"/>
          </a:xfrm>
          <a:prstGeom prst="rect">
            <a:avLst/>
          </a:prstGeom>
          <a:noFill/>
          <a:ln/>
        </p:spPr>
        <p:txBody>
          <a:bodyPr wrap="square" lIns="0" tIns="0" rIns="0" bIns="0" rtlCol="0" anchor="ctr"/>
          <a:lstStyle/>
          <a:p>
            <a:pPr marL="0" indent="0" algn="ctr">
              <a:buNone/>
            </a:pPr>
            <a:r>
              <a:rPr lang="en-US" sz="630" b="1" dirty="0">
                <a:solidFill>
                  <a:srgbClr val="063C7A"/>
                </a:solidFill>
              </a:rPr>
              <a:t>START</a:t>
            </a:r>
            <a:endParaRPr lang="en-US" sz="630" dirty="0"/>
          </a:p>
        </p:txBody>
      </p:sp>
      <p:sp>
        <p:nvSpPr>
          <p:cNvPr id="33" name="Shape 31"/>
          <p:cNvSpPr/>
          <p:nvPr/>
        </p:nvSpPr>
        <p:spPr>
          <a:xfrm>
            <a:off x="3227832" y="2633472"/>
            <a:ext cx="73152" cy="118872"/>
          </a:xfrm>
          <a:prstGeom prst="downArrow">
            <a:avLst/>
          </a:prstGeom>
          <a:solidFill>
            <a:srgbClr val="6B7280"/>
          </a:solidFill>
          <a:ln w="12700">
            <a:solidFill>
              <a:srgbClr val="6B7280"/>
            </a:solidFill>
            <a:prstDash val="solid"/>
          </a:ln>
        </p:spPr>
        <p:txBody>
          <a:bodyPr/>
          <a:lstStyle/>
          <a:p>
            <a:endParaRPr lang="en-US"/>
          </a:p>
        </p:txBody>
      </p:sp>
      <p:sp>
        <p:nvSpPr>
          <p:cNvPr id="34" name="Shape 32"/>
          <p:cNvSpPr/>
          <p:nvPr/>
        </p:nvSpPr>
        <p:spPr>
          <a:xfrm>
            <a:off x="2922524" y="2798064"/>
            <a:ext cx="1527048" cy="324612"/>
          </a:xfrm>
          <a:prstGeom prst="roundRect">
            <a:avLst>
              <a:gd name="adj" fmla="val 18182"/>
            </a:avLst>
          </a:prstGeom>
          <a:solidFill>
            <a:srgbClr val="FFFFFF"/>
          </a:solidFill>
          <a:ln w="12700">
            <a:solidFill>
              <a:srgbClr val="063C7A">
                <a:alpha val="65000"/>
              </a:srgbClr>
            </a:solidFill>
            <a:prstDash val="solid"/>
          </a:ln>
        </p:spPr>
        <p:txBody>
          <a:bodyPr tIns="0" bIns="0"/>
          <a:lstStyle/>
          <a:p>
            <a:endParaRPr lang="en-US" sz="900" dirty="0"/>
          </a:p>
        </p:txBody>
      </p:sp>
      <p:sp>
        <p:nvSpPr>
          <p:cNvPr id="35" name="Shape 33"/>
          <p:cNvSpPr/>
          <p:nvPr/>
        </p:nvSpPr>
        <p:spPr>
          <a:xfrm>
            <a:off x="3227832" y="3176270"/>
            <a:ext cx="73152" cy="118872"/>
          </a:xfrm>
          <a:prstGeom prst="downArrow">
            <a:avLst/>
          </a:prstGeom>
          <a:solidFill>
            <a:srgbClr val="6B7280"/>
          </a:solidFill>
          <a:ln w="12700">
            <a:solidFill>
              <a:srgbClr val="6B7280"/>
            </a:solidFill>
            <a:prstDash val="solid"/>
          </a:ln>
        </p:spPr>
        <p:txBody>
          <a:bodyPr/>
          <a:lstStyle/>
          <a:p>
            <a:endParaRPr lang="en-US"/>
          </a:p>
        </p:txBody>
      </p:sp>
      <p:sp>
        <p:nvSpPr>
          <p:cNvPr id="37" name="Shape 35"/>
          <p:cNvSpPr/>
          <p:nvPr/>
        </p:nvSpPr>
        <p:spPr>
          <a:xfrm>
            <a:off x="3227832" y="3738118"/>
            <a:ext cx="73152" cy="118872"/>
          </a:xfrm>
          <a:prstGeom prst="downArrow">
            <a:avLst/>
          </a:prstGeom>
          <a:solidFill>
            <a:srgbClr val="6B7280"/>
          </a:solidFill>
          <a:ln w="12700">
            <a:solidFill>
              <a:srgbClr val="6B7280"/>
            </a:solidFill>
            <a:prstDash val="solid"/>
          </a:ln>
        </p:spPr>
        <p:txBody>
          <a:bodyPr/>
          <a:lstStyle/>
          <a:p>
            <a:endParaRPr lang="en-US"/>
          </a:p>
        </p:txBody>
      </p:sp>
      <p:sp>
        <p:nvSpPr>
          <p:cNvPr id="39" name="Shape 37"/>
          <p:cNvSpPr/>
          <p:nvPr/>
        </p:nvSpPr>
        <p:spPr>
          <a:xfrm>
            <a:off x="3227832" y="4293616"/>
            <a:ext cx="73152" cy="118872"/>
          </a:xfrm>
          <a:prstGeom prst="downArrow">
            <a:avLst/>
          </a:prstGeom>
          <a:solidFill>
            <a:srgbClr val="6B7280"/>
          </a:solidFill>
          <a:ln w="12700">
            <a:solidFill>
              <a:srgbClr val="6B7280"/>
            </a:solidFill>
            <a:prstDash val="solid"/>
          </a:ln>
        </p:spPr>
        <p:txBody>
          <a:bodyPr/>
          <a:lstStyle/>
          <a:p>
            <a:endParaRPr lang="en-US"/>
          </a:p>
        </p:txBody>
      </p:sp>
      <p:sp>
        <p:nvSpPr>
          <p:cNvPr id="41" name="Shape 39"/>
          <p:cNvSpPr/>
          <p:nvPr/>
        </p:nvSpPr>
        <p:spPr>
          <a:xfrm>
            <a:off x="3227832" y="5375702"/>
            <a:ext cx="73152" cy="118872"/>
          </a:xfrm>
          <a:prstGeom prst="downArrow">
            <a:avLst/>
          </a:prstGeom>
          <a:solidFill>
            <a:srgbClr val="6B7280"/>
          </a:solidFill>
          <a:ln w="12700">
            <a:solidFill>
              <a:srgbClr val="6B7280"/>
            </a:solidFill>
            <a:prstDash val="solid"/>
          </a:ln>
        </p:spPr>
        <p:txBody>
          <a:bodyPr/>
          <a:lstStyle/>
          <a:p>
            <a:endParaRPr lang="en-US"/>
          </a:p>
        </p:txBody>
      </p:sp>
      <p:sp>
        <p:nvSpPr>
          <p:cNvPr id="43" name="Text 41"/>
          <p:cNvSpPr/>
          <p:nvPr/>
        </p:nvSpPr>
        <p:spPr>
          <a:xfrm>
            <a:off x="3072384" y="5554264"/>
            <a:ext cx="384048" cy="109728"/>
          </a:xfrm>
          <a:prstGeom prst="rect">
            <a:avLst/>
          </a:prstGeom>
          <a:noFill/>
          <a:ln/>
        </p:spPr>
        <p:txBody>
          <a:bodyPr wrap="square" lIns="0" tIns="0" rIns="0" bIns="0" rtlCol="0" anchor="ctr"/>
          <a:lstStyle/>
          <a:p>
            <a:pPr marL="0" indent="0" algn="ctr">
              <a:buNone/>
            </a:pPr>
            <a:r>
              <a:rPr lang="en-US" sz="630" b="1" dirty="0">
                <a:solidFill>
                  <a:srgbClr val="063C7A"/>
                </a:solidFill>
              </a:rPr>
              <a:t>END</a:t>
            </a:r>
            <a:endParaRPr lang="en-US" sz="630" dirty="0"/>
          </a:p>
        </p:txBody>
      </p:sp>
      <p:sp>
        <p:nvSpPr>
          <p:cNvPr id="44" name="Text 42"/>
          <p:cNvSpPr/>
          <p:nvPr/>
        </p:nvSpPr>
        <p:spPr>
          <a:xfrm>
            <a:off x="4617720" y="2505964"/>
            <a:ext cx="1005840" cy="109728"/>
          </a:xfrm>
          <a:prstGeom prst="rect">
            <a:avLst/>
          </a:prstGeom>
          <a:noFill/>
          <a:ln/>
        </p:spPr>
        <p:txBody>
          <a:bodyPr wrap="square" lIns="0" tIns="0" rIns="0" bIns="0" rtlCol="0" anchor="ctr"/>
          <a:lstStyle/>
          <a:p>
            <a:pPr marL="0" indent="0">
              <a:buNone/>
            </a:pPr>
            <a:r>
              <a:rPr lang="en-US" sz="1000" b="1" dirty="0">
                <a:solidFill>
                  <a:srgbClr val="063C7A"/>
                </a:solidFill>
              </a:rPr>
              <a:t>Biggest friction</a:t>
            </a:r>
            <a:endParaRPr lang="en-US" sz="1000" dirty="0"/>
          </a:p>
        </p:txBody>
      </p:sp>
      <p:sp>
        <p:nvSpPr>
          <p:cNvPr id="45" name="Shape 43"/>
          <p:cNvSpPr/>
          <p:nvPr/>
        </p:nvSpPr>
        <p:spPr>
          <a:xfrm>
            <a:off x="4617720" y="2652268"/>
            <a:ext cx="1152144" cy="2907284"/>
          </a:xfrm>
          <a:prstGeom prst="roundRect">
            <a:avLst>
              <a:gd name="adj" fmla="val 5435"/>
            </a:avLst>
          </a:prstGeom>
          <a:solidFill>
            <a:srgbClr val="FFFFFF"/>
          </a:solidFill>
          <a:ln w="10160">
            <a:solidFill>
              <a:srgbClr val="063C7A">
                <a:alpha val="85000"/>
              </a:srgbClr>
            </a:solidFill>
            <a:prstDash val="solid"/>
          </a:ln>
        </p:spPr>
        <p:txBody>
          <a:bodyPr/>
          <a:lstStyle/>
          <a:p>
            <a:endParaRPr lang="en-US"/>
          </a:p>
        </p:txBody>
      </p:sp>
      <p:sp>
        <p:nvSpPr>
          <p:cNvPr id="46" name="Text 44"/>
          <p:cNvSpPr/>
          <p:nvPr/>
        </p:nvSpPr>
        <p:spPr>
          <a:xfrm>
            <a:off x="4665472" y="2684086"/>
            <a:ext cx="1093216" cy="2870178"/>
          </a:xfrm>
          <a:prstGeom prst="rect">
            <a:avLst/>
          </a:prstGeom>
          <a:noFill/>
          <a:ln/>
        </p:spPr>
        <p:txBody>
          <a:bodyPr wrap="square" lIns="0" tIns="0" rIns="0" bIns="0" rtlCol="0" anchor="t" anchorCtr="0">
            <a:normAutofit/>
          </a:bodyPr>
          <a:lstStyle/>
          <a:p>
            <a:pPr marL="0" indent="0">
              <a:buNone/>
            </a:pPr>
            <a:r>
              <a:rPr lang="en-US" sz="800" i="1" dirty="0">
                <a:solidFill>
                  <a:srgbClr val="111827"/>
                </a:solidFill>
              </a:rPr>
              <a:t>Where does this workflow take longer than it should?</a:t>
            </a:r>
            <a:endParaRPr lang="en-US" sz="800" i="1" dirty="0"/>
          </a:p>
        </p:txBody>
      </p:sp>
      <p:sp>
        <p:nvSpPr>
          <p:cNvPr id="47" name="Shape 45"/>
          <p:cNvSpPr/>
          <p:nvPr/>
        </p:nvSpPr>
        <p:spPr>
          <a:xfrm>
            <a:off x="685800" y="5724144"/>
            <a:ext cx="4937760" cy="438912"/>
          </a:xfrm>
          <a:prstGeom prst="roundRect">
            <a:avLst>
              <a:gd name="adj" fmla="val 12500"/>
            </a:avLst>
          </a:prstGeom>
          <a:solidFill>
            <a:srgbClr val="EFF6FC"/>
          </a:solidFill>
          <a:ln w="12700">
            <a:solidFill>
              <a:srgbClr val="063C7A">
                <a:alpha val="80000"/>
              </a:srgbClr>
            </a:solidFill>
            <a:prstDash val="solid"/>
          </a:ln>
        </p:spPr>
        <p:txBody>
          <a:bodyPr/>
          <a:lstStyle/>
          <a:p>
            <a:endParaRPr lang="en-US"/>
          </a:p>
        </p:txBody>
      </p:sp>
      <p:sp>
        <p:nvSpPr>
          <p:cNvPr id="48" name="Text 46"/>
          <p:cNvSpPr/>
          <p:nvPr/>
        </p:nvSpPr>
        <p:spPr>
          <a:xfrm>
            <a:off x="758952" y="5824728"/>
            <a:ext cx="320040" cy="109728"/>
          </a:xfrm>
          <a:prstGeom prst="rect">
            <a:avLst/>
          </a:prstGeom>
          <a:noFill/>
          <a:ln/>
        </p:spPr>
        <p:txBody>
          <a:bodyPr wrap="square" lIns="0" tIns="0" rIns="0" bIns="0" rtlCol="0" anchor="ctr"/>
          <a:lstStyle/>
          <a:p>
            <a:pPr marL="0" indent="0">
              <a:buNone/>
            </a:pPr>
            <a:r>
              <a:rPr lang="en-US" sz="1000" b="1" dirty="0">
                <a:solidFill>
                  <a:srgbClr val="063C7A"/>
                </a:solidFill>
              </a:rPr>
              <a:t>TIP</a:t>
            </a:r>
            <a:endParaRPr lang="en-US" sz="1000" dirty="0"/>
          </a:p>
        </p:txBody>
      </p:sp>
      <p:sp>
        <p:nvSpPr>
          <p:cNvPr id="49" name="Text 47"/>
          <p:cNvSpPr/>
          <p:nvPr/>
        </p:nvSpPr>
        <p:spPr>
          <a:xfrm>
            <a:off x="1097280" y="5797296"/>
            <a:ext cx="4434840" cy="274320"/>
          </a:xfrm>
          <a:prstGeom prst="rect">
            <a:avLst/>
          </a:prstGeom>
          <a:noFill/>
          <a:ln/>
        </p:spPr>
        <p:txBody>
          <a:bodyPr wrap="square" lIns="0" tIns="0" rIns="0" bIns="0" rtlCol="0" anchor="ctr">
            <a:noAutofit/>
          </a:bodyPr>
          <a:lstStyle/>
          <a:p>
            <a:pPr marL="0" indent="0">
              <a:buNone/>
            </a:pPr>
            <a:r>
              <a:rPr lang="en-US" sz="1000" dirty="0">
                <a:solidFill>
                  <a:srgbClr val="111827"/>
                </a:solidFill>
              </a:rPr>
              <a:t>Don’t choose the biggest workflow. Choose one you will actually use again soon.</a:t>
            </a:r>
            <a:endParaRPr lang="en-US" sz="1000" dirty="0"/>
          </a:p>
        </p:txBody>
      </p:sp>
      <p:sp>
        <p:nvSpPr>
          <p:cNvPr id="50" name="Shape 48"/>
          <p:cNvSpPr/>
          <p:nvPr/>
        </p:nvSpPr>
        <p:spPr>
          <a:xfrm>
            <a:off x="6263640" y="1225296"/>
            <a:ext cx="5532120" cy="5193792"/>
          </a:xfrm>
          <a:prstGeom prst="roundRect">
            <a:avLst>
              <a:gd name="adj" fmla="val 1408"/>
            </a:avLst>
          </a:prstGeom>
          <a:solidFill>
            <a:srgbClr val="F8FCF9"/>
          </a:solidFill>
          <a:ln w="13970">
            <a:solidFill>
              <a:srgbClr val="00623B"/>
            </a:solidFill>
            <a:prstDash val="solid"/>
          </a:ln>
        </p:spPr>
        <p:txBody>
          <a:bodyPr/>
          <a:lstStyle/>
          <a:p>
            <a:endParaRPr lang="en-US"/>
          </a:p>
        </p:txBody>
      </p:sp>
      <p:sp>
        <p:nvSpPr>
          <p:cNvPr id="51" name="Shape 49"/>
          <p:cNvSpPr/>
          <p:nvPr/>
        </p:nvSpPr>
        <p:spPr>
          <a:xfrm>
            <a:off x="6464808" y="1417320"/>
            <a:ext cx="5120640" cy="438912"/>
          </a:xfrm>
          <a:prstGeom prst="roundRect">
            <a:avLst>
              <a:gd name="adj" fmla="val 16667"/>
            </a:avLst>
          </a:prstGeom>
          <a:solidFill>
            <a:srgbClr val="EAF4EE"/>
          </a:solidFill>
          <a:ln w="15240">
            <a:solidFill>
              <a:srgbClr val="00623B"/>
            </a:solidFill>
            <a:prstDash val="solid"/>
          </a:ln>
        </p:spPr>
        <p:txBody>
          <a:bodyPr/>
          <a:lstStyle/>
          <a:p>
            <a:endParaRPr lang="en-US"/>
          </a:p>
        </p:txBody>
      </p:sp>
      <p:sp>
        <p:nvSpPr>
          <p:cNvPr id="52" name="Shape 50"/>
          <p:cNvSpPr/>
          <p:nvPr/>
        </p:nvSpPr>
        <p:spPr>
          <a:xfrm>
            <a:off x="6574536" y="1508760"/>
            <a:ext cx="256032" cy="256032"/>
          </a:xfrm>
          <a:prstGeom prst="ellipse">
            <a:avLst/>
          </a:prstGeom>
          <a:solidFill>
            <a:srgbClr val="00623B"/>
          </a:solidFill>
          <a:ln w="12700">
            <a:solidFill>
              <a:srgbClr val="00623B"/>
            </a:solidFill>
            <a:prstDash val="solid"/>
          </a:ln>
        </p:spPr>
        <p:txBody>
          <a:bodyPr/>
          <a:lstStyle/>
          <a:p>
            <a:endParaRPr lang="en-US"/>
          </a:p>
        </p:txBody>
      </p:sp>
      <p:sp>
        <p:nvSpPr>
          <p:cNvPr id="53" name="Text 51"/>
          <p:cNvSpPr/>
          <p:nvPr/>
        </p:nvSpPr>
        <p:spPr>
          <a:xfrm>
            <a:off x="6574536" y="1545336"/>
            <a:ext cx="256032" cy="118872"/>
          </a:xfrm>
          <a:prstGeom prst="rect">
            <a:avLst/>
          </a:prstGeom>
          <a:noFill/>
          <a:ln/>
        </p:spPr>
        <p:txBody>
          <a:bodyPr wrap="square" lIns="0" tIns="0" rIns="0" bIns="0" rtlCol="0" anchor="ctr"/>
          <a:lstStyle/>
          <a:p>
            <a:pPr marL="0" indent="0" algn="ctr">
              <a:buNone/>
            </a:pPr>
            <a:r>
              <a:rPr lang="en-US" sz="850" b="1" dirty="0">
                <a:solidFill>
                  <a:srgbClr val="FFFFFF"/>
                </a:solidFill>
              </a:rPr>
              <a:t>2</a:t>
            </a:r>
            <a:endParaRPr lang="en-US" sz="850" dirty="0"/>
          </a:p>
        </p:txBody>
      </p:sp>
      <p:sp>
        <p:nvSpPr>
          <p:cNvPr id="54" name="Text 52"/>
          <p:cNvSpPr/>
          <p:nvPr/>
        </p:nvSpPr>
        <p:spPr>
          <a:xfrm>
            <a:off x="6903720" y="1527048"/>
            <a:ext cx="4572000" cy="182880"/>
          </a:xfrm>
          <a:prstGeom prst="rect">
            <a:avLst/>
          </a:prstGeom>
          <a:noFill/>
          <a:ln/>
        </p:spPr>
        <p:txBody>
          <a:bodyPr wrap="square" lIns="0" tIns="0" rIns="0" bIns="0" rtlCol="0" anchor="ctr"/>
          <a:lstStyle/>
          <a:p>
            <a:pPr marL="0" indent="0">
              <a:buNone/>
            </a:pPr>
            <a:r>
              <a:rPr lang="en-US" sz="1150" b="1" dirty="0">
                <a:solidFill>
                  <a:srgbClr val="00623B"/>
                </a:solidFill>
              </a:rPr>
              <a:t>SPOT THE OPPORTUNITY</a:t>
            </a:r>
            <a:endParaRPr lang="en-US" sz="1150" dirty="0"/>
          </a:p>
        </p:txBody>
      </p:sp>
      <p:sp>
        <p:nvSpPr>
          <p:cNvPr id="55" name="Text 53"/>
          <p:cNvSpPr/>
          <p:nvPr/>
        </p:nvSpPr>
        <p:spPr>
          <a:xfrm>
            <a:off x="6537960" y="1938528"/>
            <a:ext cx="2011680" cy="146304"/>
          </a:xfrm>
          <a:prstGeom prst="rect">
            <a:avLst/>
          </a:prstGeom>
          <a:noFill/>
          <a:ln/>
        </p:spPr>
        <p:txBody>
          <a:bodyPr wrap="square" lIns="0" tIns="0" rIns="0" bIns="0" rtlCol="0" anchor="ctr"/>
          <a:lstStyle/>
          <a:p>
            <a:pPr marL="0" indent="0">
              <a:buNone/>
            </a:pPr>
            <a:r>
              <a:rPr lang="en-US" sz="1000" b="1" dirty="0">
                <a:solidFill>
                  <a:srgbClr val="00623B"/>
                </a:solidFill>
              </a:rPr>
              <a:t>Why it matters</a:t>
            </a:r>
            <a:endParaRPr lang="en-US" sz="1000" dirty="0"/>
          </a:p>
        </p:txBody>
      </p:sp>
      <p:sp>
        <p:nvSpPr>
          <p:cNvPr id="56" name="Text 54"/>
          <p:cNvSpPr/>
          <p:nvPr/>
        </p:nvSpPr>
        <p:spPr>
          <a:xfrm>
            <a:off x="6537960" y="2103120"/>
            <a:ext cx="2011680" cy="301752"/>
          </a:xfrm>
          <a:prstGeom prst="rect">
            <a:avLst/>
          </a:prstGeom>
          <a:noFill/>
          <a:ln/>
        </p:spPr>
        <p:txBody>
          <a:bodyPr wrap="square" lIns="0" tIns="0" rIns="0" bIns="0" rtlCol="0" anchor="ctr">
            <a:normAutofit lnSpcReduction="10000"/>
          </a:bodyPr>
          <a:lstStyle/>
          <a:p>
            <a:pPr marL="0" indent="0">
              <a:buNone/>
            </a:pPr>
            <a:r>
              <a:rPr lang="en-US" sz="1000" dirty="0">
                <a:solidFill>
                  <a:srgbClr val="111827"/>
                </a:solidFill>
              </a:rPr>
              <a:t>The best AI solutions start with a clearly defined job to be done.</a:t>
            </a:r>
            <a:endParaRPr lang="en-US" sz="1000" dirty="0"/>
          </a:p>
        </p:txBody>
      </p:sp>
      <p:sp>
        <p:nvSpPr>
          <p:cNvPr id="57" name="Text 55"/>
          <p:cNvSpPr/>
          <p:nvPr/>
        </p:nvSpPr>
        <p:spPr>
          <a:xfrm>
            <a:off x="6537960" y="2459736"/>
            <a:ext cx="2011680" cy="146304"/>
          </a:xfrm>
          <a:prstGeom prst="rect">
            <a:avLst/>
          </a:prstGeom>
          <a:noFill/>
          <a:ln/>
        </p:spPr>
        <p:txBody>
          <a:bodyPr wrap="square" lIns="0" tIns="0" rIns="0" bIns="0" rtlCol="0" anchor="ctr"/>
          <a:lstStyle/>
          <a:p>
            <a:pPr marL="0" indent="0">
              <a:buNone/>
            </a:pPr>
            <a:r>
              <a:rPr lang="en-US" sz="1000" b="1" dirty="0">
                <a:solidFill>
                  <a:srgbClr val="00623B"/>
                </a:solidFill>
              </a:rPr>
              <a:t>What to do</a:t>
            </a:r>
            <a:endParaRPr lang="en-US" sz="1000" dirty="0"/>
          </a:p>
        </p:txBody>
      </p:sp>
      <p:sp>
        <p:nvSpPr>
          <p:cNvPr id="58" name="Text 56"/>
          <p:cNvSpPr/>
          <p:nvPr/>
        </p:nvSpPr>
        <p:spPr>
          <a:xfrm>
            <a:off x="6560820" y="2612898"/>
            <a:ext cx="2011680" cy="530352"/>
          </a:xfrm>
          <a:prstGeom prst="rect">
            <a:avLst/>
          </a:prstGeom>
          <a:noFill/>
          <a:ln/>
        </p:spPr>
        <p:txBody>
          <a:bodyPr wrap="square" lIns="0" tIns="0" rIns="0" bIns="0" rtlCol="0" anchor="ctr">
            <a:normAutofit/>
          </a:bodyPr>
          <a:lstStyle/>
          <a:p>
            <a:pPr marL="0" indent="0">
              <a:buNone/>
            </a:pPr>
            <a:r>
              <a:rPr lang="en-US" sz="1000" dirty="0">
                <a:solidFill>
                  <a:srgbClr val="111827"/>
                </a:solidFill>
              </a:rPr>
              <a:t>• Start with the biggest friction.</a:t>
            </a:r>
            <a:endParaRPr lang="en-US" sz="1000" dirty="0"/>
          </a:p>
          <a:p>
            <a:pPr marL="0" indent="0">
              <a:buNone/>
            </a:pPr>
            <a:r>
              <a:rPr lang="en-US" sz="1000" dirty="0">
                <a:solidFill>
                  <a:srgbClr val="111827"/>
                </a:solidFill>
              </a:rPr>
              <a:t>• Decide what job AI should do.</a:t>
            </a:r>
            <a:endParaRPr lang="en-US" sz="1000" dirty="0"/>
          </a:p>
          <a:p>
            <a:pPr marL="0" indent="0">
              <a:buNone/>
            </a:pPr>
            <a:r>
              <a:rPr lang="en-US" sz="1000" dirty="0">
                <a:solidFill>
                  <a:srgbClr val="111827"/>
                </a:solidFill>
              </a:rPr>
              <a:t>• Focus on </a:t>
            </a:r>
            <a:r>
              <a:rPr lang="en-US" sz="1000" u="sng" dirty="0">
                <a:solidFill>
                  <a:srgbClr val="111827"/>
                </a:solidFill>
              </a:rPr>
              <a:t>one</a:t>
            </a:r>
            <a:r>
              <a:rPr lang="en-US" sz="1000" dirty="0">
                <a:solidFill>
                  <a:srgbClr val="111827"/>
                </a:solidFill>
              </a:rPr>
              <a:t> opportunity.</a:t>
            </a:r>
            <a:endParaRPr lang="en-US" sz="1000" dirty="0"/>
          </a:p>
        </p:txBody>
      </p:sp>
      <p:sp>
        <p:nvSpPr>
          <p:cNvPr id="61" name="Text 59"/>
          <p:cNvSpPr/>
          <p:nvPr/>
        </p:nvSpPr>
        <p:spPr>
          <a:xfrm>
            <a:off x="8924544" y="1938528"/>
            <a:ext cx="1920240" cy="109728"/>
          </a:xfrm>
          <a:prstGeom prst="rect">
            <a:avLst/>
          </a:prstGeom>
          <a:noFill/>
          <a:ln/>
        </p:spPr>
        <p:txBody>
          <a:bodyPr wrap="square" lIns="0" tIns="0" rIns="0" bIns="0" rtlCol="0" anchor="ctr"/>
          <a:lstStyle/>
          <a:p>
            <a:pPr marL="0" indent="0">
              <a:buNone/>
            </a:pPr>
            <a:r>
              <a:rPr lang="en-US" sz="1000" b="1" dirty="0">
                <a:solidFill>
                  <a:srgbClr val="00623B"/>
                </a:solidFill>
              </a:rPr>
              <a:t>What job do I want AI to do?</a:t>
            </a:r>
            <a:endParaRPr lang="en-US" sz="1000" dirty="0"/>
          </a:p>
        </p:txBody>
      </p:sp>
      <p:sp>
        <p:nvSpPr>
          <p:cNvPr id="62" name="Text 60"/>
          <p:cNvSpPr/>
          <p:nvPr/>
        </p:nvSpPr>
        <p:spPr>
          <a:xfrm>
            <a:off x="8924544" y="2103120"/>
            <a:ext cx="2772156" cy="153416"/>
          </a:xfrm>
          <a:prstGeom prst="rect">
            <a:avLst/>
          </a:prstGeom>
          <a:noFill/>
          <a:ln/>
        </p:spPr>
        <p:txBody>
          <a:bodyPr wrap="square" lIns="0" tIns="0" rIns="0" bIns="0" rtlCol="0" anchor="ctr"/>
          <a:lstStyle/>
          <a:p>
            <a:pPr marL="0" indent="0">
              <a:buNone/>
            </a:pPr>
            <a:r>
              <a:rPr lang="en-US" sz="1000" dirty="0">
                <a:solidFill>
                  <a:srgbClr val="111827"/>
                </a:solidFill>
              </a:rPr>
              <a:t>Choose the job AI should do to solve the friction.</a:t>
            </a:r>
            <a:endParaRPr lang="en-US" sz="1000" dirty="0"/>
          </a:p>
        </p:txBody>
      </p:sp>
      <p:sp>
        <p:nvSpPr>
          <p:cNvPr id="64" name="Text 62"/>
          <p:cNvSpPr/>
          <p:nvPr/>
        </p:nvSpPr>
        <p:spPr>
          <a:xfrm>
            <a:off x="8956548" y="2281953"/>
            <a:ext cx="2057400" cy="1560956"/>
          </a:xfrm>
          <a:prstGeom prst="rect">
            <a:avLst/>
          </a:prstGeom>
          <a:noFill/>
          <a:ln/>
        </p:spPr>
        <p:txBody>
          <a:bodyPr wrap="square" lIns="0" tIns="0" rIns="0" bIns="0" rtlCol="0" anchor="ctr">
            <a:normAutofit lnSpcReduction="10000"/>
          </a:bodyPr>
          <a:lstStyle/>
          <a:p>
            <a:r>
              <a:rPr lang="en-US" sz="1000" i="1" dirty="0">
                <a:solidFill>
                  <a:srgbClr val="111827"/>
                </a:solidFill>
              </a:rPr>
              <a:t>Examples:</a:t>
            </a:r>
          </a:p>
          <a:p>
            <a:pPr marL="171450" indent="-171450">
              <a:buFont typeface="Arial" panose="020B0604020202020204" pitchFamily="34" charset="0"/>
              <a:buChar char="•"/>
            </a:pPr>
            <a:r>
              <a:rPr lang="en-US" sz="1000" dirty="0">
                <a:solidFill>
                  <a:srgbClr val="111827"/>
                </a:solidFill>
              </a:rPr>
              <a:t>Generate a first draft</a:t>
            </a:r>
          </a:p>
          <a:p>
            <a:pPr marL="171450" indent="-171450">
              <a:buFont typeface="Arial" panose="020B0604020202020204" pitchFamily="34" charset="0"/>
              <a:buChar char="•"/>
            </a:pPr>
            <a:r>
              <a:rPr lang="en-US" sz="1000" dirty="0">
                <a:solidFill>
                  <a:srgbClr val="111827"/>
                </a:solidFill>
              </a:rPr>
              <a:t>Summarize information</a:t>
            </a:r>
            <a:endParaRPr lang="en-US" sz="1000" dirty="0"/>
          </a:p>
          <a:p>
            <a:pPr marL="171450" indent="-171450">
              <a:buFont typeface="Arial" panose="020B0604020202020204" pitchFamily="34" charset="0"/>
              <a:buChar char="•"/>
            </a:pPr>
            <a:r>
              <a:rPr lang="en-US" sz="1000" dirty="0">
                <a:solidFill>
                  <a:srgbClr val="111827"/>
                </a:solidFill>
              </a:rPr>
              <a:t>Analyze data or patterns</a:t>
            </a:r>
            <a:endParaRPr lang="en-US" sz="1000" dirty="0"/>
          </a:p>
          <a:p>
            <a:pPr marL="171450" indent="-171450">
              <a:buFont typeface="Arial" panose="020B0604020202020204" pitchFamily="34" charset="0"/>
              <a:buChar char="•"/>
            </a:pPr>
            <a:r>
              <a:rPr lang="en-US" sz="1000" dirty="0">
                <a:solidFill>
                  <a:srgbClr val="111827"/>
                </a:solidFill>
              </a:rPr>
              <a:t>Organize / structure information</a:t>
            </a:r>
          </a:p>
          <a:p>
            <a:pPr marL="171450" indent="-171450">
              <a:buFont typeface="Arial" panose="020B0604020202020204" pitchFamily="34" charset="0"/>
              <a:buChar char="•"/>
            </a:pPr>
            <a:r>
              <a:rPr lang="en-US" sz="1000" dirty="0">
                <a:solidFill>
                  <a:srgbClr val="111827"/>
                </a:solidFill>
              </a:rPr>
              <a:t>Review for quality</a:t>
            </a:r>
            <a:endParaRPr lang="en-US" sz="1000" dirty="0"/>
          </a:p>
          <a:p>
            <a:pPr marL="171450" indent="-171450">
              <a:buFont typeface="Arial" panose="020B0604020202020204" pitchFamily="34" charset="0"/>
              <a:buChar char="•"/>
            </a:pPr>
            <a:r>
              <a:rPr lang="en-US" sz="1000" dirty="0">
                <a:solidFill>
                  <a:srgbClr val="111827"/>
                </a:solidFill>
              </a:rPr>
              <a:t>Brainstorm ideas</a:t>
            </a:r>
          </a:p>
          <a:p>
            <a:pPr marL="171450" indent="-171450">
              <a:buFont typeface="Arial" panose="020B0604020202020204" pitchFamily="34" charset="0"/>
              <a:buChar char="•"/>
            </a:pPr>
            <a:r>
              <a:rPr lang="en-US" sz="1000" dirty="0">
                <a:solidFill>
                  <a:srgbClr val="111827"/>
                </a:solidFill>
              </a:rPr>
              <a:t>Compare options</a:t>
            </a:r>
            <a:endParaRPr lang="en-US" sz="1000" dirty="0"/>
          </a:p>
          <a:p>
            <a:pPr marL="171450" indent="-171450">
              <a:buFont typeface="Arial" panose="020B0604020202020204" pitchFamily="34" charset="0"/>
              <a:buChar char="•"/>
            </a:pPr>
            <a:r>
              <a:rPr lang="en-US" sz="1000" dirty="0">
                <a:solidFill>
                  <a:srgbClr val="111827"/>
                </a:solidFill>
              </a:rPr>
              <a:t>Create a repeatable structure</a:t>
            </a:r>
          </a:p>
          <a:p>
            <a:pPr marL="171450" indent="-171450">
              <a:buFont typeface="Arial" panose="020B0604020202020204" pitchFamily="34" charset="0"/>
              <a:buChar char="•"/>
            </a:pPr>
            <a:r>
              <a:rPr lang="en-US" sz="1000" dirty="0">
                <a:solidFill>
                  <a:srgbClr val="111827"/>
                </a:solidFill>
              </a:rPr>
              <a:t>Automate repetitive steps</a:t>
            </a:r>
            <a:endParaRPr lang="en-US" sz="1000" dirty="0"/>
          </a:p>
          <a:p>
            <a:pPr marL="171450" indent="-171450">
              <a:buFont typeface="Arial" panose="020B0604020202020204" pitchFamily="34" charset="0"/>
              <a:buChar char="•"/>
            </a:pPr>
            <a:r>
              <a:rPr lang="en-US" sz="1000" dirty="0">
                <a:solidFill>
                  <a:srgbClr val="111827"/>
                </a:solidFill>
              </a:rPr>
              <a:t>Other</a:t>
            </a:r>
            <a:endParaRPr lang="en-US" sz="1000" dirty="0"/>
          </a:p>
        </p:txBody>
      </p:sp>
      <p:sp>
        <p:nvSpPr>
          <p:cNvPr id="66" name="Text 64"/>
          <p:cNvSpPr/>
          <p:nvPr/>
        </p:nvSpPr>
        <p:spPr>
          <a:xfrm>
            <a:off x="9884664" y="2372106"/>
            <a:ext cx="2057400" cy="146304"/>
          </a:xfrm>
          <a:prstGeom prst="rect">
            <a:avLst/>
          </a:prstGeom>
          <a:noFill/>
          <a:ln/>
        </p:spPr>
        <p:txBody>
          <a:bodyPr wrap="square" lIns="0" tIns="0" rIns="0" bIns="0" rtlCol="0" anchor="ctr">
            <a:normAutofit/>
          </a:bodyPr>
          <a:lstStyle/>
          <a:p>
            <a:pPr marL="0" indent="0">
              <a:buNone/>
            </a:pPr>
            <a:endParaRPr lang="en-US" sz="640" dirty="0"/>
          </a:p>
        </p:txBody>
      </p:sp>
      <p:sp>
        <p:nvSpPr>
          <p:cNvPr id="68" name="Text 66"/>
          <p:cNvSpPr/>
          <p:nvPr/>
        </p:nvSpPr>
        <p:spPr>
          <a:xfrm>
            <a:off x="9043416" y="2548890"/>
            <a:ext cx="2057400" cy="146304"/>
          </a:xfrm>
          <a:prstGeom prst="rect">
            <a:avLst/>
          </a:prstGeom>
          <a:noFill/>
          <a:ln/>
        </p:spPr>
        <p:txBody>
          <a:bodyPr wrap="square" lIns="0" tIns="0" rIns="0" bIns="0" rtlCol="0" anchor="ctr">
            <a:normAutofit/>
          </a:bodyPr>
          <a:lstStyle/>
          <a:p>
            <a:pPr marL="0" indent="0">
              <a:buNone/>
            </a:pPr>
            <a:endParaRPr lang="en-US" sz="640" dirty="0"/>
          </a:p>
        </p:txBody>
      </p:sp>
      <p:sp>
        <p:nvSpPr>
          <p:cNvPr id="70" name="Text 68"/>
          <p:cNvSpPr/>
          <p:nvPr/>
        </p:nvSpPr>
        <p:spPr>
          <a:xfrm>
            <a:off x="9985248" y="2564130"/>
            <a:ext cx="2057400" cy="146304"/>
          </a:xfrm>
          <a:prstGeom prst="rect">
            <a:avLst/>
          </a:prstGeom>
          <a:noFill/>
          <a:ln/>
        </p:spPr>
        <p:txBody>
          <a:bodyPr wrap="square" lIns="0" tIns="0" rIns="0" bIns="0" rtlCol="0" anchor="ctr">
            <a:normAutofit/>
          </a:bodyPr>
          <a:lstStyle/>
          <a:p>
            <a:pPr marL="0" indent="0">
              <a:buNone/>
            </a:pPr>
            <a:endParaRPr lang="en-US" sz="640" dirty="0"/>
          </a:p>
        </p:txBody>
      </p:sp>
      <p:sp>
        <p:nvSpPr>
          <p:cNvPr id="72" name="Text 70"/>
          <p:cNvSpPr/>
          <p:nvPr/>
        </p:nvSpPr>
        <p:spPr>
          <a:xfrm>
            <a:off x="9043416" y="2785491"/>
            <a:ext cx="2057400" cy="146304"/>
          </a:xfrm>
          <a:prstGeom prst="rect">
            <a:avLst/>
          </a:prstGeom>
          <a:noFill/>
          <a:ln/>
        </p:spPr>
        <p:txBody>
          <a:bodyPr wrap="square" lIns="0" tIns="0" rIns="0" bIns="0" rtlCol="0" anchor="ctr">
            <a:normAutofit/>
          </a:bodyPr>
          <a:lstStyle/>
          <a:p>
            <a:pPr marL="0" indent="0">
              <a:buNone/>
            </a:pPr>
            <a:endParaRPr lang="en-US" sz="640" dirty="0"/>
          </a:p>
        </p:txBody>
      </p:sp>
      <p:sp>
        <p:nvSpPr>
          <p:cNvPr id="74" name="Text 72"/>
          <p:cNvSpPr/>
          <p:nvPr/>
        </p:nvSpPr>
        <p:spPr>
          <a:xfrm>
            <a:off x="9907524" y="2798064"/>
            <a:ext cx="2057400" cy="146304"/>
          </a:xfrm>
          <a:prstGeom prst="rect">
            <a:avLst/>
          </a:prstGeom>
          <a:noFill/>
          <a:ln/>
        </p:spPr>
        <p:txBody>
          <a:bodyPr wrap="square" lIns="0" tIns="0" rIns="0" bIns="0" rtlCol="0" anchor="ctr">
            <a:normAutofit/>
          </a:bodyPr>
          <a:lstStyle/>
          <a:p>
            <a:pPr marL="0" indent="0">
              <a:buNone/>
            </a:pPr>
            <a:endParaRPr lang="en-US" sz="640" dirty="0"/>
          </a:p>
        </p:txBody>
      </p:sp>
      <p:sp>
        <p:nvSpPr>
          <p:cNvPr id="76" name="Text 74"/>
          <p:cNvSpPr/>
          <p:nvPr/>
        </p:nvSpPr>
        <p:spPr>
          <a:xfrm>
            <a:off x="9043416" y="3059938"/>
            <a:ext cx="2057400" cy="146304"/>
          </a:xfrm>
          <a:prstGeom prst="rect">
            <a:avLst/>
          </a:prstGeom>
          <a:noFill/>
          <a:ln/>
        </p:spPr>
        <p:txBody>
          <a:bodyPr wrap="square" lIns="0" tIns="0" rIns="0" bIns="0" rtlCol="0" anchor="ctr">
            <a:normAutofit/>
          </a:bodyPr>
          <a:lstStyle/>
          <a:p>
            <a:pPr marL="0" indent="0">
              <a:buNone/>
            </a:pPr>
            <a:endParaRPr lang="en-US" sz="640" dirty="0"/>
          </a:p>
        </p:txBody>
      </p:sp>
      <p:sp>
        <p:nvSpPr>
          <p:cNvPr id="78" name="Text 76"/>
          <p:cNvSpPr/>
          <p:nvPr/>
        </p:nvSpPr>
        <p:spPr>
          <a:xfrm>
            <a:off x="9907524" y="3059938"/>
            <a:ext cx="2057400" cy="146304"/>
          </a:xfrm>
          <a:prstGeom prst="rect">
            <a:avLst/>
          </a:prstGeom>
          <a:noFill/>
          <a:ln/>
        </p:spPr>
        <p:txBody>
          <a:bodyPr wrap="square" lIns="0" tIns="0" rIns="0" bIns="0" rtlCol="0" anchor="ctr">
            <a:normAutofit/>
          </a:bodyPr>
          <a:lstStyle/>
          <a:p>
            <a:pPr marL="0" indent="0">
              <a:buNone/>
            </a:pPr>
            <a:endParaRPr lang="en-US" sz="640" dirty="0"/>
          </a:p>
        </p:txBody>
      </p:sp>
      <p:sp>
        <p:nvSpPr>
          <p:cNvPr id="80" name="Text 78"/>
          <p:cNvSpPr/>
          <p:nvPr/>
        </p:nvSpPr>
        <p:spPr>
          <a:xfrm>
            <a:off x="9121140" y="3312795"/>
            <a:ext cx="2057400" cy="146304"/>
          </a:xfrm>
          <a:prstGeom prst="rect">
            <a:avLst/>
          </a:prstGeom>
          <a:noFill/>
          <a:ln/>
        </p:spPr>
        <p:txBody>
          <a:bodyPr wrap="square" lIns="0" tIns="0" rIns="0" bIns="0" rtlCol="0" anchor="ctr">
            <a:normAutofit/>
          </a:bodyPr>
          <a:lstStyle/>
          <a:p>
            <a:pPr marL="0" indent="0">
              <a:buNone/>
            </a:pPr>
            <a:endParaRPr lang="en-US" sz="640" dirty="0"/>
          </a:p>
        </p:txBody>
      </p:sp>
      <p:sp>
        <p:nvSpPr>
          <p:cNvPr id="82" name="Text 80"/>
          <p:cNvSpPr/>
          <p:nvPr/>
        </p:nvSpPr>
        <p:spPr>
          <a:xfrm>
            <a:off x="10218420" y="3338132"/>
            <a:ext cx="2057400" cy="146304"/>
          </a:xfrm>
          <a:prstGeom prst="rect">
            <a:avLst/>
          </a:prstGeom>
          <a:noFill/>
          <a:ln/>
        </p:spPr>
        <p:txBody>
          <a:bodyPr wrap="square" lIns="0" tIns="0" rIns="0" bIns="0" rtlCol="0" anchor="ctr">
            <a:normAutofit/>
          </a:bodyPr>
          <a:lstStyle/>
          <a:p>
            <a:pPr marL="0" indent="0">
              <a:buNone/>
            </a:pPr>
            <a:endParaRPr lang="en-US" sz="640" dirty="0"/>
          </a:p>
        </p:txBody>
      </p:sp>
      <p:sp>
        <p:nvSpPr>
          <p:cNvPr id="83" name="Text 81"/>
          <p:cNvSpPr/>
          <p:nvPr/>
        </p:nvSpPr>
        <p:spPr>
          <a:xfrm>
            <a:off x="6537960" y="3724656"/>
            <a:ext cx="4846320" cy="109728"/>
          </a:xfrm>
          <a:prstGeom prst="rect">
            <a:avLst/>
          </a:prstGeom>
          <a:noFill/>
          <a:ln/>
        </p:spPr>
        <p:txBody>
          <a:bodyPr wrap="square" lIns="0" tIns="0" rIns="0" bIns="0" rtlCol="0" anchor="ctr"/>
          <a:lstStyle/>
          <a:p>
            <a:pPr marL="0" indent="0">
              <a:buNone/>
            </a:pPr>
            <a:r>
              <a:rPr lang="en-US" sz="1000" b="1" dirty="0">
                <a:solidFill>
                  <a:srgbClr val="00623B"/>
                </a:solidFill>
              </a:rPr>
              <a:t>The job I want AI to do is:</a:t>
            </a:r>
            <a:endParaRPr lang="en-US" sz="1000" dirty="0"/>
          </a:p>
        </p:txBody>
      </p:sp>
      <p:sp>
        <p:nvSpPr>
          <p:cNvPr id="84" name="Shape 82"/>
          <p:cNvSpPr/>
          <p:nvPr/>
        </p:nvSpPr>
        <p:spPr>
          <a:xfrm>
            <a:off x="6537960" y="3896868"/>
            <a:ext cx="4937760" cy="1068832"/>
          </a:xfrm>
          <a:prstGeom prst="roundRect">
            <a:avLst>
              <a:gd name="adj" fmla="val 5814"/>
            </a:avLst>
          </a:prstGeom>
          <a:solidFill>
            <a:srgbClr val="FFFFFF"/>
          </a:solidFill>
          <a:ln w="10160">
            <a:solidFill>
              <a:srgbClr val="00623B">
                <a:alpha val="85000"/>
              </a:srgbClr>
            </a:solidFill>
            <a:prstDash val="solid"/>
          </a:ln>
        </p:spPr>
        <p:txBody>
          <a:bodyPr/>
          <a:lstStyle/>
          <a:p>
            <a:endParaRPr lang="en-US" sz="1000" dirty="0"/>
          </a:p>
        </p:txBody>
      </p:sp>
      <p:sp>
        <p:nvSpPr>
          <p:cNvPr id="85" name="Text 83"/>
          <p:cNvSpPr/>
          <p:nvPr/>
        </p:nvSpPr>
        <p:spPr>
          <a:xfrm>
            <a:off x="6537960" y="5039868"/>
            <a:ext cx="4846320" cy="109728"/>
          </a:xfrm>
          <a:prstGeom prst="rect">
            <a:avLst/>
          </a:prstGeom>
          <a:noFill/>
          <a:ln/>
        </p:spPr>
        <p:txBody>
          <a:bodyPr wrap="square" lIns="0" tIns="0" rIns="0" bIns="0" rtlCol="0" anchor="ctr"/>
          <a:lstStyle/>
          <a:p>
            <a:pPr marL="0" indent="0">
              <a:buNone/>
            </a:pPr>
            <a:r>
              <a:rPr lang="en-US" sz="1000" b="1" dirty="0">
                <a:solidFill>
                  <a:srgbClr val="00623B"/>
                </a:solidFill>
              </a:rPr>
              <a:t>Success looks like:</a:t>
            </a:r>
            <a:endParaRPr lang="en-US" sz="1000" dirty="0"/>
          </a:p>
        </p:txBody>
      </p:sp>
      <p:sp>
        <p:nvSpPr>
          <p:cNvPr id="86" name="Shape 84"/>
          <p:cNvSpPr/>
          <p:nvPr/>
        </p:nvSpPr>
        <p:spPr>
          <a:xfrm>
            <a:off x="6537960" y="5186172"/>
            <a:ext cx="4937760" cy="475488"/>
          </a:xfrm>
          <a:prstGeom prst="roundRect">
            <a:avLst>
              <a:gd name="adj" fmla="val 9615"/>
            </a:avLst>
          </a:prstGeom>
          <a:solidFill>
            <a:srgbClr val="FFFFFF"/>
          </a:solidFill>
          <a:ln w="10160">
            <a:solidFill>
              <a:srgbClr val="00623B">
                <a:alpha val="85000"/>
              </a:srgbClr>
            </a:solidFill>
            <a:prstDash val="solid"/>
          </a:ln>
        </p:spPr>
        <p:txBody>
          <a:bodyPr/>
          <a:lstStyle/>
          <a:p>
            <a:endParaRPr lang="en-US" sz="1000" dirty="0"/>
          </a:p>
        </p:txBody>
      </p:sp>
      <p:sp>
        <p:nvSpPr>
          <p:cNvPr id="87" name="Shape 85"/>
          <p:cNvSpPr/>
          <p:nvPr/>
        </p:nvSpPr>
        <p:spPr>
          <a:xfrm>
            <a:off x="6537960" y="5724144"/>
            <a:ext cx="4937760" cy="438912"/>
          </a:xfrm>
          <a:prstGeom prst="roundRect">
            <a:avLst>
              <a:gd name="adj" fmla="val 12500"/>
            </a:avLst>
          </a:prstGeom>
          <a:solidFill>
            <a:srgbClr val="EAF4EE"/>
          </a:solidFill>
          <a:ln w="12700">
            <a:solidFill>
              <a:srgbClr val="00623B">
                <a:alpha val="80000"/>
              </a:srgbClr>
            </a:solidFill>
            <a:prstDash val="solid"/>
          </a:ln>
        </p:spPr>
        <p:txBody>
          <a:bodyPr/>
          <a:lstStyle/>
          <a:p>
            <a:endParaRPr lang="en-US"/>
          </a:p>
        </p:txBody>
      </p:sp>
      <p:sp>
        <p:nvSpPr>
          <p:cNvPr id="88" name="Text 86"/>
          <p:cNvSpPr/>
          <p:nvPr/>
        </p:nvSpPr>
        <p:spPr>
          <a:xfrm>
            <a:off x="6611112" y="5824728"/>
            <a:ext cx="320040" cy="109728"/>
          </a:xfrm>
          <a:prstGeom prst="rect">
            <a:avLst/>
          </a:prstGeom>
          <a:noFill/>
          <a:ln/>
        </p:spPr>
        <p:txBody>
          <a:bodyPr wrap="square" lIns="0" tIns="0" rIns="0" bIns="0" rtlCol="0" anchor="ctr"/>
          <a:lstStyle/>
          <a:p>
            <a:pPr marL="0" indent="0">
              <a:buNone/>
            </a:pPr>
            <a:r>
              <a:rPr lang="en-US" sz="1000" b="1" dirty="0">
                <a:solidFill>
                  <a:srgbClr val="00623B"/>
                </a:solidFill>
              </a:rPr>
              <a:t>TIP</a:t>
            </a:r>
            <a:endParaRPr lang="en-US" sz="1000" dirty="0"/>
          </a:p>
        </p:txBody>
      </p:sp>
      <p:sp>
        <p:nvSpPr>
          <p:cNvPr id="89" name="Text 87"/>
          <p:cNvSpPr/>
          <p:nvPr/>
        </p:nvSpPr>
        <p:spPr>
          <a:xfrm>
            <a:off x="6949440" y="5797296"/>
            <a:ext cx="4434840" cy="274320"/>
          </a:xfrm>
          <a:prstGeom prst="rect">
            <a:avLst/>
          </a:prstGeom>
          <a:noFill/>
          <a:ln/>
        </p:spPr>
        <p:txBody>
          <a:bodyPr wrap="square" lIns="0" tIns="0" rIns="0" bIns="0" rtlCol="0" anchor="ctr">
            <a:noAutofit/>
          </a:bodyPr>
          <a:lstStyle/>
          <a:p>
            <a:pPr marL="0" indent="0">
              <a:buNone/>
            </a:pPr>
            <a:r>
              <a:rPr lang="en-US" sz="1000" dirty="0">
                <a:solidFill>
                  <a:srgbClr val="111827"/>
                </a:solidFill>
              </a:rPr>
              <a:t>Don’t worry about defining the exact AI Solution in this step. Just focus on what you want AI to do.</a:t>
            </a:r>
            <a:endParaRPr lang="en-US" sz="1000" dirty="0"/>
          </a:p>
        </p:txBody>
      </p:sp>
      <p:sp>
        <p:nvSpPr>
          <p:cNvPr id="94" name="Shape 32">
            <a:extLst>
              <a:ext uri="{FF2B5EF4-FFF2-40B4-BE49-F238E27FC236}">
                <a16:creationId xmlns:a16="http://schemas.microsoft.com/office/drawing/2014/main" id="{5C9AFE65-9913-54EF-E101-60BEFD876957}"/>
              </a:ext>
            </a:extLst>
          </p:cNvPr>
          <p:cNvSpPr/>
          <p:nvPr/>
        </p:nvSpPr>
        <p:spPr>
          <a:xfrm>
            <a:off x="2922524" y="3344164"/>
            <a:ext cx="1527048" cy="324612"/>
          </a:xfrm>
          <a:prstGeom prst="roundRect">
            <a:avLst>
              <a:gd name="adj" fmla="val 18182"/>
            </a:avLst>
          </a:prstGeom>
          <a:solidFill>
            <a:srgbClr val="FFFFFF"/>
          </a:solidFill>
          <a:ln w="12700">
            <a:solidFill>
              <a:srgbClr val="063C7A">
                <a:alpha val="65000"/>
              </a:srgbClr>
            </a:solidFill>
            <a:prstDash val="solid"/>
          </a:ln>
        </p:spPr>
        <p:txBody>
          <a:bodyPr tIns="0" bIns="0"/>
          <a:lstStyle/>
          <a:p>
            <a:endParaRPr lang="en-US" sz="900" dirty="0"/>
          </a:p>
        </p:txBody>
      </p:sp>
      <p:sp>
        <p:nvSpPr>
          <p:cNvPr id="95" name="Shape 32">
            <a:extLst>
              <a:ext uri="{FF2B5EF4-FFF2-40B4-BE49-F238E27FC236}">
                <a16:creationId xmlns:a16="http://schemas.microsoft.com/office/drawing/2014/main" id="{D3E817C8-1741-618C-BDAB-C560FA36F72D}"/>
              </a:ext>
            </a:extLst>
          </p:cNvPr>
          <p:cNvSpPr/>
          <p:nvPr/>
        </p:nvSpPr>
        <p:spPr>
          <a:xfrm>
            <a:off x="2922524" y="3890264"/>
            <a:ext cx="1527048" cy="324612"/>
          </a:xfrm>
          <a:prstGeom prst="roundRect">
            <a:avLst>
              <a:gd name="adj" fmla="val 18182"/>
            </a:avLst>
          </a:prstGeom>
          <a:solidFill>
            <a:srgbClr val="FFFFFF"/>
          </a:solidFill>
          <a:ln w="12700">
            <a:solidFill>
              <a:srgbClr val="063C7A">
                <a:alpha val="65000"/>
              </a:srgbClr>
            </a:solidFill>
            <a:prstDash val="solid"/>
          </a:ln>
        </p:spPr>
        <p:txBody>
          <a:bodyPr tIns="0" bIns="0"/>
          <a:lstStyle/>
          <a:p>
            <a:endParaRPr lang="en-US" sz="900" dirty="0"/>
          </a:p>
        </p:txBody>
      </p:sp>
      <p:sp>
        <p:nvSpPr>
          <p:cNvPr id="96" name="Shape 32">
            <a:extLst>
              <a:ext uri="{FF2B5EF4-FFF2-40B4-BE49-F238E27FC236}">
                <a16:creationId xmlns:a16="http://schemas.microsoft.com/office/drawing/2014/main" id="{35F6427F-B8C9-B3BF-D0B5-88ECE65BE7DD}"/>
              </a:ext>
            </a:extLst>
          </p:cNvPr>
          <p:cNvSpPr/>
          <p:nvPr/>
        </p:nvSpPr>
        <p:spPr>
          <a:xfrm>
            <a:off x="2922524" y="4480814"/>
            <a:ext cx="1527048" cy="324612"/>
          </a:xfrm>
          <a:prstGeom prst="roundRect">
            <a:avLst>
              <a:gd name="adj" fmla="val 18182"/>
            </a:avLst>
          </a:prstGeom>
          <a:solidFill>
            <a:srgbClr val="FFFFFF"/>
          </a:solidFill>
          <a:ln w="12700">
            <a:solidFill>
              <a:srgbClr val="063C7A">
                <a:alpha val="65000"/>
              </a:srgbClr>
            </a:solidFill>
            <a:prstDash val="solid"/>
          </a:ln>
        </p:spPr>
        <p:txBody>
          <a:bodyPr tIns="0" bIns="0"/>
          <a:lstStyle/>
          <a:p>
            <a:endParaRPr lang="en-US" sz="900" dirty="0"/>
          </a:p>
        </p:txBody>
      </p:sp>
      <p:sp>
        <p:nvSpPr>
          <p:cNvPr id="5" name="Shape 32">
            <a:extLst>
              <a:ext uri="{FF2B5EF4-FFF2-40B4-BE49-F238E27FC236}">
                <a16:creationId xmlns:a16="http://schemas.microsoft.com/office/drawing/2014/main" id="{74DC9361-7271-3772-AAC8-7DD3C656D620}"/>
              </a:ext>
            </a:extLst>
          </p:cNvPr>
          <p:cNvSpPr/>
          <p:nvPr/>
        </p:nvSpPr>
        <p:spPr>
          <a:xfrm>
            <a:off x="2900359" y="5007285"/>
            <a:ext cx="1527048" cy="324612"/>
          </a:xfrm>
          <a:prstGeom prst="roundRect">
            <a:avLst>
              <a:gd name="adj" fmla="val 18182"/>
            </a:avLst>
          </a:prstGeom>
          <a:solidFill>
            <a:srgbClr val="FFFFFF"/>
          </a:solidFill>
          <a:ln w="12700">
            <a:solidFill>
              <a:srgbClr val="063C7A">
                <a:alpha val="65000"/>
              </a:srgbClr>
            </a:solidFill>
            <a:prstDash val="solid"/>
          </a:ln>
        </p:spPr>
        <p:txBody>
          <a:bodyPr tIns="0" bIns="0"/>
          <a:lstStyle/>
          <a:p>
            <a:endParaRPr lang="en-US" sz="900" dirty="0"/>
          </a:p>
        </p:txBody>
      </p:sp>
      <p:sp>
        <p:nvSpPr>
          <p:cNvPr id="6" name="Shape 37">
            <a:extLst>
              <a:ext uri="{FF2B5EF4-FFF2-40B4-BE49-F238E27FC236}">
                <a16:creationId xmlns:a16="http://schemas.microsoft.com/office/drawing/2014/main" id="{DAFB2D3E-0933-5B71-F93B-6C0EC7A699E8}"/>
              </a:ext>
            </a:extLst>
          </p:cNvPr>
          <p:cNvSpPr/>
          <p:nvPr/>
        </p:nvSpPr>
        <p:spPr>
          <a:xfrm>
            <a:off x="3213977" y="4845029"/>
            <a:ext cx="73152" cy="118872"/>
          </a:xfrm>
          <a:prstGeom prst="downArrow">
            <a:avLst/>
          </a:prstGeom>
          <a:solidFill>
            <a:srgbClr val="6B7280"/>
          </a:solidFill>
          <a:ln w="12700">
            <a:solidFill>
              <a:srgbClr val="6B7280"/>
            </a:solidFill>
            <a:prstDash val="solid"/>
          </a:ln>
        </p:spPr>
        <p:txBody>
          <a:bodyPr/>
          <a:lstStyle/>
          <a:p>
            <a:endParaRPr lang="en-US"/>
          </a:p>
        </p:txBody>
      </p:sp>
      <p:sp>
        <p:nvSpPr>
          <p:cNvPr id="8" name="Text 16">
            <a:extLst>
              <a:ext uri="{FF2B5EF4-FFF2-40B4-BE49-F238E27FC236}">
                <a16:creationId xmlns:a16="http://schemas.microsoft.com/office/drawing/2014/main" id="{7629B2FC-AC8D-C222-6F62-E979188B8615}"/>
              </a:ext>
            </a:extLst>
          </p:cNvPr>
          <p:cNvSpPr/>
          <p:nvPr/>
        </p:nvSpPr>
        <p:spPr>
          <a:xfrm>
            <a:off x="680258" y="4097621"/>
            <a:ext cx="2057400" cy="109728"/>
          </a:xfrm>
          <a:prstGeom prst="rect">
            <a:avLst/>
          </a:prstGeom>
          <a:noFill/>
          <a:ln/>
        </p:spPr>
        <p:txBody>
          <a:bodyPr wrap="square" lIns="0" tIns="0" rIns="0" bIns="0" rtlCol="0" anchor="ctr"/>
          <a:lstStyle/>
          <a:p>
            <a:pPr marL="0" indent="0">
              <a:buNone/>
            </a:pPr>
            <a:r>
              <a:rPr lang="en-US" sz="1000" b="1" dirty="0">
                <a:solidFill>
                  <a:srgbClr val="063C7A"/>
                </a:solidFill>
              </a:rPr>
              <a:t>Why is it worth improving?</a:t>
            </a:r>
            <a:endParaRPr lang="en-US" sz="1000" dirty="0"/>
          </a:p>
        </p:txBody>
      </p:sp>
      <p:sp>
        <p:nvSpPr>
          <p:cNvPr id="21" name="Shape 17">
            <a:extLst>
              <a:ext uri="{FF2B5EF4-FFF2-40B4-BE49-F238E27FC236}">
                <a16:creationId xmlns:a16="http://schemas.microsoft.com/office/drawing/2014/main" id="{43EF1406-FB08-D265-9BF1-108861628679}"/>
              </a:ext>
            </a:extLst>
          </p:cNvPr>
          <p:cNvSpPr/>
          <p:nvPr/>
        </p:nvSpPr>
        <p:spPr>
          <a:xfrm>
            <a:off x="688571" y="4259718"/>
            <a:ext cx="2057400" cy="571919"/>
          </a:xfrm>
          <a:prstGeom prst="roundRect">
            <a:avLst>
              <a:gd name="adj" fmla="val 6944"/>
            </a:avLst>
          </a:prstGeom>
          <a:solidFill>
            <a:srgbClr val="FFFFFF"/>
          </a:solidFill>
          <a:ln w="10160">
            <a:solidFill>
              <a:srgbClr val="063C7A">
                <a:alpha val="85000"/>
              </a:srgbClr>
            </a:solidFill>
            <a:prstDash val="solid"/>
          </a:ln>
        </p:spPr>
        <p:txBody>
          <a:bodyPr/>
          <a:lstStyle/>
          <a:p>
            <a:endParaRPr lang="en-US" sz="1000" i="1" dirty="0"/>
          </a:p>
          <a:p>
            <a:endParaRPr lang="en-US" sz="1000" i="1" dirty="0"/>
          </a:p>
          <a:p>
            <a:endParaRPr lang="en-US" sz="1000" i="1" dirty="0"/>
          </a:p>
          <a:p>
            <a:endParaRPr lang="en-US" sz="10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4048" y="228600"/>
            <a:ext cx="8138160" cy="411480"/>
          </a:xfrm>
          <a:prstGeom prst="rect">
            <a:avLst/>
          </a:prstGeom>
          <a:noFill/>
          <a:ln/>
        </p:spPr>
        <p:txBody>
          <a:bodyPr wrap="square" lIns="0" tIns="0" rIns="0" bIns="0" rtlCol="0" anchor="ctr"/>
          <a:lstStyle/>
          <a:p>
            <a:pPr marL="0" indent="0">
              <a:buNone/>
            </a:pPr>
            <a:r>
              <a:rPr lang="en-US" sz="2800" b="1" dirty="0">
                <a:solidFill>
                  <a:srgbClr val="061A44"/>
                </a:solidFill>
                <a:latin typeface="Aptos Display" pitchFamily="34" charset="0"/>
                <a:ea typeface="Aptos Display" pitchFamily="34" charset="-122"/>
                <a:cs typeface="Aptos Display" pitchFamily="34" charset="-120"/>
              </a:rPr>
              <a:t>Workflow Improvement Canvas</a:t>
            </a:r>
            <a:endParaRPr lang="en-US" sz="2800" dirty="0"/>
          </a:p>
        </p:txBody>
      </p:sp>
      <p:sp>
        <p:nvSpPr>
          <p:cNvPr id="3" name="Text 1"/>
          <p:cNvSpPr/>
          <p:nvPr/>
        </p:nvSpPr>
        <p:spPr>
          <a:xfrm>
            <a:off x="402336" y="704088"/>
            <a:ext cx="8138160" cy="228600"/>
          </a:xfrm>
          <a:prstGeom prst="rect">
            <a:avLst/>
          </a:prstGeom>
          <a:noFill/>
          <a:ln/>
        </p:spPr>
        <p:txBody>
          <a:bodyPr wrap="square" lIns="0" tIns="0" rIns="0" bIns="0" rtlCol="0" anchor="ctr"/>
          <a:lstStyle/>
          <a:p>
            <a:pPr marL="0" indent="0">
              <a:buNone/>
            </a:pPr>
            <a:r>
              <a:rPr lang="en-US" sz="1400" dirty="0">
                <a:solidFill>
                  <a:srgbClr val="00623B"/>
                </a:solidFill>
              </a:rPr>
              <a:t>Part 2: Choose the right solution, create a first draft, and commit to the next step.</a:t>
            </a:r>
            <a:endParaRPr lang="en-US" sz="1400" dirty="0"/>
          </a:p>
        </p:txBody>
      </p:sp>
      <p:sp>
        <p:nvSpPr>
          <p:cNvPr id="4" name="Shape 2"/>
          <p:cNvSpPr/>
          <p:nvPr/>
        </p:nvSpPr>
        <p:spPr>
          <a:xfrm>
            <a:off x="402336" y="987552"/>
            <a:ext cx="640080" cy="36576"/>
          </a:xfrm>
          <a:prstGeom prst="rect">
            <a:avLst/>
          </a:prstGeom>
          <a:solidFill>
            <a:srgbClr val="00623B"/>
          </a:solidFill>
          <a:ln w="12700">
            <a:solidFill>
              <a:srgbClr val="00623B"/>
            </a:solidFill>
            <a:prstDash val="solid"/>
          </a:ln>
        </p:spPr>
        <p:txBody>
          <a:bodyPr/>
          <a:lstStyle/>
          <a:p>
            <a:endParaRPr lang="en-US"/>
          </a:p>
        </p:txBody>
      </p:sp>
      <p:sp>
        <p:nvSpPr>
          <p:cNvPr id="5" name="Shape 3"/>
          <p:cNvSpPr/>
          <p:nvPr/>
        </p:nvSpPr>
        <p:spPr>
          <a:xfrm>
            <a:off x="411480" y="1225296"/>
            <a:ext cx="3657600" cy="5321808"/>
          </a:xfrm>
          <a:prstGeom prst="roundRect">
            <a:avLst>
              <a:gd name="adj" fmla="val 2000"/>
            </a:avLst>
          </a:prstGeom>
          <a:solidFill>
            <a:srgbClr val="FCFAFE"/>
          </a:solidFill>
          <a:ln w="13970">
            <a:solidFill>
              <a:srgbClr val="56358B"/>
            </a:solidFill>
            <a:prstDash val="solid"/>
          </a:ln>
        </p:spPr>
        <p:txBody>
          <a:bodyPr/>
          <a:lstStyle/>
          <a:p>
            <a:endParaRPr lang="en-US"/>
          </a:p>
        </p:txBody>
      </p:sp>
      <p:sp>
        <p:nvSpPr>
          <p:cNvPr id="6" name="Shape 4"/>
          <p:cNvSpPr/>
          <p:nvPr/>
        </p:nvSpPr>
        <p:spPr>
          <a:xfrm>
            <a:off x="556260" y="1417320"/>
            <a:ext cx="3302508" cy="438912"/>
          </a:xfrm>
          <a:prstGeom prst="roundRect">
            <a:avLst>
              <a:gd name="adj" fmla="val 16667"/>
            </a:avLst>
          </a:prstGeom>
          <a:solidFill>
            <a:srgbClr val="F2ECF8"/>
          </a:solidFill>
          <a:ln w="15240">
            <a:solidFill>
              <a:srgbClr val="56358B"/>
            </a:solidFill>
            <a:prstDash val="solid"/>
          </a:ln>
        </p:spPr>
        <p:txBody>
          <a:bodyPr/>
          <a:lstStyle/>
          <a:p>
            <a:endParaRPr lang="en-US"/>
          </a:p>
        </p:txBody>
      </p:sp>
      <p:sp>
        <p:nvSpPr>
          <p:cNvPr id="7" name="Shape 5"/>
          <p:cNvSpPr/>
          <p:nvPr/>
        </p:nvSpPr>
        <p:spPr>
          <a:xfrm>
            <a:off x="722376" y="1508760"/>
            <a:ext cx="256032" cy="256032"/>
          </a:xfrm>
          <a:prstGeom prst="ellipse">
            <a:avLst/>
          </a:prstGeom>
          <a:solidFill>
            <a:srgbClr val="56358B"/>
          </a:solidFill>
          <a:ln w="12700">
            <a:solidFill>
              <a:srgbClr val="56358B"/>
            </a:solidFill>
            <a:prstDash val="solid"/>
          </a:ln>
        </p:spPr>
        <p:txBody>
          <a:bodyPr/>
          <a:lstStyle/>
          <a:p>
            <a:endParaRPr lang="en-US"/>
          </a:p>
        </p:txBody>
      </p:sp>
      <p:sp>
        <p:nvSpPr>
          <p:cNvPr id="8" name="Text 6"/>
          <p:cNvSpPr/>
          <p:nvPr/>
        </p:nvSpPr>
        <p:spPr>
          <a:xfrm>
            <a:off x="722376" y="1545336"/>
            <a:ext cx="256032" cy="118872"/>
          </a:xfrm>
          <a:prstGeom prst="rect">
            <a:avLst/>
          </a:prstGeom>
          <a:noFill/>
          <a:ln/>
        </p:spPr>
        <p:txBody>
          <a:bodyPr wrap="square" lIns="0" tIns="0" rIns="0" bIns="0" rtlCol="0" anchor="ctr"/>
          <a:lstStyle/>
          <a:p>
            <a:pPr marL="0" indent="0" algn="ctr">
              <a:buNone/>
            </a:pPr>
            <a:r>
              <a:rPr lang="en-US" sz="850" b="1" dirty="0">
                <a:solidFill>
                  <a:srgbClr val="FFFFFF"/>
                </a:solidFill>
              </a:rPr>
              <a:t>3</a:t>
            </a:r>
            <a:endParaRPr lang="en-US" sz="850" dirty="0"/>
          </a:p>
        </p:txBody>
      </p:sp>
      <p:sp>
        <p:nvSpPr>
          <p:cNvPr id="9" name="Text 7"/>
          <p:cNvSpPr/>
          <p:nvPr/>
        </p:nvSpPr>
        <p:spPr>
          <a:xfrm>
            <a:off x="1051560" y="1527048"/>
            <a:ext cx="2697480" cy="182880"/>
          </a:xfrm>
          <a:prstGeom prst="rect">
            <a:avLst/>
          </a:prstGeom>
          <a:noFill/>
          <a:ln/>
        </p:spPr>
        <p:txBody>
          <a:bodyPr wrap="square" lIns="0" tIns="0" rIns="0" bIns="0" rtlCol="0" anchor="ctr"/>
          <a:lstStyle/>
          <a:p>
            <a:pPr marL="0" indent="0">
              <a:buNone/>
            </a:pPr>
            <a:r>
              <a:rPr lang="en-US" sz="1150" b="1">
                <a:solidFill>
                  <a:srgbClr val="56358B"/>
                </a:solidFill>
              </a:rPr>
              <a:t>CHOOSE THE RIGHT SOLUTION</a:t>
            </a:r>
            <a:endParaRPr lang="en-US" sz="1150" dirty="0"/>
          </a:p>
        </p:txBody>
      </p:sp>
      <p:sp>
        <p:nvSpPr>
          <p:cNvPr id="10" name="Text 8"/>
          <p:cNvSpPr/>
          <p:nvPr/>
        </p:nvSpPr>
        <p:spPr>
          <a:xfrm>
            <a:off x="586740" y="1938528"/>
            <a:ext cx="1645920" cy="146304"/>
          </a:xfrm>
          <a:prstGeom prst="rect">
            <a:avLst/>
          </a:prstGeom>
          <a:noFill/>
          <a:ln/>
        </p:spPr>
        <p:txBody>
          <a:bodyPr wrap="square" lIns="0" tIns="0" rIns="0" bIns="0" rtlCol="0" anchor="ctr"/>
          <a:lstStyle/>
          <a:p>
            <a:pPr marL="0" indent="0">
              <a:buNone/>
            </a:pPr>
            <a:r>
              <a:rPr lang="en-US" sz="1000" b="1" dirty="0">
                <a:solidFill>
                  <a:srgbClr val="56358B"/>
                </a:solidFill>
              </a:rPr>
              <a:t>Why it matters</a:t>
            </a:r>
            <a:endParaRPr lang="en-US" sz="1000" dirty="0"/>
          </a:p>
        </p:txBody>
      </p:sp>
      <p:sp>
        <p:nvSpPr>
          <p:cNvPr id="11" name="Text 9"/>
          <p:cNvSpPr/>
          <p:nvPr/>
        </p:nvSpPr>
        <p:spPr>
          <a:xfrm>
            <a:off x="685800" y="2103120"/>
            <a:ext cx="3172968" cy="301752"/>
          </a:xfrm>
          <a:prstGeom prst="rect">
            <a:avLst/>
          </a:prstGeom>
          <a:noFill/>
          <a:ln/>
        </p:spPr>
        <p:txBody>
          <a:bodyPr wrap="square" lIns="0" tIns="0" rIns="0" bIns="0" rtlCol="0" anchor="ctr">
            <a:noAutofit/>
          </a:bodyPr>
          <a:lstStyle/>
          <a:p>
            <a:pPr marL="0" indent="0">
              <a:buNone/>
            </a:pPr>
            <a:r>
              <a:rPr lang="en-US" sz="1000" dirty="0">
                <a:solidFill>
                  <a:srgbClr val="111827"/>
                </a:solidFill>
              </a:rPr>
              <a:t>Once you know the job AI should do, choose the simplest solution that helps every time.</a:t>
            </a:r>
            <a:endParaRPr lang="en-US" sz="1000" dirty="0"/>
          </a:p>
        </p:txBody>
      </p:sp>
      <p:sp>
        <p:nvSpPr>
          <p:cNvPr id="12" name="Text 10"/>
          <p:cNvSpPr/>
          <p:nvPr/>
        </p:nvSpPr>
        <p:spPr>
          <a:xfrm>
            <a:off x="586740" y="2459736"/>
            <a:ext cx="1645920" cy="146304"/>
          </a:xfrm>
          <a:prstGeom prst="rect">
            <a:avLst/>
          </a:prstGeom>
          <a:noFill/>
          <a:ln/>
        </p:spPr>
        <p:txBody>
          <a:bodyPr wrap="square" lIns="0" tIns="0" rIns="0" bIns="0" rtlCol="0" anchor="ctr"/>
          <a:lstStyle/>
          <a:p>
            <a:pPr marL="0" indent="0">
              <a:buNone/>
            </a:pPr>
            <a:r>
              <a:rPr lang="en-US" sz="1000" b="1" dirty="0">
                <a:solidFill>
                  <a:srgbClr val="56358B"/>
                </a:solidFill>
              </a:rPr>
              <a:t>What to do</a:t>
            </a:r>
            <a:endParaRPr lang="en-US" sz="1000" dirty="0"/>
          </a:p>
        </p:txBody>
      </p:sp>
      <p:sp>
        <p:nvSpPr>
          <p:cNvPr id="13" name="Text 11"/>
          <p:cNvSpPr/>
          <p:nvPr/>
        </p:nvSpPr>
        <p:spPr>
          <a:xfrm>
            <a:off x="670560" y="2557272"/>
            <a:ext cx="1645920" cy="530352"/>
          </a:xfrm>
          <a:prstGeom prst="rect">
            <a:avLst/>
          </a:prstGeom>
          <a:noFill/>
          <a:ln/>
        </p:spPr>
        <p:txBody>
          <a:bodyPr wrap="square" lIns="0" tIns="0" rIns="0" bIns="0" rtlCol="0" anchor="ctr">
            <a:normAutofit/>
          </a:bodyPr>
          <a:lstStyle/>
          <a:p>
            <a:pPr marL="0" indent="0">
              <a:buNone/>
            </a:pPr>
            <a:r>
              <a:rPr lang="en-US" sz="1000" dirty="0">
                <a:solidFill>
                  <a:srgbClr val="111827"/>
                </a:solidFill>
              </a:rPr>
              <a:t>• Choose one solution type.</a:t>
            </a:r>
            <a:endParaRPr lang="en-US" sz="1000" dirty="0"/>
          </a:p>
          <a:p>
            <a:pPr marL="0" indent="0">
              <a:buNone/>
            </a:pPr>
            <a:r>
              <a:rPr lang="en-US" sz="1000" dirty="0">
                <a:solidFill>
                  <a:srgbClr val="111827"/>
                </a:solidFill>
              </a:rPr>
              <a:t>• Start simple.</a:t>
            </a:r>
            <a:endParaRPr lang="en-US" sz="1000" dirty="0"/>
          </a:p>
          <a:p>
            <a:pPr marL="0" indent="0">
              <a:buNone/>
            </a:pPr>
            <a:r>
              <a:rPr lang="en-US" sz="1000" dirty="0">
                <a:solidFill>
                  <a:srgbClr val="111827"/>
                </a:solidFill>
              </a:rPr>
              <a:t>• Know why it fits.</a:t>
            </a:r>
            <a:endParaRPr lang="en-US" sz="1000" dirty="0"/>
          </a:p>
        </p:txBody>
      </p:sp>
      <p:sp>
        <p:nvSpPr>
          <p:cNvPr id="14" name="Text 12"/>
          <p:cNvSpPr/>
          <p:nvPr/>
        </p:nvSpPr>
        <p:spPr>
          <a:xfrm>
            <a:off x="586740" y="3195828"/>
            <a:ext cx="1371600" cy="109728"/>
          </a:xfrm>
          <a:prstGeom prst="rect">
            <a:avLst/>
          </a:prstGeom>
          <a:noFill/>
          <a:ln/>
        </p:spPr>
        <p:txBody>
          <a:bodyPr wrap="square" lIns="0" tIns="0" rIns="0" bIns="0" rtlCol="0" anchor="ctr"/>
          <a:lstStyle/>
          <a:p>
            <a:pPr marL="0" indent="0">
              <a:buNone/>
            </a:pPr>
            <a:r>
              <a:rPr lang="en-US" sz="1000" b="1" dirty="0">
                <a:solidFill>
                  <a:srgbClr val="56358B"/>
                </a:solidFill>
              </a:rPr>
              <a:t>I am creating a:</a:t>
            </a:r>
            <a:endParaRPr lang="en-US" sz="1000" dirty="0"/>
          </a:p>
        </p:txBody>
      </p:sp>
      <p:grpSp>
        <p:nvGrpSpPr>
          <p:cNvPr id="80" name="Group 79">
            <a:extLst>
              <a:ext uri="{FF2B5EF4-FFF2-40B4-BE49-F238E27FC236}">
                <a16:creationId xmlns:a16="http://schemas.microsoft.com/office/drawing/2014/main" id="{6B02D92F-7A4B-9178-7EE2-BF132B0FD912}"/>
              </a:ext>
            </a:extLst>
          </p:cNvPr>
          <p:cNvGrpSpPr/>
          <p:nvPr/>
        </p:nvGrpSpPr>
        <p:grpSpPr>
          <a:xfrm>
            <a:off x="685800" y="3345180"/>
            <a:ext cx="3006852" cy="1435608"/>
            <a:chOff x="685800" y="3185160"/>
            <a:chExt cx="3006852" cy="1435608"/>
          </a:xfrm>
        </p:grpSpPr>
        <p:grpSp>
          <p:nvGrpSpPr>
            <p:cNvPr id="79" name="Group 78">
              <a:extLst>
                <a:ext uri="{FF2B5EF4-FFF2-40B4-BE49-F238E27FC236}">
                  <a16:creationId xmlns:a16="http://schemas.microsoft.com/office/drawing/2014/main" id="{BE7D091F-10D8-D89E-23A5-916528465D9C}"/>
                </a:ext>
              </a:extLst>
            </p:cNvPr>
            <p:cNvGrpSpPr/>
            <p:nvPr/>
          </p:nvGrpSpPr>
          <p:grpSpPr>
            <a:xfrm>
              <a:off x="685800" y="3218688"/>
              <a:ext cx="73152" cy="1362456"/>
              <a:chOff x="685800" y="3142488"/>
              <a:chExt cx="73152" cy="1362456"/>
            </a:xfrm>
          </p:grpSpPr>
          <p:sp>
            <p:nvSpPr>
              <p:cNvPr id="23" name="Shape 21"/>
              <p:cNvSpPr/>
              <p:nvPr/>
            </p:nvSpPr>
            <p:spPr>
              <a:xfrm>
                <a:off x="685800" y="3986784"/>
                <a:ext cx="73152" cy="73152"/>
              </a:xfrm>
              <a:prstGeom prst="ellipse">
                <a:avLst/>
              </a:prstGeom>
              <a:solidFill>
                <a:srgbClr val="FFFFFF"/>
              </a:solidFill>
              <a:ln w="8890">
                <a:solidFill>
                  <a:srgbClr val="6B7280"/>
                </a:solidFill>
                <a:prstDash val="solid"/>
              </a:ln>
            </p:spPr>
            <p:txBody>
              <a:bodyPr/>
              <a:lstStyle/>
              <a:p>
                <a:endParaRPr lang="en-US"/>
              </a:p>
            </p:txBody>
          </p:sp>
          <p:grpSp>
            <p:nvGrpSpPr>
              <p:cNvPr id="78" name="Group 77">
                <a:extLst>
                  <a:ext uri="{FF2B5EF4-FFF2-40B4-BE49-F238E27FC236}">
                    <a16:creationId xmlns:a16="http://schemas.microsoft.com/office/drawing/2014/main" id="{FA39B520-2FE8-7E63-BFD7-DFEC2A65C3D3}"/>
                  </a:ext>
                </a:extLst>
              </p:cNvPr>
              <p:cNvGrpSpPr/>
              <p:nvPr/>
            </p:nvGrpSpPr>
            <p:grpSpPr>
              <a:xfrm>
                <a:off x="685800" y="3142488"/>
                <a:ext cx="73152" cy="1362456"/>
                <a:chOff x="685800" y="3134868"/>
                <a:chExt cx="73152" cy="1362456"/>
              </a:xfrm>
            </p:grpSpPr>
            <p:sp>
              <p:nvSpPr>
                <p:cNvPr id="21" name="Shape 19"/>
                <p:cNvSpPr/>
                <p:nvPr/>
              </p:nvSpPr>
              <p:spPr>
                <a:xfrm>
                  <a:off x="685800" y="3771900"/>
                  <a:ext cx="73152" cy="73152"/>
                </a:xfrm>
                <a:prstGeom prst="ellipse">
                  <a:avLst/>
                </a:prstGeom>
                <a:solidFill>
                  <a:srgbClr val="FFFFFF"/>
                </a:solidFill>
                <a:ln w="8890">
                  <a:solidFill>
                    <a:srgbClr val="6B7280"/>
                  </a:solidFill>
                  <a:prstDash val="solid"/>
                </a:ln>
              </p:spPr>
              <p:txBody>
                <a:bodyPr/>
                <a:lstStyle/>
                <a:p>
                  <a:endParaRPr lang="en-US"/>
                </a:p>
              </p:txBody>
            </p:sp>
            <p:grpSp>
              <p:nvGrpSpPr>
                <p:cNvPr id="77" name="Group 76">
                  <a:extLst>
                    <a:ext uri="{FF2B5EF4-FFF2-40B4-BE49-F238E27FC236}">
                      <a16:creationId xmlns:a16="http://schemas.microsoft.com/office/drawing/2014/main" id="{5DB915B4-FD12-F5AE-62C4-21BEFCE6C35A}"/>
                    </a:ext>
                  </a:extLst>
                </p:cNvPr>
                <p:cNvGrpSpPr/>
                <p:nvPr/>
              </p:nvGrpSpPr>
              <p:grpSpPr>
                <a:xfrm>
                  <a:off x="685800" y="3134868"/>
                  <a:ext cx="73152" cy="1362456"/>
                  <a:chOff x="685800" y="3127248"/>
                  <a:chExt cx="73152" cy="1362456"/>
                </a:xfrm>
              </p:grpSpPr>
              <p:sp>
                <p:nvSpPr>
                  <p:cNvPr id="15" name="Shape 13"/>
                  <p:cNvSpPr/>
                  <p:nvPr/>
                </p:nvSpPr>
                <p:spPr>
                  <a:xfrm>
                    <a:off x="685800" y="3127248"/>
                    <a:ext cx="73152" cy="73152"/>
                  </a:xfrm>
                  <a:prstGeom prst="ellipse">
                    <a:avLst/>
                  </a:prstGeom>
                  <a:solidFill>
                    <a:srgbClr val="FFFFFF"/>
                  </a:solidFill>
                  <a:ln w="8890">
                    <a:solidFill>
                      <a:srgbClr val="6B7280"/>
                    </a:solidFill>
                    <a:prstDash val="solid"/>
                  </a:ln>
                </p:spPr>
                <p:txBody>
                  <a:bodyPr/>
                  <a:lstStyle/>
                  <a:p>
                    <a:endParaRPr lang="en-US"/>
                  </a:p>
                </p:txBody>
              </p:sp>
              <p:grpSp>
                <p:nvGrpSpPr>
                  <p:cNvPr id="76" name="Group 75">
                    <a:extLst>
                      <a:ext uri="{FF2B5EF4-FFF2-40B4-BE49-F238E27FC236}">
                        <a16:creationId xmlns:a16="http://schemas.microsoft.com/office/drawing/2014/main" id="{3F08EEEE-B70A-1666-BB72-6811C489B639}"/>
                      </a:ext>
                    </a:extLst>
                  </p:cNvPr>
                  <p:cNvGrpSpPr/>
                  <p:nvPr/>
                </p:nvGrpSpPr>
                <p:grpSpPr>
                  <a:xfrm>
                    <a:off x="685800" y="3342132"/>
                    <a:ext cx="73152" cy="1147572"/>
                    <a:chOff x="685800" y="3342132"/>
                    <a:chExt cx="73152" cy="1147572"/>
                  </a:xfrm>
                </p:grpSpPr>
                <p:sp>
                  <p:nvSpPr>
                    <p:cNvPr id="17" name="Shape 15"/>
                    <p:cNvSpPr/>
                    <p:nvPr/>
                  </p:nvSpPr>
                  <p:spPr>
                    <a:xfrm>
                      <a:off x="685800" y="3342132"/>
                      <a:ext cx="73152" cy="73152"/>
                    </a:xfrm>
                    <a:prstGeom prst="ellipse">
                      <a:avLst/>
                    </a:prstGeom>
                    <a:solidFill>
                      <a:srgbClr val="FFFFFF"/>
                    </a:solidFill>
                    <a:ln w="8890">
                      <a:solidFill>
                        <a:srgbClr val="6B7280"/>
                      </a:solidFill>
                      <a:prstDash val="solid"/>
                    </a:ln>
                  </p:spPr>
                  <p:txBody>
                    <a:bodyPr/>
                    <a:lstStyle/>
                    <a:p>
                      <a:endParaRPr lang="en-US"/>
                    </a:p>
                  </p:txBody>
                </p:sp>
                <p:sp>
                  <p:nvSpPr>
                    <p:cNvPr id="19" name="Shape 17"/>
                    <p:cNvSpPr/>
                    <p:nvPr/>
                  </p:nvSpPr>
                  <p:spPr>
                    <a:xfrm>
                      <a:off x="685800" y="3557016"/>
                      <a:ext cx="73152" cy="73152"/>
                    </a:xfrm>
                    <a:prstGeom prst="ellipse">
                      <a:avLst/>
                    </a:prstGeom>
                    <a:solidFill>
                      <a:srgbClr val="FFFFFF"/>
                    </a:solidFill>
                    <a:ln w="8890">
                      <a:solidFill>
                        <a:srgbClr val="6B7280"/>
                      </a:solidFill>
                      <a:prstDash val="solid"/>
                    </a:ln>
                  </p:spPr>
                  <p:txBody>
                    <a:bodyPr/>
                    <a:lstStyle/>
                    <a:p>
                      <a:endParaRPr lang="en-US"/>
                    </a:p>
                  </p:txBody>
                </p:sp>
                <p:sp>
                  <p:nvSpPr>
                    <p:cNvPr id="25" name="Shape 23"/>
                    <p:cNvSpPr/>
                    <p:nvPr/>
                  </p:nvSpPr>
                  <p:spPr>
                    <a:xfrm>
                      <a:off x="685800" y="4201668"/>
                      <a:ext cx="73152" cy="73152"/>
                    </a:xfrm>
                    <a:prstGeom prst="ellipse">
                      <a:avLst/>
                    </a:prstGeom>
                    <a:solidFill>
                      <a:srgbClr val="FFFFFF"/>
                    </a:solidFill>
                    <a:ln w="8890">
                      <a:solidFill>
                        <a:srgbClr val="6B7280"/>
                      </a:solidFill>
                      <a:prstDash val="solid"/>
                    </a:ln>
                  </p:spPr>
                  <p:txBody>
                    <a:bodyPr/>
                    <a:lstStyle/>
                    <a:p>
                      <a:endParaRPr lang="en-US"/>
                    </a:p>
                  </p:txBody>
                </p:sp>
                <p:sp>
                  <p:nvSpPr>
                    <p:cNvPr id="27" name="Shape 25"/>
                    <p:cNvSpPr/>
                    <p:nvPr/>
                  </p:nvSpPr>
                  <p:spPr>
                    <a:xfrm>
                      <a:off x="685800" y="4416552"/>
                      <a:ext cx="73152" cy="73152"/>
                    </a:xfrm>
                    <a:prstGeom prst="ellipse">
                      <a:avLst/>
                    </a:prstGeom>
                    <a:solidFill>
                      <a:srgbClr val="FFFFFF"/>
                    </a:solidFill>
                    <a:ln w="8890">
                      <a:solidFill>
                        <a:srgbClr val="6B7280"/>
                      </a:solidFill>
                      <a:prstDash val="solid"/>
                    </a:ln>
                  </p:spPr>
                  <p:txBody>
                    <a:bodyPr/>
                    <a:lstStyle/>
                    <a:p>
                      <a:endParaRPr lang="en-US"/>
                    </a:p>
                  </p:txBody>
                </p:sp>
              </p:grpSp>
            </p:grpSp>
          </p:grpSp>
        </p:grpSp>
        <p:grpSp>
          <p:nvGrpSpPr>
            <p:cNvPr id="75" name="Group 74">
              <a:extLst>
                <a:ext uri="{FF2B5EF4-FFF2-40B4-BE49-F238E27FC236}">
                  <a16:creationId xmlns:a16="http://schemas.microsoft.com/office/drawing/2014/main" id="{B5789C30-DED5-5B49-C3BA-333A85A4FA39}"/>
                </a:ext>
              </a:extLst>
            </p:cNvPr>
            <p:cNvGrpSpPr/>
            <p:nvPr/>
          </p:nvGrpSpPr>
          <p:grpSpPr>
            <a:xfrm>
              <a:off x="812292" y="3185160"/>
              <a:ext cx="2880360" cy="1435608"/>
              <a:chOff x="804672" y="3108960"/>
              <a:chExt cx="2880360" cy="1435608"/>
            </a:xfrm>
          </p:grpSpPr>
          <p:sp>
            <p:nvSpPr>
              <p:cNvPr id="16" name="Text 14"/>
              <p:cNvSpPr/>
              <p:nvPr/>
            </p:nvSpPr>
            <p:spPr>
              <a:xfrm>
                <a:off x="804672" y="3108960"/>
                <a:ext cx="2880360" cy="146304"/>
              </a:xfrm>
              <a:prstGeom prst="rect">
                <a:avLst/>
              </a:prstGeom>
              <a:noFill/>
              <a:ln/>
            </p:spPr>
            <p:txBody>
              <a:bodyPr wrap="square" lIns="0" tIns="0" rIns="0" bIns="0" rtlCol="0" anchor="ctr">
                <a:noAutofit/>
              </a:bodyPr>
              <a:lstStyle/>
              <a:p>
                <a:pPr marL="0" indent="0">
                  <a:buNone/>
                </a:pPr>
                <a:r>
                  <a:rPr lang="en-US" sz="900" dirty="0">
                    <a:solidFill>
                      <a:srgbClr val="111827"/>
                    </a:solidFill>
                  </a:rPr>
                  <a:t>Prompt — repeat the same thinking</a:t>
                </a:r>
                <a:endParaRPr lang="en-US" sz="900" dirty="0"/>
              </a:p>
            </p:txBody>
          </p:sp>
          <p:sp>
            <p:nvSpPr>
              <p:cNvPr id="18" name="Text 16"/>
              <p:cNvSpPr/>
              <p:nvPr/>
            </p:nvSpPr>
            <p:spPr>
              <a:xfrm>
                <a:off x="804672" y="3323844"/>
                <a:ext cx="2880360" cy="146304"/>
              </a:xfrm>
              <a:prstGeom prst="rect">
                <a:avLst/>
              </a:prstGeom>
              <a:noFill/>
              <a:ln/>
            </p:spPr>
            <p:txBody>
              <a:bodyPr wrap="square" lIns="0" tIns="0" rIns="0" bIns="0" rtlCol="0" anchor="ctr">
                <a:noAutofit/>
              </a:bodyPr>
              <a:lstStyle/>
              <a:p>
                <a:pPr marL="0" indent="0">
                  <a:buNone/>
                </a:pPr>
                <a:r>
                  <a:rPr lang="en-US" sz="900" dirty="0">
                    <a:solidFill>
                      <a:srgbClr val="111827"/>
                    </a:solidFill>
                  </a:rPr>
                  <a:t>Template — same format each time</a:t>
                </a:r>
                <a:endParaRPr lang="en-US" sz="900" dirty="0"/>
              </a:p>
            </p:txBody>
          </p:sp>
          <p:sp>
            <p:nvSpPr>
              <p:cNvPr id="20" name="Text 18"/>
              <p:cNvSpPr/>
              <p:nvPr/>
            </p:nvSpPr>
            <p:spPr>
              <a:xfrm>
                <a:off x="804672" y="3538728"/>
                <a:ext cx="2880360" cy="146304"/>
              </a:xfrm>
              <a:prstGeom prst="rect">
                <a:avLst/>
              </a:prstGeom>
              <a:noFill/>
              <a:ln/>
            </p:spPr>
            <p:txBody>
              <a:bodyPr wrap="square" lIns="0" tIns="0" rIns="0" bIns="0" rtlCol="0" anchor="ctr">
                <a:noAutofit/>
              </a:bodyPr>
              <a:lstStyle/>
              <a:p>
                <a:pPr marL="0" indent="0">
                  <a:buNone/>
                </a:pPr>
                <a:r>
                  <a:rPr lang="en-US" sz="900" dirty="0">
                    <a:solidFill>
                      <a:srgbClr val="111827"/>
                    </a:solidFill>
                  </a:rPr>
                  <a:t>Checklist / SOP — repeatable steps</a:t>
                </a:r>
                <a:endParaRPr lang="en-US" sz="900" dirty="0"/>
              </a:p>
            </p:txBody>
          </p:sp>
          <p:sp>
            <p:nvSpPr>
              <p:cNvPr id="22" name="Text 20"/>
              <p:cNvSpPr/>
              <p:nvPr/>
            </p:nvSpPr>
            <p:spPr>
              <a:xfrm>
                <a:off x="804672" y="3753612"/>
                <a:ext cx="2880360" cy="146304"/>
              </a:xfrm>
              <a:prstGeom prst="rect">
                <a:avLst/>
              </a:prstGeom>
              <a:noFill/>
              <a:ln/>
            </p:spPr>
            <p:txBody>
              <a:bodyPr wrap="square" lIns="0" tIns="0" rIns="0" bIns="0" rtlCol="0" anchor="ctr">
                <a:noAutofit/>
              </a:bodyPr>
              <a:lstStyle/>
              <a:p>
                <a:pPr marL="0" indent="0">
                  <a:buNone/>
                </a:pPr>
                <a:r>
                  <a:rPr lang="en-US" sz="900" dirty="0">
                    <a:solidFill>
                      <a:srgbClr val="111827"/>
                    </a:solidFill>
                  </a:rPr>
                  <a:t>Automation — repetitive steps happen automatically</a:t>
                </a:r>
                <a:endParaRPr lang="en-US" sz="900" dirty="0"/>
              </a:p>
            </p:txBody>
          </p:sp>
          <p:sp>
            <p:nvSpPr>
              <p:cNvPr id="24" name="Text 22"/>
              <p:cNvSpPr/>
              <p:nvPr/>
            </p:nvSpPr>
            <p:spPr>
              <a:xfrm>
                <a:off x="804672" y="3968496"/>
                <a:ext cx="2880360" cy="146304"/>
              </a:xfrm>
              <a:prstGeom prst="rect">
                <a:avLst/>
              </a:prstGeom>
              <a:noFill/>
              <a:ln/>
            </p:spPr>
            <p:txBody>
              <a:bodyPr wrap="square" lIns="0" tIns="0" rIns="0" bIns="0" rtlCol="0" anchor="ctr">
                <a:noAutofit/>
              </a:bodyPr>
              <a:lstStyle/>
              <a:p>
                <a:pPr marL="0" indent="0">
                  <a:buNone/>
                </a:pPr>
                <a:r>
                  <a:rPr lang="en-US" sz="900" dirty="0">
                    <a:solidFill>
                      <a:srgbClr val="111827"/>
                    </a:solidFill>
                  </a:rPr>
                  <a:t>Dashboard / Tool — visualize or track information</a:t>
                </a:r>
                <a:endParaRPr lang="en-US" sz="900" dirty="0"/>
              </a:p>
            </p:txBody>
          </p:sp>
          <p:sp>
            <p:nvSpPr>
              <p:cNvPr id="26" name="Text 24"/>
              <p:cNvSpPr/>
              <p:nvPr/>
            </p:nvSpPr>
            <p:spPr>
              <a:xfrm>
                <a:off x="804672" y="4183380"/>
                <a:ext cx="2880360" cy="146304"/>
              </a:xfrm>
              <a:prstGeom prst="rect">
                <a:avLst/>
              </a:prstGeom>
              <a:noFill/>
              <a:ln/>
            </p:spPr>
            <p:txBody>
              <a:bodyPr wrap="square" lIns="0" tIns="0" rIns="0" bIns="0" rtlCol="0" anchor="ctr">
                <a:noAutofit/>
              </a:bodyPr>
              <a:lstStyle/>
              <a:p>
                <a:pPr marL="0" indent="0">
                  <a:buNone/>
                </a:pPr>
                <a:r>
                  <a:rPr lang="en-US" sz="900" dirty="0">
                    <a:solidFill>
                      <a:srgbClr val="111827"/>
                    </a:solidFill>
                  </a:rPr>
                  <a:t>Custom GPT — specialized AI assistant</a:t>
                </a:r>
                <a:endParaRPr lang="en-US" sz="900" dirty="0"/>
              </a:p>
            </p:txBody>
          </p:sp>
          <p:sp>
            <p:nvSpPr>
              <p:cNvPr id="28" name="Text 26"/>
              <p:cNvSpPr/>
              <p:nvPr/>
            </p:nvSpPr>
            <p:spPr>
              <a:xfrm>
                <a:off x="804672" y="4398264"/>
                <a:ext cx="2880360" cy="146304"/>
              </a:xfrm>
              <a:prstGeom prst="rect">
                <a:avLst/>
              </a:prstGeom>
              <a:noFill/>
              <a:ln/>
            </p:spPr>
            <p:txBody>
              <a:bodyPr wrap="square" lIns="0" tIns="0" rIns="0" bIns="0" rtlCol="0" anchor="ctr">
                <a:normAutofit/>
              </a:bodyPr>
              <a:lstStyle/>
              <a:p>
                <a:pPr marL="0" indent="0">
                  <a:buNone/>
                </a:pPr>
                <a:r>
                  <a:rPr lang="en-US" sz="900" dirty="0">
                    <a:solidFill>
                      <a:srgbClr val="111827"/>
                    </a:solidFill>
                  </a:rPr>
                  <a:t>Other</a:t>
                </a:r>
                <a:endParaRPr lang="en-US" sz="900" dirty="0"/>
              </a:p>
            </p:txBody>
          </p:sp>
        </p:grpSp>
      </p:grpSp>
      <p:sp>
        <p:nvSpPr>
          <p:cNvPr id="29" name="Text 27"/>
          <p:cNvSpPr/>
          <p:nvPr/>
        </p:nvSpPr>
        <p:spPr>
          <a:xfrm>
            <a:off x="586740" y="4869180"/>
            <a:ext cx="2971800" cy="109728"/>
          </a:xfrm>
          <a:prstGeom prst="rect">
            <a:avLst/>
          </a:prstGeom>
          <a:noFill/>
          <a:ln/>
        </p:spPr>
        <p:txBody>
          <a:bodyPr wrap="square" lIns="0" tIns="0" rIns="0" bIns="0" rtlCol="0" anchor="ctr"/>
          <a:lstStyle/>
          <a:p>
            <a:pPr marL="0" indent="0">
              <a:buNone/>
            </a:pPr>
            <a:r>
              <a:rPr lang="en-US" sz="1000" b="1" dirty="0">
                <a:solidFill>
                  <a:srgbClr val="56358B"/>
                </a:solidFill>
              </a:rPr>
              <a:t>Why is this the right solution?</a:t>
            </a:r>
            <a:endParaRPr lang="en-US" sz="1000" dirty="0"/>
          </a:p>
        </p:txBody>
      </p:sp>
      <p:sp>
        <p:nvSpPr>
          <p:cNvPr id="30" name="Shape 28"/>
          <p:cNvSpPr/>
          <p:nvPr/>
        </p:nvSpPr>
        <p:spPr>
          <a:xfrm>
            <a:off x="556260" y="5015484"/>
            <a:ext cx="3284220" cy="853440"/>
          </a:xfrm>
          <a:prstGeom prst="roundRect">
            <a:avLst>
              <a:gd name="adj" fmla="val 9091"/>
            </a:avLst>
          </a:prstGeom>
          <a:solidFill>
            <a:srgbClr val="FFFFFF"/>
          </a:solidFill>
          <a:ln w="10160">
            <a:solidFill>
              <a:srgbClr val="56358B">
                <a:alpha val="85000"/>
              </a:srgbClr>
            </a:solidFill>
            <a:prstDash val="solid"/>
          </a:ln>
        </p:spPr>
        <p:txBody>
          <a:bodyPr/>
          <a:lstStyle/>
          <a:p>
            <a:endParaRPr lang="en-US" sz="1000" dirty="0"/>
          </a:p>
        </p:txBody>
      </p:sp>
      <p:grpSp>
        <p:nvGrpSpPr>
          <p:cNvPr id="81" name="Group 80">
            <a:extLst>
              <a:ext uri="{FF2B5EF4-FFF2-40B4-BE49-F238E27FC236}">
                <a16:creationId xmlns:a16="http://schemas.microsoft.com/office/drawing/2014/main" id="{CF033DF3-D4E8-48B8-D420-1224A1B518F0}"/>
              </a:ext>
            </a:extLst>
          </p:cNvPr>
          <p:cNvGrpSpPr/>
          <p:nvPr/>
        </p:nvGrpSpPr>
        <p:grpSpPr>
          <a:xfrm>
            <a:off x="556260" y="5990844"/>
            <a:ext cx="3284220" cy="438912"/>
            <a:chOff x="556260" y="5724144"/>
            <a:chExt cx="3284220" cy="438912"/>
          </a:xfrm>
        </p:grpSpPr>
        <p:sp>
          <p:nvSpPr>
            <p:cNvPr id="31" name="Shape 29"/>
            <p:cNvSpPr/>
            <p:nvPr/>
          </p:nvSpPr>
          <p:spPr>
            <a:xfrm>
              <a:off x="556260" y="5724144"/>
              <a:ext cx="3284220" cy="438912"/>
            </a:xfrm>
            <a:prstGeom prst="roundRect">
              <a:avLst>
                <a:gd name="adj" fmla="val 12500"/>
              </a:avLst>
            </a:prstGeom>
            <a:solidFill>
              <a:srgbClr val="F2ECF8"/>
            </a:solidFill>
            <a:ln w="12700">
              <a:solidFill>
                <a:srgbClr val="56358B">
                  <a:alpha val="80000"/>
                </a:srgbClr>
              </a:solidFill>
              <a:prstDash val="solid"/>
            </a:ln>
          </p:spPr>
          <p:txBody>
            <a:bodyPr/>
            <a:lstStyle/>
            <a:p>
              <a:endParaRPr lang="en-US"/>
            </a:p>
          </p:txBody>
        </p:sp>
        <p:sp>
          <p:nvSpPr>
            <p:cNvPr id="32" name="Text 30"/>
            <p:cNvSpPr/>
            <p:nvPr/>
          </p:nvSpPr>
          <p:spPr>
            <a:xfrm>
              <a:off x="758952" y="5824728"/>
              <a:ext cx="320040" cy="109728"/>
            </a:xfrm>
            <a:prstGeom prst="rect">
              <a:avLst/>
            </a:prstGeom>
            <a:noFill/>
            <a:ln/>
          </p:spPr>
          <p:txBody>
            <a:bodyPr wrap="square" lIns="0" tIns="0" rIns="0" bIns="0" rtlCol="0" anchor="ctr"/>
            <a:lstStyle/>
            <a:p>
              <a:pPr marL="0" indent="0">
                <a:buNone/>
              </a:pPr>
              <a:r>
                <a:rPr lang="en-US" sz="1000" b="1" dirty="0">
                  <a:solidFill>
                    <a:srgbClr val="56358B"/>
                  </a:solidFill>
                </a:rPr>
                <a:t>TIP</a:t>
              </a:r>
              <a:endParaRPr lang="en-US" sz="1000" dirty="0"/>
            </a:p>
          </p:txBody>
        </p:sp>
        <p:sp>
          <p:nvSpPr>
            <p:cNvPr id="33" name="Text 31"/>
            <p:cNvSpPr/>
            <p:nvPr/>
          </p:nvSpPr>
          <p:spPr>
            <a:xfrm>
              <a:off x="998220" y="5797296"/>
              <a:ext cx="2717292" cy="274320"/>
            </a:xfrm>
            <a:prstGeom prst="rect">
              <a:avLst/>
            </a:prstGeom>
            <a:noFill/>
            <a:ln/>
          </p:spPr>
          <p:txBody>
            <a:bodyPr wrap="square" lIns="0" tIns="0" rIns="0" bIns="0" rtlCol="0" anchor="ctr">
              <a:noAutofit/>
            </a:bodyPr>
            <a:lstStyle/>
            <a:p>
              <a:pPr marL="0" indent="0">
                <a:buNone/>
              </a:pPr>
              <a:r>
                <a:rPr lang="en-US" sz="1000" dirty="0">
                  <a:solidFill>
                    <a:srgbClr val="111827"/>
                  </a:solidFill>
                </a:rPr>
                <a:t>Start with the simplest solution. A good prompt or template often creates the biggest improvement.</a:t>
              </a:r>
              <a:endParaRPr lang="en-US" sz="1000" dirty="0"/>
            </a:p>
          </p:txBody>
        </p:sp>
      </p:grpSp>
      <p:sp>
        <p:nvSpPr>
          <p:cNvPr id="34" name="Shape 32"/>
          <p:cNvSpPr/>
          <p:nvPr/>
        </p:nvSpPr>
        <p:spPr>
          <a:xfrm>
            <a:off x="4297680" y="1225296"/>
            <a:ext cx="3657600" cy="5321808"/>
          </a:xfrm>
          <a:prstGeom prst="roundRect">
            <a:avLst>
              <a:gd name="adj" fmla="val 2000"/>
            </a:avLst>
          </a:prstGeom>
          <a:solidFill>
            <a:srgbClr val="FFFDFB"/>
          </a:solidFill>
          <a:ln w="13970">
            <a:solidFill>
              <a:srgbClr val="D95F02"/>
            </a:solidFill>
            <a:prstDash val="solid"/>
          </a:ln>
        </p:spPr>
        <p:txBody>
          <a:bodyPr/>
          <a:lstStyle/>
          <a:p>
            <a:endParaRPr lang="en-US"/>
          </a:p>
        </p:txBody>
      </p:sp>
      <p:sp>
        <p:nvSpPr>
          <p:cNvPr id="35" name="Shape 33"/>
          <p:cNvSpPr/>
          <p:nvPr/>
        </p:nvSpPr>
        <p:spPr>
          <a:xfrm>
            <a:off x="4453128" y="1417320"/>
            <a:ext cx="3246120" cy="438912"/>
          </a:xfrm>
          <a:prstGeom prst="roundRect">
            <a:avLst>
              <a:gd name="adj" fmla="val 16667"/>
            </a:avLst>
          </a:prstGeom>
          <a:solidFill>
            <a:srgbClr val="FFF1E6"/>
          </a:solidFill>
          <a:ln w="15240">
            <a:solidFill>
              <a:srgbClr val="D95F02"/>
            </a:solidFill>
            <a:prstDash val="solid"/>
          </a:ln>
        </p:spPr>
        <p:txBody>
          <a:bodyPr/>
          <a:lstStyle/>
          <a:p>
            <a:endParaRPr lang="en-US"/>
          </a:p>
        </p:txBody>
      </p:sp>
      <p:sp>
        <p:nvSpPr>
          <p:cNvPr id="36" name="Shape 34"/>
          <p:cNvSpPr/>
          <p:nvPr/>
        </p:nvSpPr>
        <p:spPr>
          <a:xfrm>
            <a:off x="4562856" y="1508760"/>
            <a:ext cx="256032" cy="256032"/>
          </a:xfrm>
          <a:prstGeom prst="ellipse">
            <a:avLst/>
          </a:prstGeom>
          <a:solidFill>
            <a:srgbClr val="D95F02"/>
          </a:solidFill>
          <a:ln w="12700">
            <a:solidFill>
              <a:srgbClr val="D95F02"/>
            </a:solidFill>
            <a:prstDash val="solid"/>
          </a:ln>
        </p:spPr>
        <p:txBody>
          <a:bodyPr/>
          <a:lstStyle/>
          <a:p>
            <a:endParaRPr lang="en-US"/>
          </a:p>
        </p:txBody>
      </p:sp>
      <p:sp>
        <p:nvSpPr>
          <p:cNvPr id="37" name="Text 35"/>
          <p:cNvSpPr/>
          <p:nvPr/>
        </p:nvSpPr>
        <p:spPr>
          <a:xfrm>
            <a:off x="4562856" y="1545336"/>
            <a:ext cx="256032" cy="118872"/>
          </a:xfrm>
          <a:prstGeom prst="rect">
            <a:avLst/>
          </a:prstGeom>
          <a:noFill/>
          <a:ln/>
        </p:spPr>
        <p:txBody>
          <a:bodyPr wrap="square" lIns="0" tIns="0" rIns="0" bIns="0" rtlCol="0" anchor="ctr"/>
          <a:lstStyle/>
          <a:p>
            <a:pPr marL="0" indent="0" algn="ctr">
              <a:buNone/>
            </a:pPr>
            <a:r>
              <a:rPr lang="en-US" sz="850" b="1" dirty="0">
                <a:solidFill>
                  <a:srgbClr val="FFFFFF"/>
                </a:solidFill>
              </a:rPr>
              <a:t>4</a:t>
            </a:r>
            <a:endParaRPr lang="en-US" sz="850" dirty="0"/>
          </a:p>
        </p:txBody>
      </p:sp>
      <p:sp>
        <p:nvSpPr>
          <p:cNvPr id="38" name="Text 36"/>
          <p:cNvSpPr/>
          <p:nvPr/>
        </p:nvSpPr>
        <p:spPr>
          <a:xfrm>
            <a:off x="4892040" y="1527048"/>
            <a:ext cx="2697480" cy="182880"/>
          </a:xfrm>
          <a:prstGeom prst="rect">
            <a:avLst/>
          </a:prstGeom>
          <a:noFill/>
          <a:ln/>
        </p:spPr>
        <p:txBody>
          <a:bodyPr wrap="square" lIns="0" tIns="0" rIns="0" bIns="0" rtlCol="0" anchor="ctr"/>
          <a:lstStyle/>
          <a:p>
            <a:pPr marL="0" indent="0">
              <a:buNone/>
            </a:pPr>
            <a:r>
              <a:rPr lang="en-US" sz="1150" b="1" dirty="0">
                <a:solidFill>
                  <a:srgbClr val="D95F02"/>
                </a:solidFill>
              </a:rPr>
              <a:t>CREATE YOUR FIRST SOLUTION</a:t>
            </a:r>
            <a:endParaRPr lang="en-US" sz="1150" dirty="0"/>
          </a:p>
        </p:txBody>
      </p:sp>
      <p:sp>
        <p:nvSpPr>
          <p:cNvPr id="39" name="Text 37"/>
          <p:cNvSpPr/>
          <p:nvPr/>
        </p:nvSpPr>
        <p:spPr>
          <a:xfrm>
            <a:off x="4450080" y="1938528"/>
            <a:ext cx="1691640" cy="146304"/>
          </a:xfrm>
          <a:prstGeom prst="rect">
            <a:avLst/>
          </a:prstGeom>
          <a:noFill/>
          <a:ln/>
        </p:spPr>
        <p:txBody>
          <a:bodyPr wrap="square" lIns="0" tIns="0" rIns="0" bIns="0" rtlCol="0" anchor="ctr"/>
          <a:lstStyle/>
          <a:p>
            <a:pPr marL="0" indent="0">
              <a:buNone/>
            </a:pPr>
            <a:r>
              <a:rPr lang="en-US" sz="1000" b="1" dirty="0">
                <a:solidFill>
                  <a:srgbClr val="D95F02"/>
                </a:solidFill>
              </a:rPr>
              <a:t>Why it matters</a:t>
            </a:r>
            <a:endParaRPr lang="en-US" sz="1000" dirty="0"/>
          </a:p>
        </p:txBody>
      </p:sp>
      <p:sp>
        <p:nvSpPr>
          <p:cNvPr id="40" name="Text 38"/>
          <p:cNvSpPr/>
          <p:nvPr/>
        </p:nvSpPr>
        <p:spPr>
          <a:xfrm>
            <a:off x="4497324" y="2103120"/>
            <a:ext cx="3311652" cy="301752"/>
          </a:xfrm>
          <a:prstGeom prst="rect">
            <a:avLst/>
          </a:prstGeom>
          <a:noFill/>
          <a:ln/>
        </p:spPr>
        <p:txBody>
          <a:bodyPr wrap="square" lIns="0" tIns="0" rIns="0" bIns="0" rtlCol="0" anchor="ctr">
            <a:noAutofit/>
          </a:bodyPr>
          <a:lstStyle/>
          <a:p>
            <a:pPr marL="0" indent="0">
              <a:buNone/>
            </a:pPr>
            <a:r>
              <a:rPr lang="en-US" sz="1000" dirty="0">
                <a:solidFill>
                  <a:srgbClr val="111827"/>
                </a:solidFill>
              </a:rPr>
              <a:t>The canvas helps you think clearly. The AI tool helps you create.</a:t>
            </a:r>
            <a:endParaRPr lang="en-US" sz="1000" dirty="0"/>
          </a:p>
        </p:txBody>
      </p:sp>
      <p:sp>
        <p:nvSpPr>
          <p:cNvPr id="41" name="Text 39"/>
          <p:cNvSpPr/>
          <p:nvPr/>
        </p:nvSpPr>
        <p:spPr>
          <a:xfrm>
            <a:off x="4450080" y="2459736"/>
            <a:ext cx="1691640" cy="146304"/>
          </a:xfrm>
          <a:prstGeom prst="rect">
            <a:avLst/>
          </a:prstGeom>
          <a:noFill/>
          <a:ln/>
        </p:spPr>
        <p:txBody>
          <a:bodyPr wrap="square" lIns="0" tIns="0" rIns="0" bIns="0" rtlCol="0" anchor="ctr"/>
          <a:lstStyle/>
          <a:p>
            <a:pPr marL="0" indent="0">
              <a:buNone/>
            </a:pPr>
            <a:r>
              <a:rPr lang="en-US" sz="1000" b="1" dirty="0">
                <a:solidFill>
                  <a:srgbClr val="D95F02"/>
                </a:solidFill>
              </a:rPr>
              <a:t>What to do</a:t>
            </a:r>
            <a:endParaRPr lang="en-US" sz="1000" dirty="0"/>
          </a:p>
        </p:txBody>
      </p:sp>
      <p:sp>
        <p:nvSpPr>
          <p:cNvPr id="42" name="Text 40"/>
          <p:cNvSpPr/>
          <p:nvPr/>
        </p:nvSpPr>
        <p:spPr>
          <a:xfrm>
            <a:off x="4526279" y="2557272"/>
            <a:ext cx="3136603" cy="530352"/>
          </a:xfrm>
          <a:prstGeom prst="rect">
            <a:avLst/>
          </a:prstGeom>
          <a:noFill/>
          <a:ln/>
        </p:spPr>
        <p:txBody>
          <a:bodyPr wrap="square" lIns="0" tIns="0" rIns="0" bIns="0" rtlCol="0" anchor="ctr">
            <a:noAutofit/>
          </a:bodyPr>
          <a:lstStyle/>
          <a:p>
            <a:pPr marL="0" indent="0">
              <a:buNone/>
            </a:pPr>
            <a:r>
              <a:rPr lang="en-US" sz="1000" dirty="0">
                <a:solidFill>
                  <a:srgbClr val="111827"/>
                </a:solidFill>
              </a:rPr>
              <a:t>• Open an approved AI tool.</a:t>
            </a:r>
            <a:endParaRPr lang="en-US" sz="1000" dirty="0"/>
          </a:p>
          <a:p>
            <a:pPr marL="0" indent="0">
              <a:buNone/>
            </a:pPr>
            <a:r>
              <a:rPr lang="en-US" sz="1000" dirty="0">
                <a:solidFill>
                  <a:srgbClr val="111827"/>
                </a:solidFill>
              </a:rPr>
              <a:t>• Use a Quick Start prompt if needed (next page).</a:t>
            </a:r>
            <a:endParaRPr lang="en-US" sz="1000" dirty="0"/>
          </a:p>
          <a:p>
            <a:pPr marL="0" indent="0">
              <a:buNone/>
            </a:pPr>
            <a:r>
              <a:rPr lang="en-US" sz="1000" dirty="0">
                <a:solidFill>
                  <a:srgbClr val="111827"/>
                </a:solidFill>
              </a:rPr>
              <a:t>• Build and save a first draft.</a:t>
            </a:r>
            <a:endParaRPr lang="en-US" sz="1000" dirty="0"/>
          </a:p>
        </p:txBody>
      </p:sp>
      <p:sp>
        <p:nvSpPr>
          <p:cNvPr id="43" name="Text 41"/>
          <p:cNvSpPr/>
          <p:nvPr/>
        </p:nvSpPr>
        <p:spPr>
          <a:xfrm>
            <a:off x="4450080" y="3154128"/>
            <a:ext cx="1371600" cy="146304"/>
          </a:xfrm>
          <a:prstGeom prst="rect">
            <a:avLst/>
          </a:prstGeom>
          <a:noFill/>
          <a:ln/>
        </p:spPr>
        <p:txBody>
          <a:bodyPr wrap="square" lIns="0" tIns="0" rIns="0" bIns="0" rtlCol="0" anchor="ctr"/>
          <a:lstStyle/>
          <a:p>
            <a:pPr marL="0" indent="0">
              <a:buNone/>
            </a:pPr>
            <a:r>
              <a:rPr lang="en-US" sz="1000" b="1" dirty="0">
                <a:solidFill>
                  <a:srgbClr val="D95F02"/>
                </a:solidFill>
              </a:rPr>
              <a:t>Now create.</a:t>
            </a:r>
            <a:endParaRPr lang="en-US" sz="1000" dirty="0"/>
          </a:p>
        </p:txBody>
      </p:sp>
      <p:sp>
        <p:nvSpPr>
          <p:cNvPr id="44" name="Text 42"/>
          <p:cNvSpPr/>
          <p:nvPr/>
        </p:nvSpPr>
        <p:spPr>
          <a:xfrm>
            <a:off x="4440936" y="3292812"/>
            <a:ext cx="3468624" cy="1051560"/>
          </a:xfrm>
          <a:prstGeom prst="rect">
            <a:avLst/>
          </a:prstGeom>
          <a:noFill/>
          <a:ln/>
        </p:spPr>
        <p:txBody>
          <a:bodyPr wrap="square" lIns="0" tIns="0" rIns="0" bIns="0" rtlCol="0" anchor="ctr">
            <a:normAutofit/>
          </a:bodyPr>
          <a:lstStyle/>
          <a:p>
            <a:pPr marL="114300" indent="-114300">
              <a:spcBef>
                <a:spcPts val="200"/>
              </a:spcBef>
              <a:spcAft>
                <a:spcPts val="200"/>
              </a:spcAft>
              <a:buFont typeface="+mj-lt"/>
              <a:buAutoNum type="arabicPeriod"/>
            </a:pPr>
            <a:r>
              <a:rPr lang="en-US" sz="1000" dirty="0">
                <a:solidFill>
                  <a:srgbClr val="111827"/>
                </a:solidFill>
              </a:rPr>
              <a:t>Open ChatGPT, Claude, or another approved tool.</a:t>
            </a:r>
            <a:endParaRPr lang="en-US" sz="1000" dirty="0"/>
          </a:p>
          <a:p>
            <a:pPr marL="114300" indent="-114300">
              <a:spcBef>
                <a:spcPts val="200"/>
              </a:spcBef>
              <a:spcAft>
                <a:spcPts val="200"/>
              </a:spcAft>
              <a:buFont typeface="+mj-lt"/>
              <a:buAutoNum type="arabicPeriod"/>
            </a:pPr>
            <a:r>
              <a:rPr lang="en-US" sz="1000" dirty="0">
                <a:solidFill>
                  <a:srgbClr val="111827"/>
                </a:solidFill>
              </a:rPr>
              <a:t>Use one of the AI Quick Start prompts if needed.</a:t>
            </a:r>
            <a:endParaRPr lang="en-US" sz="1000" dirty="0"/>
          </a:p>
          <a:p>
            <a:pPr marL="114300" indent="-114300">
              <a:spcBef>
                <a:spcPts val="200"/>
              </a:spcBef>
              <a:spcAft>
                <a:spcPts val="200"/>
              </a:spcAft>
              <a:buFont typeface="+mj-lt"/>
              <a:buAutoNum type="arabicPeriod"/>
            </a:pPr>
            <a:r>
              <a:rPr lang="en-US" sz="1000" dirty="0">
                <a:solidFill>
                  <a:srgbClr val="111827"/>
                </a:solidFill>
              </a:rPr>
              <a:t>Build a first draft.</a:t>
            </a:r>
            <a:endParaRPr lang="en-US" sz="1000" dirty="0"/>
          </a:p>
          <a:p>
            <a:pPr marL="114300" indent="-114300">
              <a:spcBef>
                <a:spcPts val="200"/>
              </a:spcBef>
              <a:spcAft>
                <a:spcPts val="200"/>
              </a:spcAft>
              <a:buFont typeface="+mj-lt"/>
              <a:buAutoNum type="arabicPeriod"/>
            </a:pPr>
            <a:r>
              <a:rPr lang="en-US" sz="1000" dirty="0">
                <a:solidFill>
                  <a:srgbClr val="111827"/>
                </a:solidFill>
              </a:rPr>
              <a:t>Save your work.</a:t>
            </a:r>
            <a:endParaRPr lang="en-US" sz="1000" dirty="0"/>
          </a:p>
          <a:p>
            <a:pPr marL="114300" indent="-114300">
              <a:spcBef>
                <a:spcPts val="200"/>
              </a:spcBef>
              <a:spcAft>
                <a:spcPts val="200"/>
              </a:spcAft>
              <a:buFont typeface="+mj-lt"/>
              <a:buAutoNum type="arabicPeriod"/>
            </a:pPr>
            <a:r>
              <a:rPr lang="en-US" sz="1000" dirty="0">
                <a:solidFill>
                  <a:srgbClr val="111827"/>
                </a:solidFill>
              </a:rPr>
              <a:t>Be ready to share what you built.</a:t>
            </a:r>
            <a:endParaRPr lang="en-US" sz="1000" dirty="0"/>
          </a:p>
        </p:txBody>
      </p:sp>
      <p:sp>
        <p:nvSpPr>
          <p:cNvPr id="45" name="Text 43"/>
          <p:cNvSpPr/>
          <p:nvPr/>
        </p:nvSpPr>
        <p:spPr>
          <a:xfrm>
            <a:off x="4450080" y="4401453"/>
            <a:ext cx="2926080" cy="109728"/>
          </a:xfrm>
          <a:prstGeom prst="rect">
            <a:avLst/>
          </a:prstGeom>
          <a:noFill/>
          <a:ln/>
        </p:spPr>
        <p:txBody>
          <a:bodyPr wrap="square" lIns="0" tIns="0" rIns="0" bIns="0" rtlCol="0" anchor="ctr"/>
          <a:lstStyle/>
          <a:p>
            <a:pPr marL="0" indent="0">
              <a:buNone/>
            </a:pPr>
            <a:r>
              <a:rPr lang="en-US" sz="1000" b="1" dirty="0">
                <a:solidFill>
                  <a:srgbClr val="D95F02"/>
                </a:solidFill>
              </a:rPr>
              <a:t>What I created (short description to share):</a:t>
            </a:r>
            <a:endParaRPr lang="en-US" sz="1000" dirty="0"/>
          </a:p>
        </p:txBody>
      </p:sp>
      <p:sp>
        <p:nvSpPr>
          <p:cNvPr id="46" name="Shape 44"/>
          <p:cNvSpPr/>
          <p:nvPr/>
        </p:nvSpPr>
        <p:spPr>
          <a:xfrm>
            <a:off x="4396740" y="4534041"/>
            <a:ext cx="3368040" cy="871728"/>
          </a:xfrm>
          <a:prstGeom prst="roundRect">
            <a:avLst>
              <a:gd name="adj" fmla="val 10000"/>
            </a:avLst>
          </a:prstGeom>
          <a:solidFill>
            <a:srgbClr val="FFFFFF"/>
          </a:solidFill>
          <a:ln w="10160">
            <a:solidFill>
              <a:srgbClr val="D95F02">
                <a:alpha val="85000"/>
              </a:srgbClr>
            </a:solidFill>
            <a:prstDash val="solid"/>
          </a:ln>
        </p:spPr>
        <p:txBody>
          <a:bodyPr/>
          <a:lstStyle/>
          <a:p>
            <a:endParaRPr lang="en-US" sz="1000" dirty="0"/>
          </a:p>
        </p:txBody>
      </p:sp>
      <p:sp>
        <p:nvSpPr>
          <p:cNvPr id="47" name="Text 45"/>
          <p:cNvSpPr/>
          <p:nvPr/>
        </p:nvSpPr>
        <p:spPr>
          <a:xfrm>
            <a:off x="4450080" y="5439156"/>
            <a:ext cx="2926080" cy="109728"/>
          </a:xfrm>
          <a:prstGeom prst="rect">
            <a:avLst/>
          </a:prstGeom>
          <a:noFill/>
          <a:ln/>
        </p:spPr>
        <p:txBody>
          <a:bodyPr wrap="square" lIns="0" tIns="0" rIns="0" bIns="0" rtlCol="0" anchor="ctr"/>
          <a:lstStyle/>
          <a:p>
            <a:pPr marL="0" indent="0">
              <a:buNone/>
            </a:pPr>
            <a:r>
              <a:rPr lang="en-US" sz="1000" b="1" dirty="0">
                <a:solidFill>
                  <a:srgbClr val="D95F02"/>
                </a:solidFill>
              </a:rPr>
              <a:t>Where you saved it</a:t>
            </a:r>
            <a:endParaRPr lang="en-US" sz="1000" dirty="0"/>
          </a:p>
        </p:txBody>
      </p:sp>
      <p:sp>
        <p:nvSpPr>
          <p:cNvPr id="48" name="Shape 46"/>
          <p:cNvSpPr/>
          <p:nvPr/>
        </p:nvSpPr>
        <p:spPr>
          <a:xfrm>
            <a:off x="4396740" y="5615940"/>
            <a:ext cx="3368040" cy="274320"/>
          </a:xfrm>
          <a:prstGeom prst="roundRect">
            <a:avLst>
              <a:gd name="adj" fmla="val 16667"/>
            </a:avLst>
          </a:prstGeom>
          <a:solidFill>
            <a:srgbClr val="FFFFFF"/>
          </a:solidFill>
          <a:ln w="10160">
            <a:solidFill>
              <a:srgbClr val="D95F02">
                <a:alpha val="85000"/>
              </a:srgbClr>
            </a:solidFill>
            <a:prstDash val="solid"/>
          </a:ln>
        </p:spPr>
        <p:txBody>
          <a:bodyPr/>
          <a:lstStyle/>
          <a:p>
            <a:endParaRPr lang="en-US" sz="1000" dirty="0"/>
          </a:p>
        </p:txBody>
      </p:sp>
      <p:grpSp>
        <p:nvGrpSpPr>
          <p:cNvPr id="82" name="Group 81">
            <a:extLst>
              <a:ext uri="{FF2B5EF4-FFF2-40B4-BE49-F238E27FC236}">
                <a16:creationId xmlns:a16="http://schemas.microsoft.com/office/drawing/2014/main" id="{943625CD-8CCB-417F-E872-E76C5E312A38}"/>
              </a:ext>
            </a:extLst>
          </p:cNvPr>
          <p:cNvGrpSpPr/>
          <p:nvPr/>
        </p:nvGrpSpPr>
        <p:grpSpPr>
          <a:xfrm>
            <a:off x="4453128" y="5990844"/>
            <a:ext cx="3311652" cy="438912"/>
            <a:chOff x="4526280" y="5724144"/>
            <a:chExt cx="2971800" cy="438912"/>
          </a:xfrm>
        </p:grpSpPr>
        <p:sp>
          <p:nvSpPr>
            <p:cNvPr id="49" name="Shape 47"/>
            <p:cNvSpPr/>
            <p:nvPr/>
          </p:nvSpPr>
          <p:spPr>
            <a:xfrm>
              <a:off x="4526280" y="5724144"/>
              <a:ext cx="2971800" cy="438912"/>
            </a:xfrm>
            <a:prstGeom prst="roundRect">
              <a:avLst>
                <a:gd name="adj" fmla="val 12500"/>
              </a:avLst>
            </a:prstGeom>
            <a:solidFill>
              <a:srgbClr val="FFF1E6"/>
            </a:solidFill>
            <a:ln w="12700">
              <a:solidFill>
                <a:srgbClr val="D95F02">
                  <a:alpha val="80000"/>
                </a:srgbClr>
              </a:solidFill>
              <a:prstDash val="solid"/>
            </a:ln>
          </p:spPr>
          <p:txBody>
            <a:bodyPr/>
            <a:lstStyle/>
            <a:p>
              <a:endParaRPr lang="en-US"/>
            </a:p>
          </p:txBody>
        </p:sp>
        <p:sp>
          <p:nvSpPr>
            <p:cNvPr id="50" name="Text 48"/>
            <p:cNvSpPr/>
            <p:nvPr/>
          </p:nvSpPr>
          <p:spPr>
            <a:xfrm>
              <a:off x="4599432" y="5824728"/>
              <a:ext cx="320040" cy="109728"/>
            </a:xfrm>
            <a:prstGeom prst="rect">
              <a:avLst/>
            </a:prstGeom>
            <a:noFill/>
            <a:ln/>
          </p:spPr>
          <p:txBody>
            <a:bodyPr wrap="square" lIns="0" tIns="0" rIns="0" bIns="0" rtlCol="0" anchor="ctr"/>
            <a:lstStyle/>
            <a:p>
              <a:pPr marL="0" indent="0">
                <a:buNone/>
              </a:pPr>
              <a:r>
                <a:rPr lang="en-US" sz="1000" b="1" dirty="0">
                  <a:solidFill>
                    <a:srgbClr val="D95F02"/>
                  </a:solidFill>
                </a:rPr>
                <a:t>TIP</a:t>
              </a:r>
              <a:endParaRPr lang="en-US" sz="1000" dirty="0"/>
            </a:p>
          </p:txBody>
        </p:sp>
        <p:sp>
          <p:nvSpPr>
            <p:cNvPr id="51" name="Text 49"/>
            <p:cNvSpPr/>
            <p:nvPr/>
          </p:nvSpPr>
          <p:spPr>
            <a:xfrm>
              <a:off x="4937760" y="5797296"/>
              <a:ext cx="2468880" cy="274320"/>
            </a:xfrm>
            <a:prstGeom prst="rect">
              <a:avLst/>
            </a:prstGeom>
            <a:noFill/>
            <a:ln/>
          </p:spPr>
          <p:txBody>
            <a:bodyPr wrap="square" lIns="0" tIns="0" rIns="0" bIns="0" rtlCol="0" anchor="ctr">
              <a:noAutofit/>
            </a:bodyPr>
            <a:lstStyle/>
            <a:p>
              <a:pPr marL="0" indent="0">
                <a:buNone/>
              </a:pPr>
              <a:r>
                <a:rPr lang="en-US" sz="1000" dirty="0">
                  <a:solidFill>
                    <a:srgbClr val="111827"/>
                  </a:solidFill>
                </a:rPr>
                <a:t>Good enough is enough. The first draft gets better through real use.</a:t>
              </a:r>
              <a:endParaRPr lang="en-US" sz="1000" dirty="0"/>
            </a:p>
          </p:txBody>
        </p:sp>
      </p:grpSp>
      <p:sp>
        <p:nvSpPr>
          <p:cNvPr id="52" name="Shape 50"/>
          <p:cNvSpPr/>
          <p:nvPr/>
        </p:nvSpPr>
        <p:spPr>
          <a:xfrm>
            <a:off x="8092440" y="1225296"/>
            <a:ext cx="3657600" cy="5321808"/>
          </a:xfrm>
          <a:prstGeom prst="roundRect">
            <a:avLst>
              <a:gd name="adj" fmla="val 2000"/>
            </a:avLst>
          </a:prstGeom>
          <a:solidFill>
            <a:srgbClr val="F8FCF9"/>
          </a:solidFill>
          <a:ln w="13970">
            <a:solidFill>
              <a:srgbClr val="00623B"/>
            </a:solidFill>
            <a:prstDash val="solid"/>
          </a:ln>
        </p:spPr>
        <p:txBody>
          <a:bodyPr/>
          <a:lstStyle/>
          <a:p>
            <a:endParaRPr lang="en-US"/>
          </a:p>
        </p:txBody>
      </p:sp>
      <p:sp>
        <p:nvSpPr>
          <p:cNvPr id="53" name="Shape 51"/>
          <p:cNvSpPr/>
          <p:nvPr/>
        </p:nvSpPr>
        <p:spPr>
          <a:xfrm>
            <a:off x="8293608" y="1417320"/>
            <a:ext cx="3246120" cy="438912"/>
          </a:xfrm>
          <a:prstGeom prst="roundRect">
            <a:avLst>
              <a:gd name="adj" fmla="val 16667"/>
            </a:avLst>
          </a:prstGeom>
          <a:solidFill>
            <a:srgbClr val="EAF4EE"/>
          </a:solidFill>
          <a:ln w="15240">
            <a:solidFill>
              <a:srgbClr val="00623B"/>
            </a:solidFill>
            <a:prstDash val="solid"/>
          </a:ln>
        </p:spPr>
        <p:txBody>
          <a:bodyPr/>
          <a:lstStyle/>
          <a:p>
            <a:endParaRPr lang="en-US"/>
          </a:p>
        </p:txBody>
      </p:sp>
      <p:sp>
        <p:nvSpPr>
          <p:cNvPr id="54" name="Shape 52"/>
          <p:cNvSpPr/>
          <p:nvPr/>
        </p:nvSpPr>
        <p:spPr>
          <a:xfrm>
            <a:off x="8403336" y="1508760"/>
            <a:ext cx="256032" cy="256032"/>
          </a:xfrm>
          <a:prstGeom prst="ellipse">
            <a:avLst/>
          </a:prstGeom>
          <a:solidFill>
            <a:srgbClr val="00623B"/>
          </a:solidFill>
          <a:ln w="12700">
            <a:solidFill>
              <a:srgbClr val="00623B"/>
            </a:solidFill>
            <a:prstDash val="solid"/>
          </a:ln>
        </p:spPr>
        <p:txBody>
          <a:bodyPr/>
          <a:lstStyle/>
          <a:p>
            <a:endParaRPr lang="en-US"/>
          </a:p>
        </p:txBody>
      </p:sp>
      <p:sp>
        <p:nvSpPr>
          <p:cNvPr id="55" name="Text 53"/>
          <p:cNvSpPr/>
          <p:nvPr/>
        </p:nvSpPr>
        <p:spPr>
          <a:xfrm>
            <a:off x="8403336" y="1545336"/>
            <a:ext cx="256032" cy="118872"/>
          </a:xfrm>
          <a:prstGeom prst="rect">
            <a:avLst/>
          </a:prstGeom>
          <a:noFill/>
          <a:ln/>
        </p:spPr>
        <p:txBody>
          <a:bodyPr wrap="square" lIns="0" tIns="0" rIns="0" bIns="0" rtlCol="0" anchor="ctr"/>
          <a:lstStyle/>
          <a:p>
            <a:pPr marL="0" indent="0" algn="ctr">
              <a:buNone/>
            </a:pPr>
            <a:r>
              <a:rPr lang="en-US" sz="850" b="1" dirty="0">
                <a:solidFill>
                  <a:srgbClr val="FFFFFF"/>
                </a:solidFill>
              </a:rPr>
              <a:t>5</a:t>
            </a:r>
            <a:endParaRPr lang="en-US" sz="850" dirty="0"/>
          </a:p>
        </p:txBody>
      </p:sp>
      <p:sp>
        <p:nvSpPr>
          <p:cNvPr id="56" name="Text 54"/>
          <p:cNvSpPr/>
          <p:nvPr/>
        </p:nvSpPr>
        <p:spPr>
          <a:xfrm>
            <a:off x="8732520" y="1527048"/>
            <a:ext cx="2697480" cy="182880"/>
          </a:xfrm>
          <a:prstGeom prst="rect">
            <a:avLst/>
          </a:prstGeom>
          <a:noFill/>
          <a:ln/>
        </p:spPr>
        <p:txBody>
          <a:bodyPr wrap="square" lIns="0" tIns="0" rIns="0" bIns="0" rtlCol="0" anchor="ctr"/>
          <a:lstStyle/>
          <a:p>
            <a:pPr marL="0" indent="0">
              <a:buNone/>
            </a:pPr>
            <a:r>
              <a:rPr lang="en-US" sz="1150" b="1" dirty="0">
                <a:solidFill>
                  <a:srgbClr val="00623B"/>
                </a:solidFill>
              </a:rPr>
              <a:t>COMMIT TO YOUR NEXT STEP</a:t>
            </a:r>
            <a:endParaRPr lang="en-US" sz="1150" dirty="0"/>
          </a:p>
        </p:txBody>
      </p:sp>
      <p:sp>
        <p:nvSpPr>
          <p:cNvPr id="57" name="Text 55"/>
          <p:cNvSpPr/>
          <p:nvPr/>
        </p:nvSpPr>
        <p:spPr>
          <a:xfrm>
            <a:off x="8258694" y="1938528"/>
            <a:ext cx="1691640" cy="146304"/>
          </a:xfrm>
          <a:prstGeom prst="rect">
            <a:avLst/>
          </a:prstGeom>
          <a:noFill/>
          <a:ln/>
        </p:spPr>
        <p:txBody>
          <a:bodyPr wrap="square" lIns="0" tIns="0" rIns="0" bIns="0" rtlCol="0" anchor="ctr"/>
          <a:lstStyle/>
          <a:p>
            <a:pPr marL="0" indent="0">
              <a:buNone/>
            </a:pPr>
            <a:r>
              <a:rPr lang="en-US" sz="1000" b="1" dirty="0">
                <a:solidFill>
                  <a:srgbClr val="00623B"/>
                </a:solidFill>
              </a:rPr>
              <a:t>Why it matters</a:t>
            </a:r>
            <a:endParaRPr lang="en-US" sz="1000" dirty="0"/>
          </a:p>
        </p:txBody>
      </p:sp>
      <p:sp>
        <p:nvSpPr>
          <p:cNvPr id="58" name="Text 56"/>
          <p:cNvSpPr/>
          <p:nvPr/>
        </p:nvSpPr>
        <p:spPr>
          <a:xfrm>
            <a:off x="8258694" y="2044929"/>
            <a:ext cx="3163982" cy="301752"/>
          </a:xfrm>
          <a:prstGeom prst="rect">
            <a:avLst/>
          </a:prstGeom>
          <a:noFill/>
          <a:ln/>
        </p:spPr>
        <p:txBody>
          <a:bodyPr wrap="square" lIns="0" tIns="0" rIns="0" bIns="0" rtlCol="0" anchor="ctr">
            <a:normAutofit/>
          </a:bodyPr>
          <a:lstStyle/>
          <a:p>
            <a:pPr marL="0" indent="0">
              <a:buNone/>
            </a:pPr>
            <a:r>
              <a:rPr lang="en-US" sz="1000" dirty="0">
                <a:solidFill>
                  <a:srgbClr val="111827"/>
                </a:solidFill>
              </a:rPr>
              <a:t>Momentum matters more than finishing perfectly today.</a:t>
            </a:r>
            <a:endParaRPr lang="en-US" sz="1000" dirty="0"/>
          </a:p>
        </p:txBody>
      </p:sp>
      <p:sp>
        <p:nvSpPr>
          <p:cNvPr id="59" name="Text 57"/>
          <p:cNvSpPr/>
          <p:nvPr/>
        </p:nvSpPr>
        <p:spPr>
          <a:xfrm>
            <a:off x="8258694" y="2459736"/>
            <a:ext cx="1691640" cy="146304"/>
          </a:xfrm>
          <a:prstGeom prst="rect">
            <a:avLst/>
          </a:prstGeom>
          <a:noFill/>
          <a:ln/>
        </p:spPr>
        <p:txBody>
          <a:bodyPr wrap="square" lIns="0" tIns="0" rIns="0" bIns="0" rtlCol="0" anchor="ctr"/>
          <a:lstStyle/>
          <a:p>
            <a:pPr marL="0" indent="0">
              <a:buNone/>
            </a:pPr>
            <a:r>
              <a:rPr lang="en-US" sz="1000" b="1" dirty="0">
                <a:solidFill>
                  <a:srgbClr val="00623B"/>
                </a:solidFill>
              </a:rPr>
              <a:t>What to do</a:t>
            </a:r>
            <a:endParaRPr lang="en-US" sz="1000" dirty="0"/>
          </a:p>
        </p:txBody>
      </p:sp>
      <p:sp>
        <p:nvSpPr>
          <p:cNvPr id="60" name="Text 58"/>
          <p:cNvSpPr/>
          <p:nvPr/>
        </p:nvSpPr>
        <p:spPr>
          <a:xfrm>
            <a:off x="8258694" y="2557272"/>
            <a:ext cx="3197907" cy="530352"/>
          </a:xfrm>
          <a:prstGeom prst="rect">
            <a:avLst/>
          </a:prstGeom>
          <a:noFill/>
          <a:ln/>
        </p:spPr>
        <p:txBody>
          <a:bodyPr wrap="square" lIns="0" tIns="0" rIns="0" bIns="0" rtlCol="0" anchor="ctr">
            <a:noAutofit/>
          </a:bodyPr>
          <a:lstStyle/>
          <a:p>
            <a:pPr marL="171450" indent="-171450">
              <a:buFont typeface="Arial" panose="020B0604020202020204" pitchFamily="34" charset="0"/>
              <a:buChar char="•"/>
            </a:pPr>
            <a:r>
              <a:rPr lang="en-US" sz="1000" dirty="0">
                <a:solidFill>
                  <a:srgbClr val="111827"/>
                </a:solidFill>
              </a:rPr>
              <a:t>Choose your next action.</a:t>
            </a:r>
            <a:endParaRPr lang="en-US" sz="1000" dirty="0"/>
          </a:p>
          <a:p>
            <a:pPr marL="171450" indent="-171450">
              <a:buFont typeface="Arial" panose="020B0604020202020204" pitchFamily="34" charset="0"/>
              <a:buChar char="•"/>
            </a:pPr>
            <a:r>
              <a:rPr lang="en-US" sz="1000" dirty="0">
                <a:solidFill>
                  <a:srgbClr val="111827"/>
                </a:solidFill>
              </a:rPr>
              <a:t>Put a date on it.</a:t>
            </a:r>
            <a:endParaRPr lang="en-US" sz="1000" dirty="0"/>
          </a:p>
          <a:p>
            <a:pPr marL="171450" indent="-171450">
              <a:buFont typeface="Arial" panose="020B0604020202020204" pitchFamily="34" charset="0"/>
              <a:buChar char="•"/>
            </a:pPr>
            <a:r>
              <a:rPr lang="en-US" sz="1000" dirty="0">
                <a:solidFill>
                  <a:srgbClr val="111827"/>
                </a:solidFill>
              </a:rPr>
              <a:t>Use or finish it before the next team meeting.</a:t>
            </a:r>
            <a:endParaRPr lang="en-US" sz="1000" dirty="0"/>
          </a:p>
        </p:txBody>
      </p:sp>
      <p:sp>
        <p:nvSpPr>
          <p:cNvPr id="61" name="Text 59"/>
          <p:cNvSpPr/>
          <p:nvPr/>
        </p:nvSpPr>
        <p:spPr>
          <a:xfrm>
            <a:off x="8258694" y="3192090"/>
            <a:ext cx="1645920" cy="109728"/>
          </a:xfrm>
          <a:prstGeom prst="rect">
            <a:avLst/>
          </a:prstGeom>
          <a:noFill/>
          <a:ln/>
        </p:spPr>
        <p:txBody>
          <a:bodyPr wrap="square" lIns="0" tIns="0" rIns="0" bIns="0" rtlCol="0" anchor="ctr"/>
          <a:lstStyle/>
          <a:p>
            <a:pPr marL="0" indent="0">
              <a:buNone/>
            </a:pPr>
            <a:r>
              <a:rPr lang="en-US" sz="1000" b="1" dirty="0">
                <a:solidFill>
                  <a:srgbClr val="00623B"/>
                </a:solidFill>
              </a:rPr>
              <a:t>If I finished today:</a:t>
            </a:r>
            <a:endParaRPr lang="en-US" sz="1000" dirty="0"/>
          </a:p>
        </p:txBody>
      </p:sp>
      <p:sp>
        <p:nvSpPr>
          <p:cNvPr id="62" name="Text 60"/>
          <p:cNvSpPr/>
          <p:nvPr/>
        </p:nvSpPr>
        <p:spPr>
          <a:xfrm>
            <a:off x="8258694" y="3375801"/>
            <a:ext cx="2926080" cy="109728"/>
          </a:xfrm>
          <a:prstGeom prst="rect">
            <a:avLst/>
          </a:prstGeom>
          <a:noFill/>
          <a:ln/>
        </p:spPr>
        <p:txBody>
          <a:bodyPr wrap="square" lIns="0" tIns="0" rIns="0" bIns="0" rtlCol="0" anchor="ctr"/>
          <a:lstStyle/>
          <a:p>
            <a:pPr marL="0" indent="0">
              <a:buNone/>
            </a:pPr>
            <a:r>
              <a:rPr lang="en-US" sz="1000" b="1" dirty="0">
                <a:solidFill>
                  <a:srgbClr val="00623B"/>
                </a:solidFill>
              </a:rPr>
              <a:t>Before our next team meeting, I will use this to:</a:t>
            </a:r>
            <a:endParaRPr lang="en-US" sz="1000" dirty="0"/>
          </a:p>
        </p:txBody>
      </p:sp>
      <p:sp>
        <p:nvSpPr>
          <p:cNvPr id="63" name="Shape 61"/>
          <p:cNvSpPr/>
          <p:nvPr/>
        </p:nvSpPr>
        <p:spPr>
          <a:xfrm>
            <a:off x="8258694" y="3558682"/>
            <a:ext cx="3346566" cy="623454"/>
          </a:xfrm>
          <a:prstGeom prst="roundRect">
            <a:avLst>
              <a:gd name="adj" fmla="val 10417"/>
            </a:avLst>
          </a:prstGeom>
          <a:solidFill>
            <a:srgbClr val="FFFFFF"/>
          </a:solidFill>
          <a:ln w="10160">
            <a:solidFill>
              <a:srgbClr val="00623B">
                <a:alpha val="85000"/>
              </a:srgbClr>
            </a:solidFill>
            <a:prstDash val="solid"/>
          </a:ln>
        </p:spPr>
        <p:txBody>
          <a:bodyPr/>
          <a:lstStyle/>
          <a:p>
            <a:endParaRPr lang="en-US" sz="1000" dirty="0"/>
          </a:p>
          <a:p>
            <a:endParaRPr lang="en-US" sz="1000" dirty="0"/>
          </a:p>
          <a:p>
            <a:endParaRPr lang="en-US" sz="1000" dirty="0"/>
          </a:p>
        </p:txBody>
      </p:sp>
      <p:sp>
        <p:nvSpPr>
          <p:cNvPr id="64" name="Text 62"/>
          <p:cNvSpPr/>
          <p:nvPr/>
        </p:nvSpPr>
        <p:spPr>
          <a:xfrm>
            <a:off x="8258694" y="4312646"/>
            <a:ext cx="1645920" cy="109728"/>
          </a:xfrm>
          <a:prstGeom prst="rect">
            <a:avLst/>
          </a:prstGeom>
          <a:noFill/>
          <a:ln/>
        </p:spPr>
        <p:txBody>
          <a:bodyPr wrap="square" lIns="0" tIns="0" rIns="0" bIns="0" rtlCol="0" anchor="ctr"/>
          <a:lstStyle/>
          <a:p>
            <a:pPr marL="0" indent="0">
              <a:buNone/>
            </a:pPr>
            <a:r>
              <a:rPr lang="en-US" sz="1000" b="1" dirty="0">
                <a:solidFill>
                  <a:srgbClr val="00623B"/>
                </a:solidFill>
              </a:rPr>
              <a:t>If I did not finish today:</a:t>
            </a:r>
            <a:endParaRPr lang="en-US" sz="1000" dirty="0"/>
          </a:p>
        </p:txBody>
      </p:sp>
      <p:sp>
        <p:nvSpPr>
          <p:cNvPr id="65" name="Text 63"/>
          <p:cNvSpPr/>
          <p:nvPr/>
        </p:nvSpPr>
        <p:spPr>
          <a:xfrm>
            <a:off x="8258694" y="4488043"/>
            <a:ext cx="2926080" cy="109728"/>
          </a:xfrm>
          <a:prstGeom prst="rect">
            <a:avLst/>
          </a:prstGeom>
          <a:noFill/>
          <a:ln/>
        </p:spPr>
        <p:txBody>
          <a:bodyPr wrap="square" lIns="0" tIns="0" rIns="0" bIns="0" rtlCol="0" anchor="ctr"/>
          <a:lstStyle/>
          <a:p>
            <a:pPr marL="0" indent="0">
              <a:buNone/>
            </a:pPr>
            <a:r>
              <a:rPr lang="en-US" sz="1000" b="1" dirty="0">
                <a:solidFill>
                  <a:srgbClr val="00623B"/>
                </a:solidFill>
              </a:rPr>
              <a:t>By ___, I will finish this and use it when:</a:t>
            </a:r>
            <a:endParaRPr lang="en-US" sz="1000" dirty="0"/>
          </a:p>
        </p:txBody>
      </p:sp>
      <p:sp>
        <p:nvSpPr>
          <p:cNvPr id="67" name="Text 65"/>
          <p:cNvSpPr/>
          <p:nvPr/>
        </p:nvSpPr>
        <p:spPr>
          <a:xfrm>
            <a:off x="8258694" y="5346749"/>
            <a:ext cx="2926080" cy="109728"/>
          </a:xfrm>
          <a:prstGeom prst="rect">
            <a:avLst/>
          </a:prstGeom>
          <a:noFill/>
          <a:ln/>
        </p:spPr>
        <p:txBody>
          <a:bodyPr wrap="square" lIns="0" tIns="0" rIns="0" bIns="0" rtlCol="0" anchor="ctr"/>
          <a:lstStyle/>
          <a:p>
            <a:pPr marL="0" indent="0">
              <a:buNone/>
            </a:pPr>
            <a:r>
              <a:rPr lang="en-US" sz="1000" b="1" dirty="0">
                <a:solidFill>
                  <a:srgbClr val="00623B"/>
                </a:solidFill>
              </a:rPr>
              <a:t>What improvement am I hoping to see?</a:t>
            </a:r>
            <a:endParaRPr lang="en-US" sz="1000" dirty="0"/>
          </a:p>
        </p:txBody>
      </p:sp>
      <p:sp>
        <p:nvSpPr>
          <p:cNvPr id="68" name="Shape 66"/>
          <p:cNvSpPr/>
          <p:nvPr/>
        </p:nvSpPr>
        <p:spPr>
          <a:xfrm>
            <a:off x="8223316" y="5518683"/>
            <a:ext cx="3381944" cy="393192"/>
          </a:xfrm>
          <a:prstGeom prst="roundRect">
            <a:avLst>
              <a:gd name="adj" fmla="val 11628"/>
            </a:avLst>
          </a:prstGeom>
          <a:solidFill>
            <a:srgbClr val="FFFFFF"/>
          </a:solidFill>
          <a:ln w="10160">
            <a:solidFill>
              <a:srgbClr val="00623B">
                <a:alpha val="85000"/>
              </a:srgbClr>
            </a:solidFill>
            <a:prstDash val="solid"/>
          </a:ln>
        </p:spPr>
        <p:txBody>
          <a:bodyPr/>
          <a:lstStyle/>
          <a:p>
            <a:endParaRPr lang="en-US"/>
          </a:p>
        </p:txBody>
      </p:sp>
      <p:grpSp>
        <p:nvGrpSpPr>
          <p:cNvPr id="83" name="Group 82">
            <a:extLst>
              <a:ext uri="{FF2B5EF4-FFF2-40B4-BE49-F238E27FC236}">
                <a16:creationId xmlns:a16="http://schemas.microsoft.com/office/drawing/2014/main" id="{16844A4B-40DE-A5B1-ABA4-0347C518350F}"/>
              </a:ext>
            </a:extLst>
          </p:cNvPr>
          <p:cNvGrpSpPr/>
          <p:nvPr/>
        </p:nvGrpSpPr>
        <p:grpSpPr>
          <a:xfrm>
            <a:off x="8223316" y="5990844"/>
            <a:ext cx="3412424" cy="438912"/>
            <a:chOff x="8366760" y="5724144"/>
            <a:chExt cx="2971800" cy="438912"/>
          </a:xfrm>
        </p:grpSpPr>
        <p:sp>
          <p:nvSpPr>
            <p:cNvPr id="69" name="Shape 67"/>
            <p:cNvSpPr/>
            <p:nvPr/>
          </p:nvSpPr>
          <p:spPr>
            <a:xfrm>
              <a:off x="8366760" y="5724144"/>
              <a:ext cx="2971800" cy="438912"/>
            </a:xfrm>
            <a:prstGeom prst="roundRect">
              <a:avLst>
                <a:gd name="adj" fmla="val 12500"/>
              </a:avLst>
            </a:prstGeom>
            <a:solidFill>
              <a:srgbClr val="EAF4EE"/>
            </a:solidFill>
            <a:ln w="12700">
              <a:solidFill>
                <a:srgbClr val="00623B">
                  <a:alpha val="80000"/>
                </a:srgbClr>
              </a:solidFill>
              <a:prstDash val="solid"/>
            </a:ln>
          </p:spPr>
          <p:txBody>
            <a:bodyPr/>
            <a:lstStyle/>
            <a:p>
              <a:endParaRPr lang="en-US" sz="1000"/>
            </a:p>
          </p:txBody>
        </p:sp>
        <p:sp>
          <p:nvSpPr>
            <p:cNvPr id="70" name="Text 68"/>
            <p:cNvSpPr/>
            <p:nvPr/>
          </p:nvSpPr>
          <p:spPr>
            <a:xfrm>
              <a:off x="8439912" y="5824728"/>
              <a:ext cx="320040" cy="109728"/>
            </a:xfrm>
            <a:prstGeom prst="rect">
              <a:avLst/>
            </a:prstGeom>
            <a:noFill/>
            <a:ln/>
          </p:spPr>
          <p:txBody>
            <a:bodyPr wrap="square" lIns="0" tIns="0" rIns="0" bIns="0" rtlCol="0" anchor="ctr"/>
            <a:lstStyle/>
            <a:p>
              <a:pPr marL="0" indent="0">
                <a:buNone/>
              </a:pPr>
              <a:r>
                <a:rPr lang="en-US" sz="1000" b="1" dirty="0">
                  <a:solidFill>
                    <a:srgbClr val="00623B"/>
                  </a:solidFill>
                </a:rPr>
                <a:t>TIP</a:t>
              </a:r>
              <a:endParaRPr lang="en-US" sz="1000" dirty="0"/>
            </a:p>
          </p:txBody>
        </p:sp>
        <p:sp>
          <p:nvSpPr>
            <p:cNvPr id="71" name="Text 69"/>
            <p:cNvSpPr/>
            <p:nvPr/>
          </p:nvSpPr>
          <p:spPr>
            <a:xfrm>
              <a:off x="8778240" y="5797296"/>
              <a:ext cx="2468880" cy="274320"/>
            </a:xfrm>
            <a:prstGeom prst="rect">
              <a:avLst/>
            </a:prstGeom>
            <a:noFill/>
            <a:ln/>
          </p:spPr>
          <p:txBody>
            <a:bodyPr wrap="square" lIns="0" tIns="0" rIns="0" bIns="0" rtlCol="0" anchor="ctr">
              <a:noAutofit/>
            </a:bodyPr>
            <a:lstStyle/>
            <a:p>
              <a:pPr marL="0" indent="0">
                <a:buNone/>
              </a:pPr>
              <a:r>
                <a:rPr lang="en-US" sz="1000" dirty="0">
                  <a:solidFill>
                    <a:srgbClr val="111827"/>
                  </a:solidFill>
                </a:rPr>
                <a:t>You do not have to finish today. You do need a clear next step.</a:t>
              </a:r>
              <a:endParaRPr lang="en-US" sz="1000" dirty="0"/>
            </a:p>
          </p:txBody>
        </p:sp>
      </p:grpSp>
      <p:sp>
        <p:nvSpPr>
          <p:cNvPr id="72" name="Shape 61">
            <a:extLst>
              <a:ext uri="{FF2B5EF4-FFF2-40B4-BE49-F238E27FC236}">
                <a16:creationId xmlns:a16="http://schemas.microsoft.com/office/drawing/2014/main" id="{313696A6-88A8-D285-0EF7-DE73D60AB14E}"/>
              </a:ext>
            </a:extLst>
          </p:cNvPr>
          <p:cNvSpPr/>
          <p:nvPr/>
        </p:nvSpPr>
        <p:spPr>
          <a:xfrm>
            <a:off x="8244841" y="4633794"/>
            <a:ext cx="3346566" cy="623454"/>
          </a:xfrm>
          <a:prstGeom prst="roundRect">
            <a:avLst>
              <a:gd name="adj" fmla="val 10417"/>
            </a:avLst>
          </a:prstGeom>
          <a:solidFill>
            <a:srgbClr val="FFFFFF"/>
          </a:solidFill>
          <a:ln w="10160">
            <a:solidFill>
              <a:srgbClr val="00623B">
                <a:alpha val="85000"/>
              </a:srgbClr>
            </a:solidFill>
            <a:prstDash val="solid"/>
          </a:ln>
        </p:spPr>
        <p:txBody>
          <a:bodyPr/>
          <a:lstStyle/>
          <a:p>
            <a:endParaRPr lang="en-US" sz="1000" dirty="0"/>
          </a:p>
          <a:p>
            <a:endParaRPr lang="en-US" sz="1000" dirty="0"/>
          </a:p>
          <a:p>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6F1"/>
          </a:solidFill>
          <a:ln w="12700">
            <a:solidFill>
              <a:srgbClr val="F8F6F1"/>
            </a:solidFill>
            <a:prstDash val="solid"/>
          </a:ln>
        </p:spPr>
        <p:txBody>
          <a:bodyPr/>
          <a:lstStyle/>
          <a:p>
            <a:endParaRPr lang="en-US" sz="2800"/>
          </a:p>
        </p:txBody>
      </p:sp>
      <p:sp>
        <p:nvSpPr>
          <p:cNvPr id="3" name="Shape 1"/>
          <p:cNvSpPr/>
          <p:nvPr/>
        </p:nvSpPr>
        <p:spPr>
          <a:xfrm>
            <a:off x="0" y="0"/>
            <a:ext cx="12191695" cy="164592"/>
          </a:xfrm>
          <a:prstGeom prst="rect">
            <a:avLst/>
          </a:prstGeom>
          <a:solidFill>
            <a:srgbClr val="2E8B57"/>
          </a:solidFill>
          <a:ln w="12700">
            <a:solidFill>
              <a:srgbClr val="2E8B57"/>
            </a:solidFill>
            <a:prstDash val="solid"/>
          </a:ln>
        </p:spPr>
        <p:txBody>
          <a:bodyPr/>
          <a:lstStyle/>
          <a:p>
            <a:endParaRPr lang="en-US" sz="2800"/>
          </a:p>
        </p:txBody>
      </p:sp>
      <p:sp>
        <p:nvSpPr>
          <p:cNvPr id="4" name="Text 2"/>
          <p:cNvSpPr/>
          <p:nvPr/>
        </p:nvSpPr>
        <p:spPr>
          <a:xfrm>
            <a:off x="411480" y="347472"/>
            <a:ext cx="2560320" cy="182880"/>
          </a:xfrm>
          <a:prstGeom prst="rect">
            <a:avLst/>
          </a:prstGeom>
          <a:noFill/>
          <a:ln/>
        </p:spPr>
        <p:txBody>
          <a:bodyPr wrap="square" lIns="0" tIns="0" rIns="0" bIns="0" rtlCol="0" anchor="ctr"/>
          <a:lstStyle/>
          <a:p>
            <a:pPr marL="0" indent="0">
              <a:buNone/>
            </a:pPr>
            <a:r>
              <a:rPr lang="en-US" sz="1050" b="1" dirty="0">
                <a:solidFill>
                  <a:srgbClr val="2E8B57"/>
                </a:solidFill>
                <a:latin typeface="Aptos" pitchFamily="34" charset="0"/>
                <a:ea typeface="Aptos" pitchFamily="34" charset="-122"/>
                <a:cs typeface="Aptos" pitchFamily="34" charset="-120"/>
              </a:rPr>
              <a:t>AI QUICK START CARD</a:t>
            </a:r>
            <a:endParaRPr lang="en-US" sz="1050" dirty="0"/>
          </a:p>
        </p:txBody>
      </p:sp>
      <p:sp>
        <p:nvSpPr>
          <p:cNvPr id="5" name="Text 3"/>
          <p:cNvSpPr/>
          <p:nvPr/>
        </p:nvSpPr>
        <p:spPr>
          <a:xfrm>
            <a:off x="411480" y="594360"/>
            <a:ext cx="4663440" cy="347472"/>
          </a:xfrm>
          <a:prstGeom prst="rect">
            <a:avLst/>
          </a:prstGeom>
          <a:noFill/>
          <a:ln/>
        </p:spPr>
        <p:txBody>
          <a:bodyPr wrap="square" lIns="0" tIns="0" rIns="0" bIns="0" rtlCol="0" anchor="ctr"/>
          <a:lstStyle/>
          <a:p>
            <a:pPr marL="0" indent="0">
              <a:buNone/>
            </a:pPr>
            <a:r>
              <a:rPr lang="en-US" sz="3600" b="1" dirty="0">
                <a:solidFill>
                  <a:srgbClr val="0E2B3D"/>
                </a:solidFill>
                <a:latin typeface="Aptos Display" pitchFamily="34" charset="0"/>
                <a:ea typeface="Aptos Display" pitchFamily="34" charset="-122"/>
                <a:cs typeface="Aptos Display" pitchFamily="34" charset="-120"/>
              </a:rPr>
              <a:t>Think with AI</a:t>
            </a:r>
            <a:endParaRPr lang="en-US" sz="3600" dirty="0"/>
          </a:p>
        </p:txBody>
      </p:sp>
      <p:sp>
        <p:nvSpPr>
          <p:cNvPr id="6" name="Text 4"/>
          <p:cNvSpPr/>
          <p:nvPr/>
        </p:nvSpPr>
        <p:spPr>
          <a:xfrm>
            <a:off x="429768" y="1005840"/>
            <a:ext cx="5943600" cy="274320"/>
          </a:xfrm>
          <a:prstGeom prst="rect">
            <a:avLst/>
          </a:prstGeom>
          <a:noFill/>
          <a:ln/>
        </p:spPr>
        <p:txBody>
          <a:bodyPr wrap="square" lIns="0" tIns="0" rIns="0" bIns="0" rtlCol="0" anchor="ctr"/>
          <a:lstStyle/>
          <a:p>
            <a:pPr marL="0" indent="0">
              <a:buNone/>
            </a:pPr>
            <a:r>
              <a:rPr lang="en-US" sz="1400" dirty="0">
                <a:solidFill>
                  <a:srgbClr val="5C6670"/>
                </a:solidFill>
                <a:latin typeface="Aptos" pitchFamily="34" charset="0"/>
                <a:ea typeface="Aptos" pitchFamily="34" charset="-122"/>
                <a:cs typeface="Aptos" pitchFamily="34" charset="-120"/>
              </a:rPr>
              <a:t>Use AI as a thinking partner before you build anything.</a:t>
            </a:r>
            <a:endParaRPr lang="en-US" sz="1400" dirty="0"/>
          </a:p>
        </p:txBody>
      </p:sp>
      <p:sp>
        <p:nvSpPr>
          <p:cNvPr id="7" name="Shape 5"/>
          <p:cNvSpPr/>
          <p:nvPr/>
        </p:nvSpPr>
        <p:spPr>
          <a:xfrm>
            <a:off x="8641080" y="393192"/>
            <a:ext cx="3063240" cy="621792"/>
          </a:xfrm>
          <a:prstGeom prst="roundRect">
            <a:avLst>
              <a:gd name="adj" fmla="val 8824"/>
            </a:avLst>
          </a:prstGeom>
          <a:solidFill>
            <a:srgbClr val="EAF4EE"/>
          </a:solidFill>
          <a:ln w="12700">
            <a:solidFill>
              <a:srgbClr val="EAF4EE"/>
            </a:solidFill>
            <a:prstDash val="solid"/>
          </a:ln>
        </p:spPr>
        <p:txBody>
          <a:bodyPr/>
          <a:lstStyle/>
          <a:p>
            <a:endParaRPr lang="en-US" sz="2800"/>
          </a:p>
        </p:txBody>
      </p:sp>
      <p:sp>
        <p:nvSpPr>
          <p:cNvPr id="8" name="Text 6"/>
          <p:cNvSpPr/>
          <p:nvPr/>
        </p:nvSpPr>
        <p:spPr>
          <a:xfrm>
            <a:off x="8823960" y="539496"/>
            <a:ext cx="2697480" cy="237744"/>
          </a:xfrm>
          <a:prstGeom prst="rect">
            <a:avLst/>
          </a:prstGeom>
          <a:noFill/>
          <a:ln/>
        </p:spPr>
        <p:txBody>
          <a:bodyPr wrap="square" lIns="254" tIns="254" rIns="254" bIns="254" rtlCol="0" anchor="ctr">
            <a:noAutofit/>
          </a:bodyPr>
          <a:lstStyle/>
          <a:p>
            <a:pPr marL="0" indent="0" algn="ctr">
              <a:buNone/>
            </a:pPr>
            <a:r>
              <a:rPr lang="en-US" sz="1050" b="1" dirty="0">
                <a:solidFill>
                  <a:srgbClr val="2E8B57"/>
                </a:solidFill>
                <a:latin typeface="Aptos" pitchFamily="34" charset="0"/>
                <a:ea typeface="Aptos" pitchFamily="34" charset="-122"/>
                <a:cs typeface="Aptos" pitchFamily="34" charset="-120"/>
              </a:rPr>
              <a:t>Use during: Understand • Spot the Opportunity • Design the Solution</a:t>
            </a:r>
            <a:endParaRPr lang="en-US" sz="1050" dirty="0"/>
          </a:p>
        </p:txBody>
      </p:sp>
      <p:sp>
        <p:nvSpPr>
          <p:cNvPr id="9" name="Shape 7"/>
          <p:cNvSpPr/>
          <p:nvPr/>
        </p:nvSpPr>
        <p:spPr>
          <a:xfrm>
            <a:off x="438912" y="1353312"/>
            <a:ext cx="960120" cy="237744"/>
          </a:xfrm>
          <a:prstGeom prst="roundRect">
            <a:avLst>
              <a:gd name="adj" fmla="val 15385"/>
            </a:avLst>
          </a:prstGeom>
          <a:solidFill>
            <a:srgbClr val="EAF4EE"/>
          </a:solidFill>
          <a:ln w="12700">
            <a:solidFill>
              <a:srgbClr val="EAF4EE"/>
            </a:solidFill>
            <a:prstDash val="solid"/>
          </a:ln>
        </p:spPr>
        <p:txBody>
          <a:bodyPr/>
          <a:lstStyle/>
          <a:p>
            <a:endParaRPr lang="en-US" sz="2800"/>
          </a:p>
        </p:txBody>
      </p:sp>
      <p:sp>
        <p:nvSpPr>
          <p:cNvPr id="10" name="Text 8"/>
          <p:cNvSpPr/>
          <p:nvPr/>
        </p:nvSpPr>
        <p:spPr>
          <a:xfrm>
            <a:off x="484632" y="1412748"/>
            <a:ext cx="868680" cy="91440"/>
          </a:xfrm>
          <a:prstGeom prst="rect">
            <a:avLst/>
          </a:prstGeom>
          <a:noFill/>
          <a:ln/>
        </p:spPr>
        <p:txBody>
          <a:bodyPr wrap="square" lIns="0" tIns="0" rIns="0" bIns="0" rtlCol="0" anchor="ctr">
            <a:noAutofit/>
          </a:bodyPr>
          <a:lstStyle/>
          <a:p>
            <a:pPr marL="0" indent="0" algn="ctr">
              <a:buNone/>
            </a:pPr>
            <a:r>
              <a:rPr lang="en-US" sz="1000" b="1" dirty="0">
                <a:solidFill>
                  <a:srgbClr val="2E8B57"/>
                </a:solidFill>
                <a:latin typeface="Aptos" pitchFamily="34" charset="0"/>
                <a:ea typeface="Aptos" pitchFamily="34" charset="-122"/>
                <a:cs typeface="Aptos" pitchFamily="34" charset="-120"/>
              </a:rPr>
              <a:t>Understand</a:t>
            </a:r>
            <a:endParaRPr lang="en-US" sz="1000" dirty="0"/>
          </a:p>
        </p:txBody>
      </p:sp>
      <p:sp>
        <p:nvSpPr>
          <p:cNvPr id="11" name="Shape 9"/>
          <p:cNvSpPr/>
          <p:nvPr/>
        </p:nvSpPr>
        <p:spPr>
          <a:xfrm>
            <a:off x="1508760" y="1353312"/>
            <a:ext cx="1417320" cy="237744"/>
          </a:xfrm>
          <a:prstGeom prst="roundRect">
            <a:avLst>
              <a:gd name="adj" fmla="val 15385"/>
            </a:avLst>
          </a:prstGeom>
          <a:solidFill>
            <a:srgbClr val="EAF4EE"/>
          </a:solidFill>
          <a:ln w="12700">
            <a:solidFill>
              <a:srgbClr val="EAF4EE"/>
            </a:solidFill>
            <a:prstDash val="solid"/>
          </a:ln>
        </p:spPr>
        <p:txBody>
          <a:bodyPr/>
          <a:lstStyle/>
          <a:p>
            <a:endParaRPr lang="en-US" sz="2800"/>
          </a:p>
        </p:txBody>
      </p:sp>
      <p:sp>
        <p:nvSpPr>
          <p:cNvPr id="12" name="Text 10"/>
          <p:cNvSpPr/>
          <p:nvPr/>
        </p:nvSpPr>
        <p:spPr>
          <a:xfrm>
            <a:off x="1554480" y="1412748"/>
            <a:ext cx="1325880" cy="91440"/>
          </a:xfrm>
          <a:prstGeom prst="rect">
            <a:avLst/>
          </a:prstGeom>
          <a:noFill/>
          <a:ln/>
        </p:spPr>
        <p:txBody>
          <a:bodyPr wrap="square" lIns="0" tIns="0" rIns="0" bIns="0" rtlCol="0" anchor="ctr">
            <a:noAutofit/>
          </a:bodyPr>
          <a:lstStyle/>
          <a:p>
            <a:pPr marL="0" indent="0" algn="ctr">
              <a:buNone/>
            </a:pPr>
            <a:r>
              <a:rPr lang="en-US" sz="1000" b="1" dirty="0">
                <a:solidFill>
                  <a:srgbClr val="2E8B57"/>
                </a:solidFill>
                <a:latin typeface="Aptos" pitchFamily="34" charset="0"/>
                <a:ea typeface="Aptos" pitchFamily="34" charset="-122"/>
                <a:cs typeface="Aptos" pitchFamily="34" charset="-120"/>
              </a:rPr>
              <a:t>Spot the Opportunity</a:t>
            </a:r>
            <a:endParaRPr lang="en-US" sz="1000" dirty="0"/>
          </a:p>
        </p:txBody>
      </p:sp>
      <p:sp>
        <p:nvSpPr>
          <p:cNvPr id="13" name="Shape 11"/>
          <p:cNvSpPr/>
          <p:nvPr/>
        </p:nvSpPr>
        <p:spPr>
          <a:xfrm>
            <a:off x="3035808" y="1353312"/>
            <a:ext cx="1417320" cy="237744"/>
          </a:xfrm>
          <a:prstGeom prst="roundRect">
            <a:avLst>
              <a:gd name="adj" fmla="val 15385"/>
            </a:avLst>
          </a:prstGeom>
          <a:solidFill>
            <a:srgbClr val="EAF4EE"/>
          </a:solidFill>
          <a:ln w="12700">
            <a:solidFill>
              <a:srgbClr val="EAF4EE"/>
            </a:solidFill>
            <a:prstDash val="solid"/>
          </a:ln>
        </p:spPr>
        <p:txBody>
          <a:bodyPr/>
          <a:lstStyle/>
          <a:p>
            <a:endParaRPr lang="en-US" sz="2800"/>
          </a:p>
        </p:txBody>
      </p:sp>
      <p:sp>
        <p:nvSpPr>
          <p:cNvPr id="14" name="Text 12"/>
          <p:cNvSpPr/>
          <p:nvPr/>
        </p:nvSpPr>
        <p:spPr>
          <a:xfrm>
            <a:off x="3081528" y="1412748"/>
            <a:ext cx="1325880" cy="91440"/>
          </a:xfrm>
          <a:prstGeom prst="rect">
            <a:avLst/>
          </a:prstGeom>
          <a:noFill/>
          <a:ln/>
        </p:spPr>
        <p:txBody>
          <a:bodyPr wrap="square" lIns="0" tIns="0" rIns="0" bIns="0" rtlCol="0" anchor="ctr">
            <a:noAutofit/>
          </a:bodyPr>
          <a:lstStyle/>
          <a:p>
            <a:pPr marL="0" indent="0" algn="ctr">
              <a:buNone/>
            </a:pPr>
            <a:r>
              <a:rPr lang="en-US" sz="1000" b="1" dirty="0">
                <a:solidFill>
                  <a:srgbClr val="2E8B57"/>
                </a:solidFill>
                <a:latin typeface="Aptos" pitchFamily="34" charset="0"/>
                <a:ea typeface="Aptos" pitchFamily="34" charset="-122"/>
                <a:cs typeface="Aptos" pitchFamily="34" charset="-120"/>
              </a:rPr>
              <a:t>Design the Solution</a:t>
            </a:r>
            <a:endParaRPr lang="en-US" sz="1000" dirty="0"/>
          </a:p>
        </p:txBody>
      </p:sp>
      <p:sp>
        <p:nvSpPr>
          <p:cNvPr id="15" name="Shape 13"/>
          <p:cNvSpPr/>
          <p:nvPr/>
        </p:nvSpPr>
        <p:spPr>
          <a:xfrm>
            <a:off x="4562856" y="1353312"/>
            <a:ext cx="960120" cy="237744"/>
          </a:xfrm>
          <a:prstGeom prst="roundRect">
            <a:avLst>
              <a:gd name="adj" fmla="val 15385"/>
            </a:avLst>
          </a:prstGeom>
          <a:solidFill>
            <a:srgbClr val="EEF1F3"/>
          </a:solidFill>
          <a:ln w="12700">
            <a:solidFill>
              <a:srgbClr val="EEF1F3"/>
            </a:solidFill>
            <a:prstDash val="solid"/>
          </a:ln>
        </p:spPr>
        <p:txBody>
          <a:bodyPr/>
          <a:lstStyle/>
          <a:p>
            <a:endParaRPr lang="en-US" sz="2800"/>
          </a:p>
        </p:txBody>
      </p:sp>
      <p:sp>
        <p:nvSpPr>
          <p:cNvPr id="16" name="Text 14"/>
          <p:cNvSpPr/>
          <p:nvPr/>
        </p:nvSpPr>
        <p:spPr>
          <a:xfrm>
            <a:off x="4608576" y="1412748"/>
            <a:ext cx="868680" cy="91440"/>
          </a:xfrm>
          <a:prstGeom prst="rect">
            <a:avLst/>
          </a:prstGeom>
          <a:noFill/>
          <a:ln/>
        </p:spPr>
        <p:txBody>
          <a:bodyPr wrap="square" lIns="0" tIns="0" rIns="0" bIns="0" rtlCol="0" anchor="ctr">
            <a:noAutofit/>
          </a:bodyPr>
          <a:lstStyle/>
          <a:p>
            <a:pPr marL="0" indent="0" algn="ctr">
              <a:buNone/>
            </a:pPr>
            <a:r>
              <a:rPr lang="en-US" sz="1000" dirty="0">
                <a:solidFill>
                  <a:srgbClr val="5C6670"/>
                </a:solidFill>
                <a:latin typeface="Aptos" pitchFamily="34" charset="0"/>
                <a:ea typeface="Aptos" pitchFamily="34" charset="-122"/>
                <a:cs typeface="Aptos" pitchFamily="34" charset="-120"/>
              </a:rPr>
              <a:t>Create</a:t>
            </a:r>
            <a:endParaRPr lang="en-US" sz="1000" dirty="0"/>
          </a:p>
        </p:txBody>
      </p:sp>
      <p:sp>
        <p:nvSpPr>
          <p:cNvPr id="17" name="Shape 15"/>
          <p:cNvSpPr/>
          <p:nvPr/>
        </p:nvSpPr>
        <p:spPr>
          <a:xfrm>
            <a:off x="5632704" y="1353312"/>
            <a:ext cx="960120" cy="237744"/>
          </a:xfrm>
          <a:prstGeom prst="roundRect">
            <a:avLst>
              <a:gd name="adj" fmla="val 15385"/>
            </a:avLst>
          </a:prstGeom>
          <a:solidFill>
            <a:srgbClr val="EEF1F3"/>
          </a:solidFill>
          <a:ln w="12700">
            <a:solidFill>
              <a:srgbClr val="EEF1F3"/>
            </a:solidFill>
            <a:prstDash val="solid"/>
          </a:ln>
        </p:spPr>
        <p:txBody>
          <a:bodyPr/>
          <a:lstStyle/>
          <a:p>
            <a:endParaRPr lang="en-US" sz="2800"/>
          </a:p>
        </p:txBody>
      </p:sp>
      <p:sp>
        <p:nvSpPr>
          <p:cNvPr id="18" name="Text 16"/>
          <p:cNvSpPr/>
          <p:nvPr/>
        </p:nvSpPr>
        <p:spPr>
          <a:xfrm>
            <a:off x="5678424" y="1412748"/>
            <a:ext cx="868680" cy="91440"/>
          </a:xfrm>
          <a:prstGeom prst="rect">
            <a:avLst/>
          </a:prstGeom>
          <a:noFill/>
          <a:ln/>
        </p:spPr>
        <p:txBody>
          <a:bodyPr wrap="square" lIns="0" tIns="0" rIns="0" bIns="0" rtlCol="0" anchor="ctr">
            <a:noAutofit/>
          </a:bodyPr>
          <a:lstStyle/>
          <a:p>
            <a:pPr marL="0" indent="0" algn="ctr">
              <a:buNone/>
            </a:pPr>
            <a:r>
              <a:rPr lang="en-US" sz="1000" dirty="0">
                <a:solidFill>
                  <a:srgbClr val="5C6670"/>
                </a:solidFill>
                <a:latin typeface="Aptos" pitchFamily="34" charset="0"/>
                <a:ea typeface="Aptos" pitchFamily="34" charset="-122"/>
                <a:cs typeface="Aptos" pitchFamily="34" charset="-120"/>
              </a:rPr>
              <a:t>Commit</a:t>
            </a:r>
            <a:endParaRPr lang="en-US" sz="1000" dirty="0"/>
          </a:p>
        </p:txBody>
      </p:sp>
      <p:sp>
        <p:nvSpPr>
          <p:cNvPr id="19" name="Text 17"/>
          <p:cNvSpPr/>
          <p:nvPr/>
        </p:nvSpPr>
        <p:spPr>
          <a:xfrm>
            <a:off x="438912" y="1755648"/>
            <a:ext cx="11155680" cy="320040"/>
          </a:xfrm>
          <a:prstGeom prst="rect">
            <a:avLst/>
          </a:prstGeom>
          <a:noFill/>
          <a:ln/>
        </p:spPr>
        <p:txBody>
          <a:bodyPr wrap="square" lIns="0" tIns="0" rIns="0" bIns="0" rtlCol="0" anchor="ctr">
            <a:noAutofit/>
          </a:bodyPr>
          <a:lstStyle/>
          <a:p>
            <a:pPr marL="0" indent="0">
              <a:buNone/>
            </a:pPr>
            <a:r>
              <a:rPr lang="en-US" sz="1600" dirty="0">
                <a:solidFill>
                  <a:srgbClr val="0E2B3D"/>
                </a:solidFill>
                <a:latin typeface="Aptos" pitchFamily="34" charset="0"/>
                <a:ea typeface="Aptos" pitchFamily="34" charset="-122"/>
                <a:cs typeface="Aptos" pitchFamily="34" charset="-120"/>
              </a:rPr>
              <a:t>Do not ask AI to solve the problem immediately. Ask it to help you understand the work, challenge your assumptions, and identify the best opportunity.</a:t>
            </a:r>
            <a:endParaRPr lang="en-US" sz="1600" dirty="0"/>
          </a:p>
        </p:txBody>
      </p:sp>
      <p:sp>
        <p:nvSpPr>
          <p:cNvPr id="20" name="Shape 18"/>
          <p:cNvSpPr/>
          <p:nvPr/>
        </p:nvSpPr>
        <p:spPr>
          <a:xfrm>
            <a:off x="457200" y="2285999"/>
            <a:ext cx="3611880" cy="1733203"/>
          </a:xfrm>
          <a:prstGeom prst="roundRect">
            <a:avLst>
              <a:gd name="adj" fmla="val 4444"/>
            </a:avLst>
          </a:prstGeom>
          <a:solidFill>
            <a:srgbClr val="FFFFFF"/>
          </a:solidFill>
          <a:ln w="10160">
            <a:solidFill>
              <a:srgbClr val="D8DEE5"/>
            </a:solidFill>
            <a:prstDash val="solid"/>
          </a:ln>
        </p:spPr>
        <p:txBody>
          <a:bodyPr/>
          <a:lstStyle/>
          <a:p>
            <a:endParaRPr lang="en-US" sz="2800"/>
          </a:p>
        </p:txBody>
      </p:sp>
      <p:sp>
        <p:nvSpPr>
          <p:cNvPr id="21" name="Shape 19"/>
          <p:cNvSpPr/>
          <p:nvPr/>
        </p:nvSpPr>
        <p:spPr>
          <a:xfrm>
            <a:off x="585216" y="2414016"/>
            <a:ext cx="256032" cy="256032"/>
          </a:xfrm>
          <a:prstGeom prst="ellipse">
            <a:avLst/>
          </a:prstGeom>
          <a:solidFill>
            <a:srgbClr val="2E8B57"/>
          </a:solidFill>
          <a:ln w="12700">
            <a:solidFill>
              <a:srgbClr val="2E8B57"/>
            </a:solidFill>
            <a:prstDash val="solid"/>
          </a:ln>
        </p:spPr>
        <p:txBody>
          <a:bodyPr/>
          <a:lstStyle/>
          <a:p>
            <a:endParaRPr lang="en-US" sz="2800"/>
          </a:p>
        </p:txBody>
      </p:sp>
      <p:sp>
        <p:nvSpPr>
          <p:cNvPr id="22" name="Text 20"/>
          <p:cNvSpPr/>
          <p:nvPr/>
        </p:nvSpPr>
        <p:spPr>
          <a:xfrm>
            <a:off x="585216" y="2455164"/>
            <a:ext cx="256032"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23" name="Text 21"/>
          <p:cNvSpPr/>
          <p:nvPr/>
        </p:nvSpPr>
        <p:spPr>
          <a:xfrm>
            <a:off x="914400" y="2377440"/>
            <a:ext cx="301752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Help Me Choose a Workflow</a:t>
            </a:r>
            <a:endParaRPr lang="en-US" sz="1200" dirty="0"/>
          </a:p>
        </p:txBody>
      </p:sp>
      <p:sp>
        <p:nvSpPr>
          <p:cNvPr id="24" name="Text 22"/>
          <p:cNvSpPr/>
          <p:nvPr/>
        </p:nvSpPr>
        <p:spPr>
          <a:xfrm>
            <a:off x="914400" y="2615184"/>
            <a:ext cx="3017520" cy="164592"/>
          </a:xfrm>
          <a:prstGeom prst="rect">
            <a:avLst/>
          </a:prstGeom>
          <a:noFill/>
          <a:ln/>
        </p:spPr>
        <p:txBody>
          <a:bodyPr wrap="square" lIns="0" tIns="0" rIns="0" bIns="0" rtlCol="0" anchor="ctr">
            <a:normAutofit/>
          </a:bodyPr>
          <a:lstStyle/>
          <a:p>
            <a:pPr marL="0" indent="0">
              <a:buNone/>
            </a:pPr>
            <a:r>
              <a:rPr lang="en-US" sz="1000" i="1" dirty="0">
                <a:solidFill>
                  <a:srgbClr val="2E8B57"/>
                </a:solidFill>
                <a:latin typeface="Aptos" pitchFamily="34" charset="0"/>
                <a:ea typeface="Aptos" pitchFamily="34" charset="-122"/>
                <a:cs typeface="Aptos" pitchFamily="34" charset="-120"/>
              </a:rPr>
              <a:t>Use when you are not sure what to improve.</a:t>
            </a:r>
            <a:endParaRPr lang="en-US" sz="1000" dirty="0"/>
          </a:p>
        </p:txBody>
      </p:sp>
      <p:sp>
        <p:nvSpPr>
          <p:cNvPr id="25" name="Shape 23"/>
          <p:cNvSpPr/>
          <p:nvPr/>
        </p:nvSpPr>
        <p:spPr>
          <a:xfrm>
            <a:off x="621792" y="2871215"/>
            <a:ext cx="3282696" cy="981733"/>
          </a:xfrm>
          <a:prstGeom prst="roundRect">
            <a:avLst>
              <a:gd name="adj" fmla="val 7018"/>
            </a:avLst>
          </a:prstGeom>
          <a:solidFill>
            <a:srgbClr val="EAF4EE"/>
          </a:solidFill>
          <a:ln w="12700">
            <a:solidFill>
              <a:srgbClr val="EAF4EE"/>
            </a:solidFill>
            <a:prstDash val="solid"/>
          </a:ln>
        </p:spPr>
        <p:txBody>
          <a:bodyPr/>
          <a:lstStyle/>
          <a:p>
            <a:endParaRPr lang="en-US" sz="2800"/>
          </a:p>
        </p:txBody>
      </p:sp>
      <p:sp>
        <p:nvSpPr>
          <p:cNvPr id="26" name="Text 24"/>
          <p:cNvSpPr/>
          <p:nvPr/>
        </p:nvSpPr>
        <p:spPr>
          <a:xfrm>
            <a:off x="731520" y="2980944"/>
            <a:ext cx="3063240" cy="872004"/>
          </a:xfrm>
          <a:prstGeom prst="rect">
            <a:avLst/>
          </a:prstGeom>
          <a:noFill/>
          <a:ln/>
        </p:spPr>
        <p:txBody>
          <a:bodyPr wrap="square" lIns="508" tIns="508" rIns="508" bIns="508" rtlCol="0" anchor="t">
            <a:noAutofit/>
          </a:bodyPr>
          <a:lstStyle/>
          <a:p>
            <a:pPr marL="0" indent="0">
              <a:buNone/>
            </a:pPr>
            <a:r>
              <a:rPr lang="en-US" sz="900" dirty="0">
                <a:solidFill>
                  <a:srgbClr val="171717"/>
                </a:solidFill>
                <a:latin typeface="Aptos" pitchFamily="34" charset="0"/>
                <a:ea typeface="Aptos" pitchFamily="34" charset="-122"/>
                <a:cs typeface="Aptos" pitchFamily="34" charset="-120"/>
              </a:rPr>
              <a:t>I am trying to identify one repeatable workflow that would benefit from AI. Here is a list of the work I regularly do: [describe your work]. Help me identify the top 3 workflows that are the best candidates for improvement. Explain why each would be a good place to start and ask me questions if you need more context.</a:t>
            </a:r>
            <a:endParaRPr lang="en-US" sz="900" dirty="0"/>
          </a:p>
        </p:txBody>
      </p:sp>
      <p:sp>
        <p:nvSpPr>
          <p:cNvPr id="27" name="Shape 25"/>
          <p:cNvSpPr/>
          <p:nvPr/>
        </p:nvSpPr>
        <p:spPr>
          <a:xfrm>
            <a:off x="4288536" y="2285999"/>
            <a:ext cx="3611880" cy="1733203"/>
          </a:xfrm>
          <a:prstGeom prst="roundRect">
            <a:avLst>
              <a:gd name="adj" fmla="val 4444"/>
            </a:avLst>
          </a:prstGeom>
          <a:solidFill>
            <a:srgbClr val="FFFFFF"/>
          </a:solidFill>
          <a:ln w="10160">
            <a:solidFill>
              <a:srgbClr val="D8DEE5"/>
            </a:solidFill>
            <a:prstDash val="solid"/>
          </a:ln>
        </p:spPr>
        <p:txBody>
          <a:bodyPr/>
          <a:lstStyle/>
          <a:p>
            <a:endParaRPr lang="en-US" sz="2800"/>
          </a:p>
        </p:txBody>
      </p:sp>
      <p:sp>
        <p:nvSpPr>
          <p:cNvPr id="28" name="Shape 26"/>
          <p:cNvSpPr/>
          <p:nvPr/>
        </p:nvSpPr>
        <p:spPr>
          <a:xfrm>
            <a:off x="4416552" y="2414016"/>
            <a:ext cx="256032" cy="256032"/>
          </a:xfrm>
          <a:prstGeom prst="ellipse">
            <a:avLst/>
          </a:prstGeom>
          <a:solidFill>
            <a:srgbClr val="2E8B57"/>
          </a:solidFill>
          <a:ln w="12700">
            <a:solidFill>
              <a:srgbClr val="2E8B57"/>
            </a:solidFill>
            <a:prstDash val="solid"/>
          </a:ln>
        </p:spPr>
        <p:txBody>
          <a:bodyPr/>
          <a:lstStyle/>
          <a:p>
            <a:endParaRPr lang="en-US" sz="2800"/>
          </a:p>
        </p:txBody>
      </p:sp>
      <p:sp>
        <p:nvSpPr>
          <p:cNvPr id="29" name="Text 27"/>
          <p:cNvSpPr/>
          <p:nvPr/>
        </p:nvSpPr>
        <p:spPr>
          <a:xfrm>
            <a:off x="4416552" y="2455164"/>
            <a:ext cx="256032"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30" name="Text 28"/>
          <p:cNvSpPr/>
          <p:nvPr/>
        </p:nvSpPr>
        <p:spPr>
          <a:xfrm>
            <a:off x="4745736" y="2377440"/>
            <a:ext cx="301752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Help Me Spot the Opportunity</a:t>
            </a:r>
            <a:endParaRPr lang="en-US" sz="1200" dirty="0"/>
          </a:p>
        </p:txBody>
      </p:sp>
      <p:sp>
        <p:nvSpPr>
          <p:cNvPr id="31" name="Text 29"/>
          <p:cNvSpPr/>
          <p:nvPr/>
        </p:nvSpPr>
        <p:spPr>
          <a:xfrm>
            <a:off x="4745736" y="2615184"/>
            <a:ext cx="3017520" cy="164592"/>
          </a:xfrm>
          <a:prstGeom prst="rect">
            <a:avLst/>
          </a:prstGeom>
          <a:noFill/>
          <a:ln/>
        </p:spPr>
        <p:txBody>
          <a:bodyPr wrap="square" lIns="0" tIns="0" rIns="0" bIns="0" rtlCol="0" anchor="ctr">
            <a:normAutofit/>
          </a:bodyPr>
          <a:lstStyle/>
          <a:p>
            <a:pPr marL="0" indent="0">
              <a:buNone/>
            </a:pPr>
            <a:r>
              <a:rPr lang="en-US" sz="1000" i="1" dirty="0">
                <a:solidFill>
                  <a:srgbClr val="2E8B57"/>
                </a:solidFill>
                <a:latin typeface="Aptos" pitchFamily="34" charset="0"/>
                <a:ea typeface="Aptos" pitchFamily="34" charset="-122"/>
                <a:cs typeface="Aptos" pitchFamily="34" charset="-120"/>
              </a:rPr>
              <a:t>Use after you have mapped your workflow.</a:t>
            </a:r>
            <a:endParaRPr lang="en-US" sz="1000" dirty="0"/>
          </a:p>
        </p:txBody>
      </p:sp>
      <p:sp>
        <p:nvSpPr>
          <p:cNvPr id="32" name="Shape 30"/>
          <p:cNvSpPr/>
          <p:nvPr/>
        </p:nvSpPr>
        <p:spPr>
          <a:xfrm>
            <a:off x="4453128" y="2871215"/>
            <a:ext cx="3282696" cy="981733"/>
          </a:xfrm>
          <a:prstGeom prst="roundRect">
            <a:avLst>
              <a:gd name="adj" fmla="val 7018"/>
            </a:avLst>
          </a:prstGeom>
          <a:solidFill>
            <a:srgbClr val="EAF4EE"/>
          </a:solidFill>
          <a:ln w="12700">
            <a:solidFill>
              <a:srgbClr val="EAF4EE"/>
            </a:solidFill>
            <a:prstDash val="solid"/>
          </a:ln>
        </p:spPr>
        <p:txBody>
          <a:bodyPr/>
          <a:lstStyle/>
          <a:p>
            <a:endParaRPr lang="en-US" sz="2800"/>
          </a:p>
        </p:txBody>
      </p:sp>
      <p:sp>
        <p:nvSpPr>
          <p:cNvPr id="33" name="Text 31"/>
          <p:cNvSpPr/>
          <p:nvPr/>
        </p:nvSpPr>
        <p:spPr>
          <a:xfrm>
            <a:off x="4562856" y="2980944"/>
            <a:ext cx="3063240" cy="872004"/>
          </a:xfrm>
          <a:prstGeom prst="rect">
            <a:avLst/>
          </a:prstGeom>
          <a:noFill/>
          <a:ln/>
        </p:spPr>
        <p:txBody>
          <a:bodyPr wrap="square" lIns="508" tIns="508" rIns="508" bIns="508" rtlCol="0" anchor="t">
            <a:noAutofit/>
          </a:bodyPr>
          <a:lstStyle/>
          <a:p>
            <a:pPr marL="0" indent="0">
              <a:buNone/>
            </a:pPr>
            <a:r>
              <a:rPr lang="en-US" sz="900" dirty="0">
                <a:solidFill>
                  <a:srgbClr val="171717"/>
                </a:solidFill>
                <a:latin typeface="Aptos" pitchFamily="34" charset="0"/>
                <a:ea typeface="Aptos" pitchFamily="34" charset="-122"/>
                <a:cs typeface="Aptos" pitchFamily="34" charset="-120"/>
              </a:rPr>
              <a:t>I am working through a Workflow Improvement Canvas. Below is my workflow and the biggest point of friction. Do not solve it yet. Help me identify where AI could create the most value. Ask questions, challenge my assumptions, and help me identify the best job to be done for AI before we decide on a solution.</a:t>
            </a:r>
            <a:endParaRPr lang="en-US" sz="900" dirty="0"/>
          </a:p>
        </p:txBody>
      </p:sp>
      <p:sp>
        <p:nvSpPr>
          <p:cNvPr id="34" name="Shape 32"/>
          <p:cNvSpPr/>
          <p:nvPr/>
        </p:nvSpPr>
        <p:spPr>
          <a:xfrm>
            <a:off x="8119872" y="2285999"/>
            <a:ext cx="3611880" cy="1733203"/>
          </a:xfrm>
          <a:prstGeom prst="roundRect">
            <a:avLst>
              <a:gd name="adj" fmla="val 4444"/>
            </a:avLst>
          </a:prstGeom>
          <a:solidFill>
            <a:srgbClr val="FFFFFF"/>
          </a:solidFill>
          <a:ln w="10160">
            <a:solidFill>
              <a:srgbClr val="D8DEE5"/>
            </a:solidFill>
            <a:prstDash val="solid"/>
          </a:ln>
        </p:spPr>
        <p:txBody>
          <a:bodyPr/>
          <a:lstStyle/>
          <a:p>
            <a:endParaRPr lang="en-US" sz="2800"/>
          </a:p>
        </p:txBody>
      </p:sp>
      <p:sp>
        <p:nvSpPr>
          <p:cNvPr id="35" name="Shape 33"/>
          <p:cNvSpPr/>
          <p:nvPr/>
        </p:nvSpPr>
        <p:spPr>
          <a:xfrm>
            <a:off x="8247888" y="2414016"/>
            <a:ext cx="256032" cy="256032"/>
          </a:xfrm>
          <a:prstGeom prst="ellipse">
            <a:avLst/>
          </a:prstGeom>
          <a:solidFill>
            <a:srgbClr val="2E8B57"/>
          </a:solidFill>
          <a:ln w="12700">
            <a:solidFill>
              <a:srgbClr val="2E8B57"/>
            </a:solidFill>
            <a:prstDash val="solid"/>
          </a:ln>
        </p:spPr>
        <p:txBody>
          <a:bodyPr/>
          <a:lstStyle/>
          <a:p>
            <a:endParaRPr lang="en-US" sz="2800"/>
          </a:p>
        </p:txBody>
      </p:sp>
      <p:sp>
        <p:nvSpPr>
          <p:cNvPr id="36" name="Text 34"/>
          <p:cNvSpPr/>
          <p:nvPr/>
        </p:nvSpPr>
        <p:spPr>
          <a:xfrm>
            <a:off x="8247888" y="2455164"/>
            <a:ext cx="256032"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37" name="Text 35"/>
          <p:cNvSpPr/>
          <p:nvPr/>
        </p:nvSpPr>
        <p:spPr>
          <a:xfrm>
            <a:off x="8577072" y="2377440"/>
            <a:ext cx="301752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Challenge My Workflow</a:t>
            </a:r>
            <a:endParaRPr lang="en-US" sz="1200" dirty="0"/>
          </a:p>
        </p:txBody>
      </p:sp>
      <p:sp>
        <p:nvSpPr>
          <p:cNvPr id="38" name="Text 36"/>
          <p:cNvSpPr/>
          <p:nvPr/>
        </p:nvSpPr>
        <p:spPr>
          <a:xfrm>
            <a:off x="8577072" y="2615184"/>
            <a:ext cx="3017520" cy="164592"/>
          </a:xfrm>
          <a:prstGeom prst="rect">
            <a:avLst/>
          </a:prstGeom>
          <a:noFill/>
          <a:ln/>
        </p:spPr>
        <p:txBody>
          <a:bodyPr wrap="square" lIns="0" tIns="0" rIns="0" bIns="0" rtlCol="0" anchor="ctr">
            <a:normAutofit/>
          </a:bodyPr>
          <a:lstStyle/>
          <a:p>
            <a:pPr marL="0" indent="0">
              <a:buNone/>
            </a:pPr>
            <a:r>
              <a:rPr lang="en-US" sz="1000" i="1" dirty="0">
                <a:solidFill>
                  <a:srgbClr val="2E8B57"/>
                </a:solidFill>
                <a:latin typeface="Aptos" pitchFamily="34" charset="0"/>
                <a:ea typeface="Aptos" pitchFamily="34" charset="-122"/>
                <a:cs typeface="Aptos" pitchFamily="34" charset="-120"/>
              </a:rPr>
              <a:t>Use when you think there may be a better way.</a:t>
            </a:r>
            <a:endParaRPr lang="en-US" sz="1000" dirty="0"/>
          </a:p>
        </p:txBody>
      </p:sp>
      <p:sp>
        <p:nvSpPr>
          <p:cNvPr id="39" name="Shape 37"/>
          <p:cNvSpPr/>
          <p:nvPr/>
        </p:nvSpPr>
        <p:spPr>
          <a:xfrm>
            <a:off x="8284464" y="2871215"/>
            <a:ext cx="3282696" cy="981733"/>
          </a:xfrm>
          <a:prstGeom prst="roundRect">
            <a:avLst>
              <a:gd name="adj" fmla="val 7018"/>
            </a:avLst>
          </a:prstGeom>
          <a:solidFill>
            <a:srgbClr val="EAF4EE"/>
          </a:solidFill>
          <a:ln w="12700">
            <a:solidFill>
              <a:srgbClr val="EAF4EE"/>
            </a:solidFill>
            <a:prstDash val="solid"/>
          </a:ln>
        </p:spPr>
        <p:txBody>
          <a:bodyPr/>
          <a:lstStyle/>
          <a:p>
            <a:endParaRPr lang="en-US" sz="2800"/>
          </a:p>
        </p:txBody>
      </p:sp>
      <p:sp>
        <p:nvSpPr>
          <p:cNvPr id="40" name="Text 38"/>
          <p:cNvSpPr/>
          <p:nvPr/>
        </p:nvSpPr>
        <p:spPr>
          <a:xfrm>
            <a:off x="8394192" y="2980943"/>
            <a:ext cx="3063240" cy="868679"/>
          </a:xfrm>
          <a:prstGeom prst="rect">
            <a:avLst/>
          </a:prstGeom>
          <a:noFill/>
          <a:ln/>
        </p:spPr>
        <p:txBody>
          <a:bodyPr wrap="square" lIns="508" tIns="508" rIns="508" bIns="508" rtlCol="0" anchor="t">
            <a:noAutofit/>
          </a:bodyPr>
          <a:lstStyle/>
          <a:p>
            <a:pPr marL="0" indent="0">
              <a:buNone/>
            </a:pPr>
            <a:r>
              <a:rPr lang="en-US" sz="1000" dirty="0">
                <a:solidFill>
                  <a:srgbClr val="171717"/>
                </a:solidFill>
                <a:latin typeface="Aptos" pitchFamily="34" charset="0"/>
                <a:ea typeface="Aptos" pitchFamily="34" charset="-122"/>
                <a:cs typeface="Aptos" pitchFamily="34" charset="-120"/>
              </a:rPr>
              <a:t>Review my workflow and help me think critically about it. Where are the unnecessary steps? What could be simplified, combined, standardized, or eliminated before introducing AI?</a:t>
            </a:r>
            <a:endParaRPr lang="en-US" sz="1000" dirty="0"/>
          </a:p>
        </p:txBody>
      </p:sp>
      <p:grpSp>
        <p:nvGrpSpPr>
          <p:cNvPr id="58" name="Group 57">
            <a:extLst>
              <a:ext uri="{FF2B5EF4-FFF2-40B4-BE49-F238E27FC236}">
                <a16:creationId xmlns:a16="http://schemas.microsoft.com/office/drawing/2014/main" id="{0386D2CD-496F-FC8D-3880-70565374E584}"/>
              </a:ext>
            </a:extLst>
          </p:cNvPr>
          <p:cNvGrpSpPr/>
          <p:nvPr/>
        </p:nvGrpSpPr>
        <p:grpSpPr>
          <a:xfrm>
            <a:off x="457200" y="4337581"/>
            <a:ext cx="5532120" cy="1417320"/>
            <a:chOff x="457200" y="3730752"/>
            <a:chExt cx="5532120" cy="1417320"/>
          </a:xfrm>
        </p:grpSpPr>
        <p:sp>
          <p:nvSpPr>
            <p:cNvPr id="41" name="Shape 39"/>
            <p:cNvSpPr/>
            <p:nvPr/>
          </p:nvSpPr>
          <p:spPr>
            <a:xfrm>
              <a:off x="457200" y="3730752"/>
              <a:ext cx="5532120" cy="1417320"/>
            </a:xfrm>
            <a:prstGeom prst="roundRect">
              <a:avLst>
                <a:gd name="adj" fmla="val 3871"/>
              </a:avLst>
            </a:prstGeom>
            <a:solidFill>
              <a:srgbClr val="FFFFFF"/>
            </a:solidFill>
            <a:ln w="10160">
              <a:solidFill>
                <a:srgbClr val="D8DEE5"/>
              </a:solidFill>
              <a:prstDash val="solid"/>
            </a:ln>
          </p:spPr>
          <p:txBody>
            <a:bodyPr/>
            <a:lstStyle/>
            <a:p>
              <a:endParaRPr lang="en-US" sz="2800"/>
            </a:p>
          </p:txBody>
        </p:sp>
        <p:sp>
          <p:nvSpPr>
            <p:cNvPr id="42" name="Shape 40"/>
            <p:cNvSpPr/>
            <p:nvPr/>
          </p:nvSpPr>
          <p:spPr>
            <a:xfrm>
              <a:off x="585216" y="3858768"/>
              <a:ext cx="256032" cy="256032"/>
            </a:xfrm>
            <a:prstGeom prst="ellipse">
              <a:avLst/>
            </a:prstGeom>
            <a:solidFill>
              <a:srgbClr val="2E8B57"/>
            </a:solidFill>
            <a:ln w="12700">
              <a:solidFill>
                <a:srgbClr val="2E8B57"/>
              </a:solidFill>
              <a:prstDash val="solid"/>
            </a:ln>
          </p:spPr>
          <p:txBody>
            <a:bodyPr/>
            <a:lstStyle/>
            <a:p>
              <a:endParaRPr lang="en-US" sz="2800"/>
            </a:p>
          </p:txBody>
        </p:sp>
        <p:sp>
          <p:nvSpPr>
            <p:cNvPr id="43" name="Text 41"/>
            <p:cNvSpPr/>
            <p:nvPr/>
          </p:nvSpPr>
          <p:spPr>
            <a:xfrm>
              <a:off x="585216" y="3899916"/>
              <a:ext cx="256032"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44" name="Text 42"/>
            <p:cNvSpPr/>
            <p:nvPr/>
          </p:nvSpPr>
          <p:spPr>
            <a:xfrm>
              <a:off x="914400" y="3822192"/>
              <a:ext cx="493776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Help Me Choose the Right Solution</a:t>
              </a:r>
              <a:endParaRPr lang="en-US" sz="1200" dirty="0"/>
            </a:p>
          </p:txBody>
        </p:sp>
        <p:sp>
          <p:nvSpPr>
            <p:cNvPr id="45" name="Text 43"/>
            <p:cNvSpPr/>
            <p:nvPr/>
          </p:nvSpPr>
          <p:spPr>
            <a:xfrm>
              <a:off x="914400" y="4059936"/>
              <a:ext cx="4937760" cy="164592"/>
            </a:xfrm>
            <a:prstGeom prst="rect">
              <a:avLst/>
            </a:prstGeom>
            <a:noFill/>
            <a:ln/>
          </p:spPr>
          <p:txBody>
            <a:bodyPr wrap="square" lIns="0" tIns="0" rIns="0" bIns="0" rtlCol="0" anchor="ctr">
              <a:normAutofit/>
            </a:bodyPr>
            <a:lstStyle/>
            <a:p>
              <a:pPr marL="0" indent="0">
                <a:buNone/>
              </a:pPr>
              <a:r>
                <a:rPr lang="en-US" sz="1000" i="1" dirty="0">
                  <a:solidFill>
                    <a:srgbClr val="2E8B57"/>
                  </a:solidFill>
                  <a:latin typeface="Aptos" pitchFamily="34" charset="0"/>
                  <a:ea typeface="Aptos" pitchFamily="34" charset="-122"/>
                  <a:cs typeface="Aptos" pitchFamily="34" charset="-120"/>
                </a:rPr>
                <a:t>Use before you start building.</a:t>
              </a:r>
              <a:endParaRPr lang="en-US" sz="1000" dirty="0"/>
            </a:p>
          </p:txBody>
        </p:sp>
        <p:sp>
          <p:nvSpPr>
            <p:cNvPr id="46" name="Shape 44"/>
            <p:cNvSpPr/>
            <p:nvPr/>
          </p:nvSpPr>
          <p:spPr>
            <a:xfrm>
              <a:off x="621792" y="4315968"/>
              <a:ext cx="5202936" cy="704088"/>
            </a:xfrm>
            <a:prstGeom prst="roundRect">
              <a:avLst>
                <a:gd name="adj" fmla="val 5195"/>
              </a:avLst>
            </a:prstGeom>
            <a:solidFill>
              <a:srgbClr val="EAF4EE"/>
            </a:solidFill>
            <a:ln w="12700">
              <a:solidFill>
                <a:srgbClr val="EAF4EE"/>
              </a:solidFill>
              <a:prstDash val="solid"/>
            </a:ln>
          </p:spPr>
          <p:txBody>
            <a:bodyPr/>
            <a:lstStyle/>
            <a:p>
              <a:endParaRPr lang="en-US" sz="2800" dirty="0"/>
            </a:p>
          </p:txBody>
        </p:sp>
        <p:sp>
          <p:nvSpPr>
            <p:cNvPr id="47" name="Text 45"/>
            <p:cNvSpPr/>
            <p:nvPr/>
          </p:nvSpPr>
          <p:spPr>
            <a:xfrm>
              <a:off x="731520" y="4425696"/>
              <a:ext cx="4983480" cy="502920"/>
            </a:xfrm>
            <a:prstGeom prst="rect">
              <a:avLst/>
            </a:prstGeom>
            <a:noFill/>
            <a:ln/>
          </p:spPr>
          <p:txBody>
            <a:bodyPr wrap="square" lIns="508" tIns="508" rIns="508" bIns="508" rtlCol="0" anchor="t">
              <a:normAutofit/>
            </a:bodyPr>
            <a:lstStyle/>
            <a:p>
              <a:pPr marL="0" indent="0">
                <a:buNone/>
              </a:pPr>
              <a:r>
                <a:rPr lang="en-US" sz="1000" dirty="0">
                  <a:solidFill>
                    <a:srgbClr val="171717"/>
                  </a:solidFill>
                  <a:latin typeface="Aptos" pitchFamily="34" charset="0"/>
                  <a:ea typeface="Aptos" pitchFamily="34" charset="-122"/>
                  <a:cs typeface="Aptos" pitchFamily="34" charset="-120"/>
                </a:rPr>
                <a:t>Based on the workflow and the job I want AI to do, help me decide what would work best: a reusable prompt, a template, a checklist/SOP, an automation, or something else. Explain the tradeoffs and recommend the simplest solution that solves the problem.</a:t>
              </a:r>
              <a:endParaRPr lang="en-US" sz="1000" dirty="0"/>
            </a:p>
          </p:txBody>
        </p:sp>
      </p:grpSp>
      <p:grpSp>
        <p:nvGrpSpPr>
          <p:cNvPr id="59" name="Group 58">
            <a:extLst>
              <a:ext uri="{FF2B5EF4-FFF2-40B4-BE49-F238E27FC236}">
                <a16:creationId xmlns:a16="http://schemas.microsoft.com/office/drawing/2014/main" id="{C6FDDB38-AE82-7AD9-6E33-296B42B28FEC}"/>
              </a:ext>
            </a:extLst>
          </p:cNvPr>
          <p:cNvGrpSpPr/>
          <p:nvPr/>
        </p:nvGrpSpPr>
        <p:grpSpPr>
          <a:xfrm>
            <a:off x="6263640" y="4320955"/>
            <a:ext cx="5532120" cy="1417320"/>
            <a:chOff x="6263640" y="3730752"/>
            <a:chExt cx="5532120" cy="1417320"/>
          </a:xfrm>
        </p:grpSpPr>
        <p:sp>
          <p:nvSpPr>
            <p:cNvPr id="48" name="Shape 46"/>
            <p:cNvSpPr/>
            <p:nvPr/>
          </p:nvSpPr>
          <p:spPr>
            <a:xfrm>
              <a:off x="6263640" y="3730752"/>
              <a:ext cx="5532120" cy="1417320"/>
            </a:xfrm>
            <a:prstGeom prst="roundRect">
              <a:avLst>
                <a:gd name="adj" fmla="val 3871"/>
              </a:avLst>
            </a:prstGeom>
            <a:solidFill>
              <a:srgbClr val="FFFFFF"/>
            </a:solidFill>
            <a:ln w="10160">
              <a:solidFill>
                <a:srgbClr val="D8DEE5"/>
              </a:solidFill>
              <a:prstDash val="solid"/>
            </a:ln>
          </p:spPr>
          <p:txBody>
            <a:bodyPr/>
            <a:lstStyle/>
            <a:p>
              <a:endParaRPr lang="en-US" sz="2800"/>
            </a:p>
          </p:txBody>
        </p:sp>
        <p:sp>
          <p:nvSpPr>
            <p:cNvPr id="49" name="Shape 47"/>
            <p:cNvSpPr/>
            <p:nvPr/>
          </p:nvSpPr>
          <p:spPr>
            <a:xfrm>
              <a:off x="6391656" y="3858768"/>
              <a:ext cx="256032" cy="256032"/>
            </a:xfrm>
            <a:prstGeom prst="ellipse">
              <a:avLst/>
            </a:prstGeom>
            <a:solidFill>
              <a:srgbClr val="2E8B57"/>
            </a:solidFill>
            <a:ln w="12700">
              <a:solidFill>
                <a:srgbClr val="2E8B57"/>
              </a:solidFill>
              <a:prstDash val="solid"/>
            </a:ln>
          </p:spPr>
          <p:txBody>
            <a:bodyPr/>
            <a:lstStyle/>
            <a:p>
              <a:endParaRPr lang="en-US" sz="2800"/>
            </a:p>
          </p:txBody>
        </p:sp>
        <p:sp>
          <p:nvSpPr>
            <p:cNvPr id="50" name="Text 48"/>
            <p:cNvSpPr/>
            <p:nvPr/>
          </p:nvSpPr>
          <p:spPr>
            <a:xfrm>
              <a:off x="6391656" y="3899916"/>
              <a:ext cx="256032"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51" name="Text 49"/>
            <p:cNvSpPr/>
            <p:nvPr/>
          </p:nvSpPr>
          <p:spPr>
            <a:xfrm>
              <a:off x="6720840" y="3822192"/>
              <a:ext cx="493776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I Am Stuck</a:t>
              </a:r>
              <a:endParaRPr lang="en-US" sz="1200" dirty="0"/>
            </a:p>
          </p:txBody>
        </p:sp>
        <p:sp>
          <p:nvSpPr>
            <p:cNvPr id="52" name="Text 50"/>
            <p:cNvSpPr/>
            <p:nvPr/>
          </p:nvSpPr>
          <p:spPr>
            <a:xfrm>
              <a:off x="6720840" y="4059936"/>
              <a:ext cx="4937760" cy="164592"/>
            </a:xfrm>
            <a:prstGeom prst="rect">
              <a:avLst/>
            </a:prstGeom>
            <a:noFill/>
            <a:ln/>
          </p:spPr>
          <p:txBody>
            <a:bodyPr wrap="square" lIns="0" tIns="0" rIns="0" bIns="0" rtlCol="0" anchor="ctr">
              <a:normAutofit/>
            </a:bodyPr>
            <a:lstStyle/>
            <a:p>
              <a:pPr marL="0" indent="0">
                <a:buNone/>
              </a:pPr>
              <a:r>
                <a:rPr lang="en-US" sz="1000" i="1" dirty="0">
                  <a:solidFill>
                    <a:srgbClr val="2E8B57"/>
                  </a:solidFill>
                  <a:latin typeface="Aptos" pitchFamily="34" charset="0"/>
                  <a:ea typeface="Aptos" pitchFamily="34" charset="-122"/>
                  <a:cs typeface="Aptos" pitchFamily="34" charset="-120"/>
                </a:rPr>
                <a:t>Use anytime you are unsure what to do next.</a:t>
              </a:r>
              <a:endParaRPr lang="en-US" sz="1000" dirty="0"/>
            </a:p>
          </p:txBody>
        </p:sp>
        <p:sp>
          <p:nvSpPr>
            <p:cNvPr id="53" name="Shape 51"/>
            <p:cNvSpPr/>
            <p:nvPr/>
          </p:nvSpPr>
          <p:spPr>
            <a:xfrm>
              <a:off x="6428232" y="4315968"/>
              <a:ext cx="5202936" cy="704088"/>
            </a:xfrm>
            <a:prstGeom prst="roundRect">
              <a:avLst>
                <a:gd name="adj" fmla="val 5195"/>
              </a:avLst>
            </a:prstGeom>
            <a:solidFill>
              <a:srgbClr val="EAF4EE"/>
            </a:solidFill>
            <a:ln w="12700">
              <a:solidFill>
                <a:srgbClr val="EAF4EE"/>
              </a:solidFill>
              <a:prstDash val="solid"/>
            </a:ln>
          </p:spPr>
          <p:txBody>
            <a:bodyPr/>
            <a:lstStyle/>
            <a:p>
              <a:endParaRPr lang="en-US" sz="2800"/>
            </a:p>
          </p:txBody>
        </p:sp>
        <p:sp>
          <p:nvSpPr>
            <p:cNvPr id="54" name="Text 52"/>
            <p:cNvSpPr/>
            <p:nvPr/>
          </p:nvSpPr>
          <p:spPr>
            <a:xfrm>
              <a:off x="6537960" y="4425696"/>
              <a:ext cx="4983480" cy="502920"/>
            </a:xfrm>
            <a:prstGeom prst="rect">
              <a:avLst/>
            </a:prstGeom>
            <a:noFill/>
            <a:ln/>
          </p:spPr>
          <p:txBody>
            <a:bodyPr wrap="square" lIns="508" tIns="508" rIns="508" bIns="508" rtlCol="0" anchor="t">
              <a:normAutofit/>
            </a:bodyPr>
            <a:lstStyle/>
            <a:p>
              <a:pPr marL="0" indent="0">
                <a:buNone/>
              </a:pPr>
              <a:r>
                <a:rPr lang="en-US" sz="1000" dirty="0">
                  <a:solidFill>
                    <a:srgbClr val="171717"/>
                  </a:solidFill>
                  <a:latin typeface="Aptos" pitchFamily="34" charset="0"/>
                  <a:ea typeface="Aptos" pitchFamily="34" charset="-122"/>
                  <a:cs typeface="Aptos" pitchFamily="34" charset="-120"/>
                </a:rPr>
                <a:t>I am working through a Workflow Improvement Canvas and I am stuck. Below is what I have completed so far. Help me figure out what I am missing. Ask me one question at a time until we identify the best opportunity to improve this workflow.</a:t>
              </a:r>
              <a:endParaRPr lang="en-US" sz="1000" dirty="0"/>
            </a:p>
          </p:txBody>
        </p:sp>
      </p:grpSp>
      <p:sp>
        <p:nvSpPr>
          <p:cNvPr id="55" name="Shape 53"/>
          <p:cNvSpPr/>
          <p:nvPr/>
        </p:nvSpPr>
        <p:spPr>
          <a:xfrm>
            <a:off x="411480" y="6144768"/>
            <a:ext cx="11384280" cy="411480"/>
          </a:xfrm>
          <a:prstGeom prst="roundRect">
            <a:avLst>
              <a:gd name="adj" fmla="val 8889"/>
            </a:avLst>
          </a:prstGeom>
          <a:solidFill>
            <a:srgbClr val="FFFFFF"/>
          </a:solidFill>
          <a:ln w="12700">
            <a:solidFill>
              <a:srgbClr val="D8DEE5"/>
            </a:solidFill>
            <a:prstDash val="solid"/>
          </a:ln>
        </p:spPr>
        <p:txBody>
          <a:bodyPr/>
          <a:lstStyle/>
          <a:p>
            <a:endParaRPr lang="en-US" sz="2800"/>
          </a:p>
        </p:txBody>
      </p:sp>
      <p:sp>
        <p:nvSpPr>
          <p:cNvPr id="56" name="Shape 54"/>
          <p:cNvSpPr/>
          <p:nvPr/>
        </p:nvSpPr>
        <p:spPr>
          <a:xfrm>
            <a:off x="411480" y="6144768"/>
            <a:ext cx="91440" cy="411480"/>
          </a:xfrm>
          <a:prstGeom prst="rect">
            <a:avLst/>
          </a:prstGeom>
          <a:solidFill>
            <a:srgbClr val="2E8B57"/>
          </a:solidFill>
          <a:ln w="12700">
            <a:solidFill>
              <a:srgbClr val="2E8B57"/>
            </a:solidFill>
            <a:prstDash val="solid"/>
          </a:ln>
        </p:spPr>
        <p:txBody>
          <a:bodyPr/>
          <a:lstStyle/>
          <a:p>
            <a:endParaRPr lang="en-US" sz="2800"/>
          </a:p>
        </p:txBody>
      </p:sp>
      <p:sp>
        <p:nvSpPr>
          <p:cNvPr id="57" name="Text 55"/>
          <p:cNvSpPr/>
          <p:nvPr/>
        </p:nvSpPr>
        <p:spPr>
          <a:xfrm>
            <a:off x="640080" y="6245352"/>
            <a:ext cx="1065276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Remember: Do not ask AI for the answer. Ask AI to help you think.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05" y="0"/>
            <a:ext cx="12191695" cy="6858000"/>
          </a:xfrm>
          <a:prstGeom prst="rect">
            <a:avLst/>
          </a:prstGeom>
          <a:solidFill>
            <a:srgbClr val="F8F6F1"/>
          </a:solidFill>
          <a:ln w="12700">
            <a:solidFill>
              <a:srgbClr val="F8F6F1"/>
            </a:solidFill>
            <a:prstDash val="solid"/>
          </a:ln>
        </p:spPr>
        <p:txBody>
          <a:bodyPr/>
          <a:lstStyle/>
          <a:p>
            <a:endParaRPr lang="en-US" sz="2800"/>
          </a:p>
        </p:txBody>
      </p:sp>
      <p:sp>
        <p:nvSpPr>
          <p:cNvPr id="3" name="Shape 1"/>
          <p:cNvSpPr/>
          <p:nvPr/>
        </p:nvSpPr>
        <p:spPr>
          <a:xfrm>
            <a:off x="0" y="0"/>
            <a:ext cx="12191695" cy="164592"/>
          </a:xfrm>
          <a:prstGeom prst="rect">
            <a:avLst/>
          </a:prstGeom>
          <a:solidFill>
            <a:srgbClr val="2563EB"/>
          </a:solidFill>
          <a:ln w="12700">
            <a:solidFill>
              <a:srgbClr val="2563EB"/>
            </a:solidFill>
            <a:prstDash val="solid"/>
          </a:ln>
        </p:spPr>
        <p:txBody>
          <a:bodyPr/>
          <a:lstStyle/>
          <a:p>
            <a:endParaRPr lang="en-US" sz="2800"/>
          </a:p>
        </p:txBody>
      </p:sp>
      <p:sp>
        <p:nvSpPr>
          <p:cNvPr id="4" name="Text 2"/>
          <p:cNvSpPr/>
          <p:nvPr/>
        </p:nvSpPr>
        <p:spPr>
          <a:xfrm>
            <a:off x="411480" y="347472"/>
            <a:ext cx="2560320" cy="182880"/>
          </a:xfrm>
          <a:prstGeom prst="rect">
            <a:avLst/>
          </a:prstGeom>
          <a:noFill/>
          <a:ln/>
        </p:spPr>
        <p:txBody>
          <a:bodyPr wrap="square" lIns="0" tIns="0" rIns="0" bIns="0" rtlCol="0" anchor="ctr"/>
          <a:lstStyle/>
          <a:p>
            <a:pPr marL="0" indent="0">
              <a:buNone/>
            </a:pPr>
            <a:r>
              <a:rPr lang="en-US" sz="1050" b="1" dirty="0">
                <a:solidFill>
                  <a:srgbClr val="2563EB"/>
                </a:solidFill>
                <a:latin typeface="Aptos" pitchFamily="34" charset="0"/>
                <a:ea typeface="Aptos" pitchFamily="34" charset="-122"/>
                <a:cs typeface="Aptos" pitchFamily="34" charset="-120"/>
              </a:rPr>
              <a:t>AI QUICK START CARD</a:t>
            </a:r>
            <a:endParaRPr lang="en-US" sz="1050" dirty="0"/>
          </a:p>
        </p:txBody>
      </p:sp>
      <p:sp>
        <p:nvSpPr>
          <p:cNvPr id="5" name="Text 3"/>
          <p:cNvSpPr/>
          <p:nvPr/>
        </p:nvSpPr>
        <p:spPr>
          <a:xfrm>
            <a:off x="411480" y="594360"/>
            <a:ext cx="4663440" cy="347472"/>
          </a:xfrm>
          <a:prstGeom prst="rect">
            <a:avLst/>
          </a:prstGeom>
          <a:noFill/>
          <a:ln/>
        </p:spPr>
        <p:txBody>
          <a:bodyPr wrap="square" lIns="0" tIns="0" rIns="0" bIns="0" rtlCol="0" anchor="ctr"/>
          <a:lstStyle/>
          <a:p>
            <a:pPr marL="0" indent="0">
              <a:buNone/>
            </a:pPr>
            <a:r>
              <a:rPr lang="en-US" sz="3600" b="1" dirty="0">
                <a:solidFill>
                  <a:srgbClr val="0E2B3D"/>
                </a:solidFill>
                <a:latin typeface="Aptos Display" pitchFamily="34" charset="0"/>
                <a:ea typeface="Aptos Display" pitchFamily="34" charset="-122"/>
                <a:cs typeface="Aptos Display" pitchFamily="34" charset="-120"/>
              </a:rPr>
              <a:t>Build with AI</a:t>
            </a:r>
            <a:endParaRPr lang="en-US" sz="3600" dirty="0"/>
          </a:p>
        </p:txBody>
      </p:sp>
      <p:sp>
        <p:nvSpPr>
          <p:cNvPr id="6" name="Text 4"/>
          <p:cNvSpPr/>
          <p:nvPr/>
        </p:nvSpPr>
        <p:spPr>
          <a:xfrm>
            <a:off x="429768" y="1005840"/>
            <a:ext cx="5943600" cy="274320"/>
          </a:xfrm>
          <a:prstGeom prst="rect">
            <a:avLst/>
          </a:prstGeom>
          <a:noFill/>
          <a:ln/>
        </p:spPr>
        <p:txBody>
          <a:bodyPr wrap="square" lIns="0" tIns="0" rIns="0" bIns="0" rtlCol="0" anchor="ctr"/>
          <a:lstStyle/>
          <a:p>
            <a:pPr marL="0" indent="0">
              <a:buNone/>
            </a:pPr>
            <a:r>
              <a:rPr lang="en-US" sz="1400" dirty="0">
                <a:solidFill>
                  <a:srgbClr val="5C6670"/>
                </a:solidFill>
                <a:latin typeface="Aptos" pitchFamily="34" charset="0"/>
                <a:ea typeface="Aptos" pitchFamily="34" charset="-122"/>
                <a:cs typeface="Aptos" pitchFamily="34" charset="-120"/>
              </a:rPr>
              <a:t>Use AI to create a practical first draft once your thinking is clear.</a:t>
            </a:r>
            <a:endParaRPr lang="en-US" sz="1400" dirty="0"/>
          </a:p>
        </p:txBody>
      </p:sp>
      <p:sp>
        <p:nvSpPr>
          <p:cNvPr id="7" name="Shape 5"/>
          <p:cNvSpPr/>
          <p:nvPr/>
        </p:nvSpPr>
        <p:spPr>
          <a:xfrm>
            <a:off x="8641080" y="393192"/>
            <a:ext cx="3063240" cy="621792"/>
          </a:xfrm>
          <a:prstGeom prst="roundRect">
            <a:avLst>
              <a:gd name="adj" fmla="val 8824"/>
            </a:avLst>
          </a:prstGeom>
          <a:solidFill>
            <a:srgbClr val="EAF1FF"/>
          </a:solidFill>
          <a:ln w="12700">
            <a:solidFill>
              <a:srgbClr val="EAF1FF"/>
            </a:solidFill>
            <a:prstDash val="solid"/>
          </a:ln>
        </p:spPr>
        <p:txBody>
          <a:bodyPr/>
          <a:lstStyle/>
          <a:p>
            <a:endParaRPr lang="en-US" sz="2800"/>
          </a:p>
        </p:txBody>
      </p:sp>
      <p:sp>
        <p:nvSpPr>
          <p:cNvPr id="8" name="Text 6"/>
          <p:cNvSpPr/>
          <p:nvPr/>
        </p:nvSpPr>
        <p:spPr>
          <a:xfrm>
            <a:off x="8823960" y="539496"/>
            <a:ext cx="2697480" cy="237744"/>
          </a:xfrm>
          <a:prstGeom prst="rect">
            <a:avLst/>
          </a:prstGeom>
          <a:noFill/>
          <a:ln/>
        </p:spPr>
        <p:txBody>
          <a:bodyPr wrap="square" lIns="254" tIns="254" rIns="254" bIns="254" rtlCol="0" anchor="ctr">
            <a:normAutofit/>
          </a:bodyPr>
          <a:lstStyle/>
          <a:p>
            <a:pPr marL="0" indent="0" algn="ctr">
              <a:buNone/>
            </a:pPr>
            <a:r>
              <a:rPr lang="en-US" sz="1050" b="1" dirty="0">
                <a:solidFill>
                  <a:srgbClr val="2563EB"/>
                </a:solidFill>
                <a:latin typeface="Aptos" pitchFamily="34" charset="0"/>
                <a:ea typeface="Aptos" pitchFamily="34" charset="-122"/>
                <a:cs typeface="Aptos" pitchFamily="34" charset="-120"/>
              </a:rPr>
              <a:t>Use during: Create Your First Solution</a:t>
            </a:r>
            <a:endParaRPr lang="en-US" sz="1050" dirty="0"/>
          </a:p>
        </p:txBody>
      </p:sp>
      <p:sp>
        <p:nvSpPr>
          <p:cNvPr id="9" name="Shape 7"/>
          <p:cNvSpPr/>
          <p:nvPr/>
        </p:nvSpPr>
        <p:spPr>
          <a:xfrm>
            <a:off x="438912" y="1353312"/>
            <a:ext cx="960120" cy="237744"/>
          </a:xfrm>
          <a:prstGeom prst="roundRect">
            <a:avLst>
              <a:gd name="adj" fmla="val 15385"/>
            </a:avLst>
          </a:prstGeom>
          <a:solidFill>
            <a:srgbClr val="EEF1F3"/>
          </a:solidFill>
          <a:ln w="12700">
            <a:solidFill>
              <a:srgbClr val="EEF1F3"/>
            </a:solidFill>
            <a:prstDash val="solid"/>
          </a:ln>
        </p:spPr>
        <p:txBody>
          <a:bodyPr/>
          <a:lstStyle/>
          <a:p>
            <a:endParaRPr lang="en-US" sz="2800"/>
          </a:p>
        </p:txBody>
      </p:sp>
      <p:sp>
        <p:nvSpPr>
          <p:cNvPr id="10" name="Text 8"/>
          <p:cNvSpPr/>
          <p:nvPr/>
        </p:nvSpPr>
        <p:spPr>
          <a:xfrm>
            <a:off x="484632" y="1412748"/>
            <a:ext cx="868680" cy="91440"/>
          </a:xfrm>
          <a:prstGeom prst="rect">
            <a:avLst/>
          </a:prstGeom>
          <a:noFill/>
          <a:ln/>
        </p:spPr>
        <p:txBody>
          <a:bodyPr wrap="square" lIns="0" tIns="0" rIns="0" bIns="0" rtlCol="0" anchor="ctr">
            <a:noAutofit/>
          </a:bodyPr>
          <a:lstStyle/>
          <a:p>
            <a:pPr marL="0" indent="0" algn="ctr">
              <a:buNone/>
            </a:pPr>
            <a:r>
              <a:rPr lang="en-US" sz="1000" dirty="0">
                <a:solidFill>
                  <a:srgbClr val="5C6670"/>
                </a:solidFill>
                <a:latin typeface="Aptos" pitchFamily="34" charset="0"/>
                <a:ea typeface="Aptos" pitchFamily="34" charset="-122"/>
                <a:cs typeface="Aptos" pitchFamily="34" charset="-120"/>
              </a:rPr>
              <a:t>Understand</a:t>
            </a:r>
            <a:endParaRPr lang="en-US" sz="1000" dirty="0"/>
          </a:p>
        </p:txBody>
      </p:sp>
      <p:sp>
        <p:nvSpPr>
          <p:cNvPr id="11" name="Shape 9"/>
          <p:cNvSpPr/>
          <p:nvPr/>
        </p:nvSpPr>
        <p:spPr>
          <a:xfrm>
            <a:off x="1508760" y="1353312"/>
            <a:ext cx="1417320" cy="237744"/>
          </a:xfrm>
          <a:prstGeom prst="roundRect">
            <a:avLst>
              <a:gd name="adj" fmla="val 15385"/>
            </a:avLst>
          </a:prstGeom>
          <a:solidFill>
            <a:srgbClr val="EEF1F3"/>
          </a:solidFill>
          <a:ln w="12700">
            <a:solidFill>
              <a:srgbClr val="EEF1F3"/>
            </a:solidFill>
            <a:prstDash val="solid"/>
          </a:ln>
        </p:spPr>
        <p:txBody>
          <a:bodyPr/>
          <a:lstStyle/>
          <a:p>
            <a:endParaRPr lang="en-US" sz="2800"/>
          </a:p>
        </p:txBody>
      </p:sp>
      <p:sp>
        <p:nvSpPr>
          <p:cNvPr id="12" name="Text 10"/>
          <p:cNvSpPr/>
          <p:nvPr/>
        </p:nvSpPr>
        <p:spPr>
          <a:xfrm>
            <a:off x="1554480" y="1412748"/>
            <a:ext cx="1325880" cy="91440"/>
          </a:xfrm>
          <a:prstGeom prst="rect">
            <a:avLst/>
          </a:prstGeom>
          <a:noFill/>
          <a:ln/>
        </p:spPr>
        <p:txBody>
          <a:bodyPr wrap="square" lIns="0" tIns="0" rIns="0" bIns="0" rtlCol="0" anchor="ctr">
            <a:noAutofit/>
          </a:bodyPr>
          <a:lstStyle/>
          <a:p>
            <a:pPr marL="0" indent="0" algn="ctr">
              <a:buNone/>
            </a:pPr>
            <a:r>
              <a:rPr lang="en-US" sz="1000" dirty="0">
                <a:solidFill>
                  <a:srgbClr val="5C6670"/>
                </a:solidFill>
                <a:latin typeface="Aptos" pitchFamily="34" charset="0"/>
                <a:ea typeface="Aptos" pitchFamily="34" charset="-122"/>
                <a:cs typeface="Aptos" pitchFamily="34" charset="-120"/>
              </a:rPr>
              <a:t>Spot the Opportunity</a:t>
            </a:r>
            <a:endParaRPr lang="en-US" sz="1000" dirty="0"/>
          </a:p>
        </p:txBody>
      </p:sp>
      <p:sp>
        <p:nvSpPr>
          <p:cNvPr id="13" name="Shape 11"/>
          <p:cNvSpPr/>
          <p:nvPr/>
        </p:nvSpPr>
        <p:spPr>
          <a:xfrm>
            <a:off x="3035808" y="1353312"/>
            <a:ext cx="1417320" cy="237744"/>
          </a:xfrm>
          <a:prstGeom prst="roundRect">
            <a:avLst>
              <a:gd name="adj" fmla="val 15385"/>
            </a:avLst>
          </a:prstGeom>
          <a:solidFill>
            <a:srgbClr val="EEF1F3"/>
          </a:solidFill>
          <a:ln w="12700">
            <a:solidFill>
              <a:srgbClr val="EEF1F3"/>
            </a:solidFill>
            <a:prstDash val="solid"/>
          </a:ln>
        </p:spPr>
        <p:txBody>
          <a:bodyPr/>
          <a:lstStyle/>
          <a:p>
            <a:endParaRPr lang="en-US" sz="2800"/>
          </a:p>
        </p:txBody>
      </p:sp>
      <p:sp>
        <p:nvSpPr>
          <p:cNvPr id="14" name="Text 12"/>
          <p:cNvSpPr/>
          <p:nvPr/>
        </p:nvSpPr>
        <p:spPr>
          <a:xfrm>
            <a:off x="3081528" y="1412748"/>
            <a:ext cx="1325880" cy="91440"/>
          </a:xfrm>
          <a:prstGeom prst="rect">
            <a:avLst/>
          </a:prstGeom>
          <a:noFill/>
          <a:ln/>
        </p:spPr>
        <p:txBody>
          <a:bodyPr wrap="square" lIns="0" tIns="0" rIns="0" bIns="0" rtlCol="0" anchor="ctr">
            <a:noAutofit/>
          </a:bodyPr>
          <a:lstStyle/>
          <a:p>
            <a:pPr marL="0" indent="0" algn="ctr">
              <a:buNone/>
            </a:pPr>
            <a:r>
              <a:rPr lang="en-US" sz="1000" dirty="0">
                <a:solidFill>
                  <a:srgbClr val="5C6670"/>
                </a:solidFill>
                <a:latin typeface="Aptos" pitchFamily="34" charset="0"/>
                <a:ea typeface="Aptos" pitchFamily="34" charset="-122"/>
                <a:cs typeface="Aptos" pitchFamily="34" charset="-120"/>
              </a:rPr>
              <a:t>Design the Solution</a:t>
            </a:r>
            <a:endParaRPr lang="en-US" sz="1000" dirty="0"/>
          </a:p>
        </p:txBody>
      </p:sp>
      <p:sp>
        <p:nvSpPr>
          <p:cNvPr id="15" name="Shape 13"/>
          <p:cNvSpPr/>
          <p:nvPr/>
        </p:nvSpPr>
        <p:spPr>
          <a:xfrm>
            <a:off x="4562856" y="1353312"/>
            <a:ext cx="960120" cy="237744"/>
          </a:xfrm>
          <a:prstGeom prst="roundRect">
            <a:avLst>
              <a:gd name="adj" fmla="val 15385"/>
            </a:avLst>
          </a:prstGeom>
          <a:solidFill>
            <a:srgbClr val="EAF1FF"/>
          </a:solidFill>
          <a:ln w="12700">
            <a:solidFill>
              <a:srgbClr val="EAF1FF"/>
            </a:solidFill>
            <a:prstDash val="solid"/>
          </a:ln>
        </p:spPr>
        <p:txBody>
          <a:bodyPr/>
          <a:lstStyle/>
          <a:p>
            <a:endParaRPr lang="en-US" sz="2800"/>
          </a:p>
        </p:txBody>
      </p:sp>
      <p:sp>
        <p:nvSpPr>
          <p:cNvPr id="16" name="Text 14"/>
          <p:cNvSpPr/>
          <p:nvPr/>
        </p:nvSpPr>
        <p:spPr>
          <a:xfrm>
            <a:off x="4608576" y="1412748"/>
            <a:ext cx="868680" cy="91440"/>
          </a:xfrm>
          <a:prstGeom prst="rect">
            <a:avLst/>
          </a:prstGeom>
          <a:noFill/>
          <a:ln/>
        </p:spPr>
        <p:txBody>
          <a:bodyPr wrap="square" lIns="0" tIns="0" rIns="0" bIns="0" rtlCol="0" anchor="ctr">
            <a:noAutofit/>
          </a:bodyPr>
          <a:lstStyle/>
          <a:p>
            <a:pPr marL="0" indent="0" algn="ctr">
              <a:buNone/>
            </a:pPr>
            <a:r>
              <a:rPr lang="en-US" sz="1000" b="1" dirty="0">
                <a:solidFill>
                  <a:srgbClr val="2563EB"/>
                </a:solidFill>
                <a:latin typeface="Aptos" pitchFamily="34" charset="0"/>
                <a:ea typeface="Aptos" pitchFamily="34" charset="-122"/>
                <a:cs typeface="Aptos" pitchFamily="34" charset="-120"/>
              </a:rPr>
              <a:t>Create</a:t>
            </a:r>
            <a:endParaRPr lang="en-US" sz="1000" dirty="0"/>
          </a:p>
        </p:txBody>
      </p:sp>
      <p:sp>
        <p:nvSpPr>
          <p:cNvPr id="17" name="Shape 15"/>
          <p:cNvSpPr/>
          <p:nvPr/>
        </p:nvSpPr>
        <p:spPr>
          <a:xfrm>
            <a:off x="5632704" y="1353312"/>
            <a:ext cx="960120" cy="237744"/>
          </a:xfrm>
          <a:prstGeom prst="roundRect">
            <a:avLst>
              <a:gd name="adj" fmla="val 15385"/>
            </a:avLst>
          </a:prstGeom>
          <a:solidFill>
            <a:srgbClr val="EEF1F3"/>
          </a:solidFill>
          <a:ln w="12700">
            <a:solidFill>
              <a:srgbClr val="EEF1F3"/>
            </a:solidFill>
            <a:prstDash val="solid"/>
          </a:ln>
        </p:spPr>
        <p:txBody>
          <a:bodyPr/>
          <a:lstStyle/>
          <a:p>
            <a:endParaRPr lang="en-US" sz="2800"/>
          </a:p>
        </p:txBody>
      </p:sp>
      <p:sp>
        <p:nvSpPr>
          <p:cNvPr id="18" name="Text 16"/>
          <p:cNvSpPr/>
          <p:nvPr/>
        </p:nvSpPr>
        <p:spPr>
          <a:xfrm>
            <a:off x="5678424" y="1412748"/>
            <a:ext cx="868680" cy="91440"/>
          </a:xfrm>
          <a:prstGeom prst="rect">
            <a:avLst/>
          </a:prstGeom>
          <a:noFill/>
          <a:ln/>
        </p:spPr>
        <p:txBody>
          <a:bodyPr wrap="square" lIns="0" tIns="0" rIns="0" bIns="0" rtlCol="0" anchor="ctr">
            <a:noAutofit/>
          </a:bodyPr>
          <a:lstStyle/>
          <a:p>
            <a:pPr marL="0" indent="0" algn="ctr">
              <a:buNone/>
            </a:pPr>
            <a:r>
              <a:rPr lang="en-US" sz="1000" dirty="0">
                <a:solidFill>
                  <a:srgbClr val="5C6670"/>
                </a:solidFill>
                <a:latin typeface="Aptos" pitchFamily="34" charset="0"/>
                <a:ea typeface="Aptos" pitchFamily="34" charset="-122"/>
                <a:cs typeface="Aptos" pitchFamily="34" charset="-120"/>
              </a:rPr>
              <a:t>Commit</a:t>
            </a:r>
            <a:endParaRPr lang="en-US" sz="1000" dirty="0"/>
          </a:p>
        </p:txBody>
      </p:sp>
      <p:sp>
        <p:nvSpPr>
          <p:cNvPr id="19" name="Text 17"/>
          <p:cNvSpPr/>
          <p:nvPr/>
        </p:nvSpPr>
        <p:spPr>
          <a:xfrm>
            <a:off x="438912" y="1755648"/>
            <a:ext cx="11155680" cy="320040"/>
          </a:xfrm>
          <a:prstGeom prst="rect">
            <a:avLst/>
          </a:prstGeom>
          <a:noFill/>
          <a:ln/>
        </p:spPr>
        <p:txBody>
          <a:bodyPr wrap="square" lIns="0" tIns="0" rIns="0" bIns="0" rtlCol="0" anchor="ctr">
            <a:noAutofit/>
          </a:bodyPr>
          <a:lstStyle/>
          <a:p>
            <a:r>
              <a:rPr lang="en-US" sz="1600" dirty="0"/>
              <a:t>Upload your completed Workflow Improvement Canvas if your AI tool supports file uploads. Otherwise, copy and paste the relevant sections.</a:t>
            </a:r>
          </a:p>
        </p:txBody>
      </p:sp>
      <p:sp>
        <p:nvSpPr>
          <p:cNvPr id="20" name="Shape 18"/>
          <p:cNvSpPr/>
          <p:nvPr/>
        </p:nvSpPr>
        <p:spPr>
          <a:xfrm>
            <a:off x="457200" y="2286000"/>
            <a:ext cx="3611880" cy="1911096"/>
          </a:xfrm>
          <a:prstGeom prst="roundRect">
            <a:avLst>
              <a:gd name="adj" fmla="val 4444"/>
            </a:avLst>
          </a:prstGeom>
          <a:solidFill>
            <a:srgbClr val="FFFFFF"/>
          </a:solidFill>
          <a:ln w="10160">
            <a:solidFill>
              <a:srgbClr val="D8DEE5"/>
            </a:solidFill>
            <a:prstDash val="solid"/>
          </a:ln>
        </p:spPr>
        <p:txBody>
          <a:bodyPr/>
          <a:lstStyle/>
          <a:p>
            <a:endParaRPr lang="en-US" sz="2800"/>
          </a:p>
        </p:txBody>
      </p:sp>
      <p:sp>
        <p:nvSpPr>
          <p:cNvPr id="21" name="Shape 19"/>
          <p:cNvSpPr/>
          <p:nvPr/>
        </p:nvSpPr>
        <p:spPr>
          <a:xfrm>
            <a:off x="585216" y="2414016"/>
            <a:ext cx="256032" cy="256032"/>
          </a:xfrm>
          <a:prstGeom prst="ellipse">
            <a:avLst/>
          </a:prstGeom>
          <a:solidFill>
            <a:srgbClr val="2563EB"/>
          </a:solidFill>
          <a:ln w="12700">
            <a:solidFill>
              <a:srgbClr val="2563EB"/>
            </a:solidFill>
            <a:prstDash val="solid"/>
          </a:ln>
        </p:spPr>
        <p:txBody>
          <a:bodyPr/>
          <a:lstStyle/>
          <a:p>
            <a:endParaRPr lang="en-US" sz="2800"/>
          </a:p>
        </p:txBody>
      </p:sp>
      <p:sp>
        <p:nvSpPr>
          <p:cNvPr id="22" name="Text 20"/>
          <p:cNvSpPr/>
          <p:nvPr/>
        </p:nvSpPr>
        <p:spPr>
          <a:xfrm>
            <a:off x="585216" y="2455164"/>
            <a:ext cx="256032"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23" name="Text 21"/>
          <p:cNvSpPr/>
          <p:nvPr/>
        </p:nvSpPr>
        <p:spPr>
          <a:xfrm>
            <a:off x="914400" y="2377440"/>
            <a:ext cx="301752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Build My First Solution</a:t>
            </a:r>
            <a:endParaRPr lang="en-US" sz="1200" dirty="0"/>
          </a:p>
        </p:txBody>
      </p:sp>
      <p:sp>
        <p:nvSpPr>
          <p:cNvPr id="24" name="Text 22"/>
          <p:cNvSpPr/>
          <p:nvPr/>
        </p:nvSpPr>
        <p:spPr>
          <a:xfrm>
            <a:off x="914400" y="2615184"/>
            <a:ext cx="3017520" cy="164592"/>
          </a:xfrm>
          <a:prstGeom prst="rect">
            <a:avLst/>
          </a:prstGeom>
          <a:noFill/>
          <a:ln/>
        </p:spPr>
        <p:txBody>
          <a:bodyPr wrap="square" lIns="0" tIns="0" rIns="0" bIns="0" rtlCol="0" anchor="ctr">
            <a:normAutofit/>
          </a:bodyPr>
          <a:lstStyle/>
          <a:p>
            <a:pPr marL="0" indent="0">
              <a:buNone/>
            </a:pPr>
            <a:r>
              <a:rPr lang="en-US" sz="1000" i="1" dirty="0">
                <a:solidFill>
                  <a:srgbClr val="2563EB"/>
                </a:solidFill>
                <a:latin typeface="Aptos" pitchFamily="34" charset="0"/>
                <a:ea typeface="Aptos" pitchFamily="34" charset="-122"/>
                <a:cs typeface="Aptos" pitchFamily="34" charset="-120"/>
              </a:rPr>
              <a:t>Use after you have completed the canvas.</a:t>
            </a:r>
            <a:endParaRPr lang="en-US" sz="1000" dirty="0"/>
          </a:p>
        </p:txBody>
      </p:sp>
      <p:sp>
        <p:nvSpPr>
          <p:cNvPr id="25" name="Shape 23"/>
          <p:cNvSpPr/>
          <p:nvPr/>
        </p:nvSpPr>
        <p:spPr>
          <a:xfrm>
            <a:off x="621792" y="2871216"/>
            <a:ext cx="3282696" cy="1019556"/>
          </a:xfrm>
          <a:prstGeom prst="roundRect">
            <a:avLst>
              <a:gd name="adj" fmla="val 7018"/>
            </a:avLst>
          </a:prstGeom>
          <a:solidFill>
            <a:srgbClr val="EAF1FF"/>
          </a:solidFill>
          <a:ln w="12700">
            <a:solidFill>
              <a:srgbClr val="EAF1FF"/>
            </a:solidFill>
            <a:prstDash val="solid"/>
          </a:ln>
        </p:spPr>
        <p:txBody>
          <a:bodyPr/>
          <a:lstStyle/>
          <a:p>
            <a:endParaRPr lang="en-US" sz="2800"/>
          </a:p>
        </p:txBody>
      </p:sp>
      <p:sp>
        <p:nvSpPr>
          <p:cNvPr id="26" name="Text 24"/>
          <p:cNvSpPr/>
          <p:nvPr/>
        </p:nvSpPr>
        <p:spPr>
          <a:xfrm>
            <a:off x="731520" y="2980944"/>
            <a:ext cx="3063240" cy="886968"/>
          </a:xfrm>
          <a:prstGeom prst="rect">
            <a:avLst/>
          </a:prstGeom>
          <a:noFill/>
          <a:ln/>
        </p:spPr>
        <p:txBody>
          <a:bodyPr wrap="square" lIns="508" tIns="508" rIns="508" bIns="508" rtlCol="0" anchor="t">
            <a:noAutofit/>
          </a:bodyPr>
          <a:lstStyle/>
          <a:p>
            <a:pPr marL="0" indent="0">
              <a:buNone/>
            </a:pPr>
            <a:r>
              <a:rPr lang="en-US" sz="900" dirty="0">
                <a:solidFill>
                  <a:srgbClr val="171717"/>
                </a:solidFill>
                <a:latin typeface="Aptos" pitchFamily="34" charset="0"/>
                <a:ea typeface="Aptos" pitchFamily="34" charset="-122"/>
                <a:cs typeface="Aptos" pitchFamily="34" charset="-120"/>
              </a:rPr>
              <a:t>I completed a Workflow Improvement Canvas. Use it as context to help me create the first draft of my solution. First, summarize your understanding of my workflow, the biggest point of friction, the job I want AI to do, and the solution I selected. Then help me build a practical first draft I can use next week. Ask clarifying questions only if needed.</a:t>
            </a:r>
            <a:endParaRPr lang="en-US" sz="900" dirty="0"/>
          </a:p>
        </p:txBody>
      </p:sp>
      <p:sp>
        <p:nvSpPr>
          <p:cNvPr id="27" name="Shape 25"/>
          <p:cNvSpPr/>
          <p:nvPr/>
        </p:nvSpPr>
        <p:spPr>
          <a:xfrm>
            <a:off x="4288536" y="2286000"/>
            <a:ext cx="3611880" cy="1911096"/>
          </a:xfrm>
          <a:prstGeom prst="roundRect">
            <a:avLst>
              <a:gd name="adj" fmla="val 4444"/>
            </a:avLst>
          </a:prstGeom>
          <a:solidFill>
            <a:srgbClr val="FFFFFF"/>
          </a:solidFill>
          <a:ln w="10160">
            <a:solidFill>
              <a:srgbClr val="D8DEE5"/>
            </a:solidFill>
            <a:prstDash val="solid"/>
          </a:ln>
        </p:spPr>
        <p:txBody>
          <a:bodyPr/>
          <a:lstStyle/>
          <a:p>
            <a:endParaRPr lang="en-US" sz="2800"/>
          </a:p>
        </p:txBody>
      </p:sp>
      <p:sp>
        <p:nvSpPr>
          <p:cNvPr id="28" name="Shape 26"/>
          <p:cNvSpPr/>
          <p:nvPr/>
        </p:nvSpPr>
        <p:spPr>
          <a:xfrm>
            <a:off x="4416552" y="2414016"/>
            <a:ext cx="256032" cy="256032"/>
          </a:xfrm>
          <a:prstGeom prst="ellipse">
            <a:avLst/>
          </a:prstGeom>
          <a:solidFill>
            <a:srgbClr val="2563EB"/>
          </a:solidFill>
          <a:ln w="12700">
            <a:solidFill>
              <a:srgbClr val="2563EB"/>
            </a:solidFill>
            <a:prstDash val="solid"/>
          </a:ln>
        </p:spPr>
        <p:txBody>
          <a:bodyPr/>
          <a:lstStyle/>
          <a:p>
            <a:endParaRPr lang="en-US" sz="2800"/>
          </a:p>
        </p:txBody>
      </p:sp>
      <p:sp>
        <p:nvSpPr>
          <p:cNvPr id="29" name="Text 27"/>
          <p:cNvSpPr/>
          <p:nvPr/>
        </p:nvSpPr>
        <p:spPr>
          <a:xfrm>
            <a:off x="4416552" y="2455164"/>
            <a:ext cx="256032"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30" name="Text 28"/>
          <p:cNvSpPr/>
          <p:nvPr/>
        </p:nvSpPr>
        <p:spPr>
          <a:xfrm>
            <a:off x="4745736" y="2377440"/>
            <a:ext cx="301752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Build a Reusable Prompt</a:t>
            </a:r>
            <a:endParaRPr lang="en-US" sz="1200" dirty="0"/>
          </a:p>
        </p:txBody>
      </p:sp>
      <p:sp>
        <p:nvSpPr>
          <p:cNvPr id="31" name="Text 29"/>
          <p:cNvSpPr/>
          <p:nvPr/>
        </p:nvSpPr>
        <p:spPr>
          <a:xfrm>
            <a:off x="4745736" y="2615184"/>
            <a:ext cx="3017520" cy="164592"/>
          </a:xfrm>
          <a:prstGeom prst="rect">
            <a:avLst/>
          </a:prstGeom>
          <a:noFill/>
          <a:ln/>
        </p:spPr>
        <p:txBody>
          <a:bodyPr wrap="square" lIns="0" tIns="0" rIns="0" bIns="0" rtlCol="0" anchor="ctr">
            <a:normAutofit/>
          </a:bodyPr>
          <a:lstStyle/>
          <a:p>
            <a:pPr marL="0" indent="0">
              <a:buNone/>
            </a:pPr>
            <a:r>
              <a:rPr lang="en-US" sz="1000" i="1" dirty="0">
                <a:solidFill>
                  <a:srgbClr val="2563EB"/>
                </a:solidFill>
                <a:latin typeface="Aptos" pitchFamily="34" charset="0"/>
                <a:ea typeface="Aptos" pitchFamily="34" charset="-122"/>
                <a:cs typeface="Aptos" pitchFamily="34" charset="-120"/>
              </a:rPr>
              <a:t>Use when your solution is a prompt.</a:t>
            </a:r>
            <a:endParaRPr lang="en-US" sz="1000" dirty="0"/>
          </a:p>
        </p:txBody>
      </p:sp>
      <p:sp>
        <p:nvSpPr>
          <p:cNvPr id="32" name="Shape 30"/>
          <p:cNvSpPr/>
          <p:nvPr/>
        </p:nvSpPr>
        <p:spPr>
          <a:xfrm>
            <a:off x="4453128" y="2871216"/>
            <a:ext cx="3282696" cy="1019556"/>
          </a:xfrm>
          <a:prstGeom prst="roundRect">
            <a:avLst>
              <a:gd name="adj" fmla="val 7018"/>
            </a:avLst>
          </a:prstGeom>
          <a:solidFill>
            <a:srgbClr val="EAF1FF"/>
          </a:solidFill>
          <a:ln w="12700">
            <a:solidFill>
              <a:srgbClr val="EAF1FF"/>
            </a:solidFill>
            <a:prstDash val="solid"/>
          </a:ln>
        </p:spPr>
        <p:txBody>
          <a:bodyPr/>
          <a:lstStyle/>
          <a:p>
            <a:endParaRPr lang="en-US" sz="2800"/>
          </a:p>
        </p:txBody>
      </p:sp>
      <p:sp>
        <p:nvSpPr>
          <p:cNvPr id="33" name="Text 31"/>
          <p:cNvSpPr/>
          <p:nvPr/>
        </p:nvSpPr>
        <p:spPr>
          <a:xfrm>
            <a:off x="4562856" y="2980944"/>
            <a:ext cx="3063240" cy="886968"/>
          </a:xfrm>
          <a:prstGeom prst="rect">
            <a:avLst/>
          </a:prstGeom>
          <a:noFill/>
          <a:ln/>
        </p:spPr>
        <p:txBody>
          <a:bodyPr wrap="square" lIns="508" tIns="508" rIns="508" bIns="508" rtlCol="0" anchor="t">
            <a:noAutofit/>
          </a:bodyPr>
          <a:lstStyle/>
          <a:p>
            <a:pPr marL="0" indent="0">
              <a:buNone/>
            </a:pPr>
            <a:r>
              <a:rPr lang="en-US" sz="1000" dirty="0">
                <a:solidFill>
                  <a:srgbClr val="171717"/>
                </a:solidFill>
                <a:latin typeface="Aptos" pitchFamily="34" charset="0"/>
                <a:ea typeface="Aptos" pitchFamily="34" charset="-122"/>
                <a:cs typeface="Aptos" pitchFamily="34" charset="-120"/>
              </a:rPr>
              <a:t>Based on this workflow, help me create a reusable prompt I can use every time this work comes up. Make it easy to customize by clearly identifying the inputs I should provide and the output I should expect.</a:t>
            </a:r>
            <a:endParaRPr lang="en-US" sz="1000" dirty="0"/>
          </a:p>
        </p:txBody>
      </p:sp>
      <p:sp>
        <p:nvSpPr>
          <p:cNvPr id="34" name="Shape 32"/>
          <p:cNvSpPr/>
          <p:nvPr/>
        </p:nvSpPr>
        <p:spPr>
          <a:xfrm>
            <a:off x="8119872" y="2286000"/>
            <a:ext cx="3611880" cy="1911096"/>
          </a:xfrm>
          <a:prstGeom prst="roundRect">
            <a:avLst>
              <a:gd name="adj" fmla="val 4444"/>
            </a:avLst>
          </a:prstGeom>
          <a:solidFill>
            <a:srgbClr val="FFFFFF"/>
          </a:solidFill>
          <a:ln w="10160">
            <a:solidFill>
              <a:srgbClr val="D8DEE5"/>
            </a:solidFill>
            <a:prstDash val="solid"/>
          </a:ln>
        </p:spPr>
        <p:txBody>
          <a:bodyPr/>
          <a:lstStyle/>
          <a:p>
            <a:endParaRPr lang="en-US" sz="2800"/>
          </a:p>
        </p:txBody>
      </p:sp>
      <p:sp>
        <p:nvSpPr>
          <p:cNvPr id="35" name="Shape 33"/>
          <p:cNvSpPr/>
          <p:nvPr/>
        </p:nvSpPr>
        <p:spPr>
          <a:xfrm>
            <a:off x="8247888" y="2414016"/>
            <a:ext cx="256032" cy="256032"/>
          </a:xfrm>
          <a:prstGeom prst="ellipse">
            <a:avLst/>
          </a:prstGeom>
          <a:solidFill>
            <a:srgbClr val="2563EB"/>
          </a:solidFill>
          <a:ln w="12700">
            <a:solidFill>
              <a:srgbClr val="2563EB"/>
            </a:solidFill>
            <a:prstDash val="solid"/>
          </a:ln>
        </p:spPr>
        <p:txBody>
          <a:bodyPr/>
          <a:lstStyle/>
          <a:p>
            <a:endParaRPr lang="en-US" sz="2800"/>
          </a:p>
        </p:txBody>
      </p:sp>
      <p:sp>
        <p:nvSpPr>
          <p:cNvPr id="36" name="Text 34"/>
          <p:cNvSpPr/>
          <p:nvPr/>
        </p:nvSpPr>
        <p:spPr>
          <a:xfrm>
            <a:off x="8247888" y="2455164"/>
            <a:ext cx="256032"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37" name="Text 35"/>
          <p:cNvSpPr/>
          <p:nvPr/>
        </p:nvSpPr>
        <p:spPr>
          <a:xfrm>
            <a:off x="8577072" y="2377440"/>
            <a:ext cx="301752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Build a Template or SOP</a:t>
            </a:r>
            <a:endParaRPr lang="en-US" sz="1200" dirty="0"/>
          </a:p>
        </p:txBody>
      </p:sp>
      <p:sp>
        <p:nvSpPr>
          <p:cNvPr id="38" name="Text 36"/>
          <p:cNvSpPr/>
          <p:nvPr/>
        </p:nvSpPr>
        <p:spPr>
          <a:xfrm>
            <a:off x="8577072" y="2615184"/>
            <a:ext cx="3017520" cy="164592"/>
          </a:xfrm>
          <a:prstGeom prst="rect">
            <a:avLst/>
          </a:prstGeom>
          <a:noFill/>
          <a:ln/>
        </p:spPr>
        <p:txBody>
          <a:bodyPr wrap="square" lIns="0" tIns="0" rIns="0" bIns="0" rtlCol="0" anchor="ctr">
            <a:normAutofit/>
          </a:bodyPr>
          <a:lstStyle/>
          <a:p>
            <a:pPr marL="0" indent="0">
              <a:buNone/>
            </a:pPr>
            <a:r>
              <a:rPr lang="en-US" sz="1000" i="1" dirty="0">
                <a:solidFill>
                  <a:srgbClr val="2563EB"/>
                </a:solidFill>
                <a:latin typeface="Aptos" pitchFamily="34" charset="0"/>
                <a:ea typeface="Aptos" pitchFamily="34" charset="-122"/>
                <a:cs typeface="Aptos" pitchFamily="34" charset="-120"/>
              </a:rPr>
              <a:t>Use when the output or process repeats.</a:t>
            </a:r>
            <a:endParaRPr lang="en-US" sz="1000" dirty="0"/>
          </a:p>
        </p:txBody>
      </p:sp>
      <p:sp>
        <p:nvSpPr>
          <p:cNvPr id="39" name="Shape 37"/>
          <p:cNvSpPr/>
          <p:nvPr/>
        </p:nvSpPr>
        <p:spPr>
          <a:xfrm>
            <a:off x="8284464" y="2871216"/>
            <a:ext cx="3282696" cy="1019556"/>
          </a:xfrm>
          <a:prstGeom prst="roundRect">
            <a:avLst>
              <a:gd name="adj" fmla="val 7018"/>
            </a:avLst>
          </a:prstGeom>
          <a:solidFill>
            <a:srgbClr val="EAF1FF"/>
          </a:solidFill>
          <a:ln w="12700">
            <a:solidFill>
              <a:srgbClr val="EAF1FF"/>
            </a:solidFill>
            <a:prstDash val="solid"/>
          </a:ln>
        </p:spPr>
        <p:txBody>
          <a:bodyPr/>
          <a:lstStyle/>
          <a:p>
            <a:endParaRPr lang="en-US" sz="2800"/>
          </a:p>
        </p:txBody>
      </p:sp>
      <p:sp>
        <p:nvSpPr>
          <p:cNvPr id="40" name="Text 38"/>
          <p:cNvSpPr/>
          <p:nvPr/>
        </p:nvSpPr>
        <p:spPr>
          <a:xfrm>
            <a:off x="8394192" y="2980944"/>
            <a:ext cx="3063240" cy="854964"/>
          </a:xfrm>
          <a:prstGeom prst="rect">
            <a:avLst/>
          </a:prstGeom>
          <a:noFill/>
          <a:ln/>
        </p:spPr>
        <p:txBody>
          <a:bodyPr wrap="square" lIns="508" tIns="508" rIns="508" bIns="508" rtlCol="0" anchor="t">
            <a:noAutofit/>
          </a:bodyPr>
          <a:lstStyle/>
          <a:p>
            <a:pPr marL="0" indent="0">
              <a:buNone/>
            </a:pPr>
            <a:r>
              <a:rPr lang="en-US" sz="1000" dirty="0">
                <a:solidFill>
                  <a:srgbClr val="171717"/>
                </a:solidFill>
                <a:latin typeface="Aptos" pitchFamily="34" charset="0"/>
                <a:ea typeface="Aptos" pitchFamily="34" charset="-122"/>
                <a:cs typeface="Aptos" pitchFamily="34" charset="-120"/>
              </a:rPr>
              <a:t>Based on this workflow, help me create a repeatable template, checklist, or SOP that someone else could follow. Keep it practical, easy to use, and simple enough to improve over time.</a:t>
            </a:r>
            <a:endParaRPr lang="en-US" sz="1000" dirty="0"/>
          </a:p>
        </p:txBody>
      </p:sp>
      <p:grpSp>
        <p:nvGrpSpPr>
          <p:cNvPr id="58" name="Group 57">
            <a:extLst>
              <a:ext uri="{FF2B5EF4-FFF2-40B4-BE49-F238E27FC236}">
                <a16:creationId xmlns:a16="http://schemas.microsoft.com/office/drawing/2014/main" id="{E24F9813-8533-CFBA-AD51-8BE5B5B14617}"/>
              </a:ext>
            </a:extLst>
          </p:cNvPr>
          <p:cNvGrpSpPr/>
          <p:nvPr/>
        </p:nvGrpSpPr>
        <p:grpSpPr>
          <a:xfrm>
            <a:off x="457200" y="4462272"/>
            <a:ext cx="5532120" cy="1417320"/>
            <a:chOff x="457200" y="3730752"/>
            <a:chExt cx="5532120" cy="1417320"/>
          </a:xfrm>
        </p:grpSpPr>
        <p:sp>
          <p:nvSpPr>
            <p:cNvPr id="41" name="Shape 39"/>
            <p:cNvSpPr/>
            <p:nvPr/>
          </p:nvSpPr>
          <p:spPr>
            <a:xfrm>
              <a:off x="457200" y="3730752"/>
              <a:ext cx="5532120" cy="1417320"/>
            </a:xfrm>
            <a:prstGeom prst="roundRect">
              <a:avLst>
                <a:gd name="adj" fmla="val 3871"/>
              </a:avLst>
            </a:prstGeom>
            <a:solidFill>
              <a:srgbClr val="FFFFFF"/>
            </a:solidFill>
            <a:ln w="10160">
              <a:solidFill>
                <a:srgbClr val="D8DEE5"/>
              </a:solidFill>
              <a:prstDash val="solid"/>
            </a:ln>
          </p:spPr>
          <p:txBody>
            <a:bodyPr/>
            <a:lstStyle/>
            <a:p>
              <a:endParaRPr lang="en-US" sz="2800"/>
            </a:p>
          </p:txBody>
        </p:sp>
        <p:sp>
          <p:nvSpPr>
            <p:cNvPr id="42" name="Shape 40"/>
            <p:cNvSpPr/>
            <p:nvPr/>
          </p:nvSpPr>
          <p:spPr>
            <a:xfrm>
              <a:off x="585216" y="3858768"/>
              <a:ext cx="256032" cy="256032"/>
            </a:xfrm>
            <a:prstGeom prst="ellipse">
              <a:avLst/>
            </a:prstGeom>
            <a:solidFill>
              <a:srgbClr val="2563EB"/>
            </a:solidFill>
            <a:ln w="12700">
              <a:solidFill>
                <a:srgbClr val="2563EB"/>
              </a:solidFill>
              <a:prstDash val="solid"/>
            </a:ln>
          </p:spPr>
          <p:txBody>
            <a:bodyPr/>
            <a:lstStyle/>
            <a:p>
              <a:endParaRPr lang="en-US" sz="2800"/>
            </a:p>
          </p:txBody>
        </p:sp>
        <p:sp>
          <p:nvSpPr>
            <p:cNvPr id="43" name="Text 41"/>
            <p:cNvSpPr/>
            <p:nvPr/>
          </p:nvSpPr>
          <p:spPr>
            <a:xfrm>
              <a:off x="585216" y="3899916"/>
              <a:ext cx="256032"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44" name="Text 42"/>
            <p:cNvSpPr/>
            <p:nvPr/>
          </p:nvSpPr>
          <p:spPr>
            <a:xfrm>
              <a:off x="914400" y="3822192"/>
              <a:ext cx="493776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Improve My Draft</a:t>
              </a:r>
              <a:endParaRPr lang="en-US" sz="1200" dirty="0"/>
            </a:p>
          </p:txBody>
        </p:sp>
        <p:sp>
          <p:nvSpPr>
            <p:cNvPr id="45" name="Text 43"/>
            <p:cNvSpPr/>
            <p:nvPr/>
          </p:nvSpPr>
          <p:spPr>
            <a:xfrm>
              <a:off x="914400" y="4059936"/>
              <a:ext cx="4937760" cy="164592"/>
            </a:xfrm>
            <a:prstGeom prst="rect">
              <a:avLst/>
            </a:prstGeom>
            <a:noFill/>
            <a:ln/>
          </p:spPr>
          <p:txBody>
            <a:bodyPr wrap="square" lIns="0" tIns="0" rIns="0" bIns="0" rtlCol="0" anchor="ctr">
              <a:normAutofit/>
            </a:bodyPr>
            <a:lstStyle/>
            <a:p>
              <a:pPr marL="0" indent="0">
                <a:buNone/>
              </a:pPr>
              <a:r>
                <a:rPr lang="en-US" sz="1000" i="1" dirty="0">
                  <a:solidFill>
                    <a:srgbClr val="2563EB"/>
                  </a:solidFill>
                  <a:latin typeface="Aptos" pitchFamily="34" charset="0"/>
                  <a:ea typeface="Aptos" pitchFamily="34" charset="-122"/>
                  <a:cs typeface="Aptos" pitchFamily="34" charset="-120"/>
                </a:rPr>
                <a:t>Use after AI creates a first version.</a:t>
              </a:r>
              <a:endParaRPr lang="en-US" sz="1000" dirty="0"/>
            </a:p>
          </p:txBody>
        </p:sp>
        <p:sp>
          <p:nvSpPr>
            <p:cNvPr id="46" name="Shape 44"/>
            <p:cNvSpPr/>
            <p:nvPr/>
          </p:nvSpPr>
          <p:spPr>
            <a:xfrm>
              <a:off x="621792" y="4315968"/>
              <a:ext cx="5202936" cy="704088"/>
            </a:xfrm>
            <a:prstGeom prst="roundRect">
              <a:avLst>
                <a:gd name="adj" fmla="val 5195"/>
              </a:avLst>
            </a:prstGeom>
            <a:solidFill>
              <a:srgbClr val="EAF1FF"/>
            </a:solidFill>
            <a:ln w="12700">
              <a:solidFill>
                <a:srgbClr val="EAF1FF"/>
              </a:solidFill>
              <a:prstDash val="solid"/>
            </a:ln>
          </p:spPr>
          <p:txBody>
            <a:bodyPr/>
            <a:lstStyle/>
            <a:p>
              <a:endParaRPr lang="en-US" sz="2800"/>
            </a:p>
          </p:txBody>
        </p:sp>
        <p:sp>
          <p:nvSpPr>
            <p:cNvPr id="47" name="Text 45"/>
            <p:cNvSpPr/>
            <p:nvPr/>
          </p:nvSpPr>
          <p:spPr>
            <a:xfrm>
              <a:off x="731520" y="4425696"/>
              <a:ext cx="4983480" cy="502920"/>
            </a:xfrm>
            <a:prstGeom prst="rect">
              <a:avLst/>
            </a:prstGeom>
            <a:noFill/>
            <a:ln/>
          </p:spPr>
          <p:txBody>
            <a:bodyPr wrap="square" lIns="508" tIns="508" rIns="508" bIns="508" rtlCol="0" anchor="t">
              <a:normAutofit/>
            </a:bodyPr>
            <a:lstStyle/>
            <a:p>
              <a:pPr marL="0" indent="0">
                <a:buNone/>
              </a:pPr>
              <a:r>
                <a:rPr lang="en-US" sz="1000" dirty="0">
                  <a:solidFill>
                    <a:srgbClr val="171717"/>
                  </a:solidFill>
                  <a:latin typeface="Aptos" pitchFamily="34" charset="0"/>
                  <a:ea typeface="Aptos" pitchFamily="34" charset="-122"/>
                  <a:cs typeface="Aptos" pitchFamily="34" charset="-120"/>
                </a:rPr>
                <a:t>Review what I have built and suggest ways to make it simpler, more reusable, or easier for someone else to use. Focus on practical improvements rather than perfection.</a:t>
              </a:r>
              <a:endParaRPr lang="en-US" sz="1000" dirty="0"/>
            </a:p>
          </p:txBody>
        </p:sp>
      </p:grpSp>
      <p:grpSp>
        <p:nvGrpSpPr>
          <p:cNvPr id="59" name="Group 58">
            <a:extLst>
              <a:ext uri="{FF2B5EF4-FFF2-40B4-BE49-F238E27FC236}">
                <a16:creationId xmlns:a16="http://schemas.microsoft.com/office/drawing/2014/main" id="{7719564F-54EB-6FC1-94A6-ACDFDF4EB9B7}"/>
              </a:ext>
            </a:extLst>
          </p:cNvPr>
          <p:cNvGrpSpPr/>
          <p:nvPr/>
        </p:nvGrpSpPr>
        <p:grpSpPr>
          <a:xfrm>
            <a:off x="6263640" y="4462272"/>
            <a:ext cx="5532120" cy="1417320"/>
            <a:chOff x="6263640" y="3730752"/>
            <a:chExt cx="5532120" cy="1417320"/>
          </a:xfrm>
        </p:grpSpPr>
        <p:sp>
          <p:nvSpPr>
            <p:cNvPr id="48" name="Shape 46"/>
            <p:cNvSpPr/>
            <p:nvPr/>
          </p:nvSpPr>
          <p:spPr>
            <a:xfrm>
              <a:off x="6263640" y="3730752"/>
              <a:ext cx="5532120" cy="1417320"/>
            </a:xfrm>
            <a:prstGeom prst="roundRect">
              <a:avLst>
                <a:gd name="adj" fmla="val 3871"/>
              </a:avLst>
            </a:prstGeom>
            <a:solidFill>
              <a:srgbClr val="FFFFFF"/>
            </a:solidFill>
            <a:ln w="10160">
              <a:solidFill>
                <a:srgbClr val="D8DEE5"/>
              </a:solidFill>
              <a:prstDash val="solid"/>
            </a:ln>
          </p:spPr>
          <p:txBody>
            <a:bodyPr/>
            <a:lstStyle/>
            <a:p>
              <a:endParaRPr lang="en-US" sz="2800"/>
            </a:p>
          </p:txBody>
        </p:sp>
        <p:sp>
          <p:nvSpPr>
            <p:cNvPr id="49" name="Shape 47"/>
            <p:cNvSpPr/>
            <p:nvPr/>
          </p:nvSpPr>
          <p:spPr>
            <a:xfrm>
              <a:off x="6391656" y="3858768"/>
              <a:ext cx="256032" cy="256032"/>
            </a:xfrm>
            <a:prstGeom prst="ellipse">
              <a:avLst/>
            </a:prstGeom>
            <a:solidFill>
              <a:srgbClr val="2563EB"/>
            </a:solidFill>
            <a:ln w="12700">
              <a:solidFill>
                <a:srgbClr val="2563EB"/>
              </a:solidFill>
              <a:prstDash val="solid"/>
            </a:ln>
          </p:spPr>
          <p:txBody>
            <a:bodyPr/>
            <a:lstStyle/>
            <a:p>
              <a:endParaRPr lang="en-US" sz="2800"/>
            </a:p>
          </p:txBody>
        </p:sp>
        <p:sp>
          <p:nvSpPr>
            <p:cNvPr id="50" name="Text 48"/>
            <p:cNvSpPr/>
            <p:nvPr/>
          </p:nvSpPr>
          <p:spPr>
            <a:xfrm>
              <a:off x="6391656" y="3899916"/>
              <a:ext cx="256032" cy="10972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51" name="Text 49"/>
            <p:cNvSpPr/>
            <p:nvPr/>
          </p:nvSpPr>
          <p:spPr>
            <a:xfrm>
              <a:off x="6720840" y="3822192"/>
              <a:ext cx="493776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Help Me Test It</a:t>
              </a:r>
              <a:endParaRPr lang="en-US" sz="1200" dirty="0"/>
            </a:p>
          </p:txBody>
        </p:sp>
        <p:sp>
          <p:nvSpPr>
            <p:cNvPr id="52" name="Text 50"/>
            <p:cNvSpPr/>
            <p:nvPr/>
          </p:nvSpPr>
          <p:spPr>
            <a:xfrm>
              <a:off x="6720840" y="4059936"/>
              <a:ext cx="4937760" cy="164592"/>
            </a:xfrm>
            <a:prstGeom prst="rect">
              <a:avLst/>
            </a:prstGeom>
            <a:noFill/>
            <a:ln/>
          </p:spPr>
          <p:txBody>
            <a:bodyPr wrap="square" lIns="0" tIns="0" rIns="0" bIns="0" rtlCol="0" anchor="ctr">
              <a:normAutofit/>
            </a:bodyPr>
            <a:lstStyle/>
            <a:p>
              <a:pPr marL="0" indent="0">
                <a:buNone/>
              </a:pPr>
              <a:r>
                <a:rPr lang="en-US" sz="1000" i="1" dirty="0">
                  <a:solidFill>
                    <a:srgbClr val="2563EB"/>
                  </a:solidFill>
                  <a:latin typeface="Aptos" pitchFamily="34" charset="0"/>
                  <a:ea typeface="Aptos" pitchFamily="34" charset="-122"/>
                  <a:cs typeface="Aptos" pitchFamily="34" charset="-120"/>
                </a:rPr>
                <a:t>Use before you try it with real work.</a:t>
              </a:r>
              <a:endParaRPr lang="en-US" sz="1000" dirty="0"/>
            </a:p>
          </p:txBody>
        </p:sp>
        <p:sp>
          <p:nvSpPr>
            <p:cNvPr id="53" name="Shape 51"/>
            <p:cNvSpPr/>
            <p:nvPr/>
          </p:nvSpPr>
          <p:spPr>
            <a:xfrm>
              <a:off x="6428232" y="4315968"/>
              <a:ext cx="5202936" cy="704088"/>
            </a:xfrm>
            <a:prstGeom prst="roundRect">
              <a:avLst>
                <a:gd name="adj" fmla="val 5195"/>
              </a:avLst>
            </a:prstGeom>
            <a:solidFill>
              <a:srgbClr val="EAF1FF"/>
            </a:solidFill>
            <a:ln w="12700">
              <a:solidFill>
                <a:srgbClr val="EAF1FF"/>
              </a:solidFill>
              <a:prstDash val="solid"/>
            </a:ln>
          </p:spPr>
          <p:txBody>
            <a:bodyPr/>
            <a:lstStyle/>
            <a:p>
              <a:endParaRPr lang="en-US" sz="2800"/>
            </a:p>
          </p:txBody>
        </p:sp>
        <p:sp>
          <p:nvSpPr>
            <p:cNvPr id="54" name="Text 52"/>
            <p:cNvSpPr/>
            <p:nvPr/>
          </p:nvSpPr>
          <p:spPr>
            <a:xfrm>
              <a:off x="6537960" y="4425696"/>
              <a:ext cx="4983480" cy="502920"/>
            </a:xfrm>
            <a:prstGeom prst="rect">
              <a:avLst/>
            </a:prstGeom>
            <a:noFill/>
            <a:ln/>
          </p:spPr>
          <p:txBody>
            <a:bodyPr wrap="square" lIns="508" tIns="508" rIns="508" bIns="508" rtlCol="0" anchor="t">
              <a:normAutofit/>
            </a:bodyPr>
            <a:lstStyle/>
            <a:p>
              <a:pPr marL="0" indent="0">
                <a:buNone/>
              </a:pPr>
              <a:r>
                <a:rPr lang="en-US" sz="1000" dirty="0">
                  <a:solidFill>
                    <a:srgbClr val="171717"/>
                  </a:solidFill>
                  <a:latin typeface="Aptos" pitchFamily="34" charset="0"/>
                  <a:ea typeface="Aptos" pitchFamily="34" charset="-122"/>
                  <a:cs typeface="Aptos" pitchFamily="34" charset="-120"/>
                </a:rPr>
                <a:t>Walk through a realistic example using my prompt, template, checklist, or SOP. Tell me where it works well and where it might break down before I use it with real work.</a:t>
              </a:r>
              <a:endParaRPr lang="en-US" sz="1000" dirty="0"/>
            </a:p>
          </p:txBody>
        </p:sp>
      </p:grpSp>
      <p:sp>
        <p:nvSpPr>
          <p:cNvPr id="55" name="Shape 53"/>
          <p:cNvSpPr/>
          <p:nvPr/>
        </p:nvSpPr>
        <p:spPr>
          <a:xfrm>
            <a:off x="411480" y="6144768"/>
            <a:ext cx="11384280" cy="411480"/>
          </a:xfrm>
          <a:prstGeom prst="roundRect">
            <a:avLst>
              <a:gd name="adj" fmla="val 8889"/>
            </a:avLst>
          </a:prstGeom>
          <a:solidFill>
            <a:srgbClr val="FFFFFF"/>
          </a:solidFill>
          <a:ln w="12700">
            <a:solidFill>
              <a:srgbClr val="D8DEE5"/>
            </a:solidFill>
            <a:prstDash val="solid"/>
          </a:ln>
        </p:spPr>
        <p:txBody>
          <a:bodyPr/>
          <a:lstStyle/>
          <a:p>
            <a:endParaRPr lang="en-US" sz="2800"/>
          </a:p>
        </p:txBody>
      </p:sp>
      <p:sp>
        <p:nvSpPr>
          <p:cNvPr id="56" name="Shape 54"/>
          <p:cNvSpPr/>
          <p:nvPr/>
        </p:nvSpPr>
        <p:spPr>
          <a:xfrm>
            <a:off x="411480" y="6144768"/>
            <a:ext cx="91440" cy="411480"/>
          </a:xfrm>
          <a:prstGeom prst="rect">
            <a:avLst/>
          </a:prstGeom>
          <a:solidFill>
            <a:srgbClr val="2563EB"/>
          </a:solidFill>
          <a:ln w="12700">
            <a:solidFill>
              <a:srgbClr val="2563EB"/>
            </a:solidFill>
            <a:prstDash val="solid"/>
          </a:ln>
        </p:spPr>
        <p:txBody>
          <a:bodyPr/>
          <a:lstStyle/>
          <a:p>
            <a:endParaRPr lang="en-US" sz="2800"/>
          </a:p>
        </p:txBody>
      </p:sp>
      <p:sp>
        <p:nvSpPr>
          <p:cNvPr id="57" name="Text 55"/>
          <p:cNvSpPr/>
          <p:nvPr/>
        </p:nvSpPr>
        <p:spPr>
          <a:xfrm>
            <a:off x="640080" y="6245352"/>
            <a:ext cx="10652760" cy="201168"/>
          </a:xfrm>
          <a:prstGeom prst="rect">
            <a:avLst/>
          </a:prstGeom>
          <a:noFill/>
          <a:ln/>
        </p:spPr>
        <p:txBody>
          <a:bodyPr wrap="square" lIns="0" tIns="0" rIns="0" bIns="0" rtlCol="0" anchor="ctr">
            <a:normAutofit/>
          </a:bodyPr>
          <a:lstStyle/>
          <a:p>
            <a:pPr marL="0" indent="0">
              <a:buNone/>
            </a:pPr>
            <a:r>
              <a:rPr lang="en-US" sz="1200" b="1" dirty="0">
                <a:solidFill>
                  <a:srgbClr val="0E2B3D"/>
                </a:solidFill>
                <a:latin typeface="Aptos" pitchFamily="34" charset="0"/>
                <a:ea typeface="Aptos" pitchFamily="34" charset="-122"/>
                <a:cs typeface="Aptos" pitchFamily="34" charset="-120"/>
              </a:rPr>
              <a:t>Remember: Start simple. A prompt you use is better than an automation you never finish.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1411</Words>
  <Application>Microsoft Office PowerPoint</Application>
  <PresentationFormat>Widescreen</PresentationFormat>
  <Paragraphs>177</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Fabletics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Workflow Improvement Canvas v1</dc:title>
  <dc:subject>Workflow Improvement Canvas</dc:subject>
  <dc:creator>OpenAI</dc:creator>
  <cp:lastModifiedBy>Nathan Aramovich</cp:lastModifiedBy>
  <cp:revision>2</cp:revision>
  <dcterms:created xsi:type="dcterms:W3CDTF">2026-07-08T00:05:38Z</dcterms:created>
  <dcterms:modified xsi:type="dcterms:W3CDTF">2026-07-08T22:43:43Z</dcterms:modified>
</cp:coreProperties>
</file>